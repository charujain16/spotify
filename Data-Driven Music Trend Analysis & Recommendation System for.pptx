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63"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404"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5" Type="http://schemas.openxmlformats.org/officeDocument/2006/relationships/image" Target="../media/image19.svg"/><Relationship Id="rId4" Type="http://schemas.openxmlformats.org/officeDocument/2006/relationships/image" Target="../media/image18.svg"/></Relationships>
</file>

<file path=ppt/diagrams/_rels/data3.xml.rels><?xml version="1.0" encoding="UTF-8" standalone="yes"?>
<Relationships xmlns="http://schemas.openxmlformats.org/package/2006/relationships"><Relationship Id="rId1" Type="http://schemas.openxmlformats.org/officeDocument/2006/relationships/image" Target="../media/image2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image" Target="../media/image15.svg"/><Relationship Id="rId5" Type="http://schemas.openxmlformats.org/officeDocument/2006/relationships/image" Target="../media/image19.svg"/><Relationship Id="rId4" Type="http://schemas.openxmlformats.org/officeDocument/2006/relationships/image" Target="../media/image18.svg"/></Relationships>
</file>

<file path=ppt/diagrams/_rels/drawing3.xml.rels><?xml version="1.0" encoding="UTF-8" standalone="yes"?>
<Relationships xmlns="http://schemas.openxmlformats.org/package/2006/relationships"><Relationship Id="rId1"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a:alpha val="0"/>
      </a:schemeClr>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84E8DF-0B5C-43C1-B2D0-F69F5AB85129}" type="doc">
      <dgm:prSet loTypeId="urn:microsoft.com/office/officeart/2016/7/layout/RepeatingBendingProcessNew" loCatId="process" qsTypeId="urn:microsoft.com/office/officeart/2005/8/quickstyle/simple1" qsCatId="simple" csTypeId="urn:microsoft.com/office/officeart/2005/8/colors/accent1_2" csCatId="accent1" phldr="1"/>
      <dgm:spPr/>
      <dgm:t>
        <a:bodyPr/>
        <a:lstStyle/>
        <a:p>
          <a:endParaRPr lang="en-US"/>
        </a:p>
      </dgm:t>
    </dgm:pt>
    <dgm:pt modelId="{5DB5F6C6-4C54-4D57-9DEE-901AC0791313}">
      <dgm:prSet custT="1"/>
      <dgm:spPr/>
      <dgm:t>
        <a:bodyPr/>
        <a:lstStyle/>
        <a:p>
          <a:r>
            <a:rPr lang="en-GB" sz="1150" dirty="0"/>
            <a:t>The model was evaluated using multiple performance metrics to ensure its effectiveness in predicting trending songs.</a:t>
          </a:r>
          <a:endParaRPr lang="en-US" sz="1150" dirty="0"/>
        </a:p>
      </dgm:t>
    </dgm:pt>
    <dgm:pt modelId="{0772DB1D-9F91-40A1-AD7C-BDCD1B6DF695}" type="parTrans" cxnId="{1FFDDCB7-0A3B-41F3-9C20-5A8D8C1DFC3E}">
      <dgm:prSet/>
      <dgm:spPr/>
      <dgm:t>
        <a:bodyPr/>
        <a:lstStyle/>
        <a:p>
          <a:endParaRPr lang="en-US"/>
        </a:p>
      </dgm:t>
    </dgm:pt>
    <dgm:pt modelId="{86DA987F-8CD2-4758-852D-C386E9586536}" type="sibTrans" cxnId="{1FFDDCB7-0A3B-41F3-9C20-5A8D8C1DFC3E}">
      <dgm:prSet/>
      <dgm:spPr/>
      <dgm:t>
        <a:bodyPr/>
        <a:lstStyle/>
        <a:p>
          <a:endParaRPr lang="en-US"/>
        </a:p>
      </dgm:t>
    </dgm:pt>
    <dgm:pt modelId="{AD74283E-3DE8-47A0-A133-071F18D81F56}">
      <dgm:prSet/>
      <dgm:spPr/>
      <dgm:t>
        <a:bodyPr/>
        <a:lstStyle/>
        <a:p>
          <a:r>
            <a:rPr lang="en-GB"/>
            <a:t>Evaluation Approach:</a:t>
          </a:r>
          <a:endParaRPr lang="en-US"/>
        </a:p>
      </dgm:t>
    </dgm:pt>
    <dgm:pt modelId="{2CE2DE4D-CBEA-427F-B515-5DB72689B2E7}" type="parTrans" cxnId="{A26F315B-A025-43E5-9D52-06BDFDFD1B9F}">
      <dgm:prSet/>
      <dgm:spPr/>
      <dgm:t>
        <a:bodyPr/>
        <a:lstStyle/>
        <a:p>
          <a:endParaRPr lang="en-US"/>
        </a:p>
      </dgm:t>
    </dgm:pt>
    <dgm:pt modelId="{B9D528E3-FC9C-41E3-94A1-C9F3A30D1383}" type="sibTrans" cxnId="{A26F315B-A025-43E5-9D52-06BDFDFD1B9F}">
      <dgm:prSet/>
      <dgm:spPr/>
      <dgm:t>
        <a:bodyPr/>
        <a:lstStyle/>
        <a:p>
          <a:endParaRPr lang="en-US"/>
        </a:p>
      </dgm:t>
    </dgm:pt>
    <dgm:pt modelId="{DA1563DC-7CD9-4518-BB56-D1E985B6FF18}">
      <dgm:prSet/>
      <dgm:spPr/>
      <dgm:t>
        <a:bodyPr/>
        <a:lstStyle/>
        <a:p>
          <a:r>
            <a:rPr lang="en-GB" dirty="0"/>
            <a:t>Split data into training and testing sets</a:t>
          </a:r>
          <a:endParaRPr lang="en-US" dirty="0"/>
        </a:p>
      </dgm:t>
    </dgm:pt>
    <dgm:pt modelId="{A7C063C9-FECD-44BE-B7BC-A794C3D6FC82}" type="parTrans" cxnId="{1F46936C-FA59-461A-A502-3B80AD221C7D}">
      <dgm:prSet/>
      <dgm:spPr/>
      <dgm:t>
        <a:bodyPr/>
        <a:lstStyle/>
        <a:p>
          <a:endParaRPr lang="en-US"/>
        </a:p>
      </dgm:t>
    </dgm:pt>
    <dgm:pt modelId="{3C7C6044-72FB-48E7-A642-3E4DC57B484C}" type="sibTrans" cxnId="{1F46936C-FA59-461A-A502-3B80AD221C7D}">
      <dgm:prSet/>
      <dgm:spPr/>
      <dgm:t>
        <a:bodyPr/>
        <a:lstStyle/>
        <a:p>
          <a:endParaRPr lang="en-US"/>
        </a:p>
      </dgm:t>
    </dgm:pt>
    <dgm:pt modelId="{3C567762-1344-4F30-81C4-8388B33F9B0B}">
      <dgm:prSet/>
      <dgm:spPr/>
      <dgm:t>
        <a:bodyPr/>
        <a:lstStyle/>
        <a:p>
          <a:r>
            <a:rPr lang="en-GB" dirty="0"/>
            <a:t> Evaluated model performance on unseen test data</a:t>
          </a:r>
          <a:endParaRPr lang="en-US" dirty="0"/>
        </a:p>
      </dgm:t>
    </dgm:pt>
    <dgm:pt modelId="{CEE50BB4-50E6-49D1-AC1E-7A16750EC064}" type="parTrans" cxnId="{2475B1B3-7296-4A49-AF5B-25BE350F69DF}">
      <dgm:prSet/>
      <dgm:spPr/>
      <dgm:t>
        <a:bodyPr/>
        <a:lstStyle/>
        <a:p>
          <a:endParaRPr lang="en-US"/>
        </a:p>
      </dgm:t>
    </dgm:pt>
    <dgm:pt modelId="{3677E71A-8533-4B5A-857B-2F439D68CA71}" type="sibTrans" cxnId="{2475B1B3-7296-4A49-AF5B-25BE350F69DF}">
      <dgm:prSet/>
      <dgm:spPr/>
      <dgm:t>
        <a:bodyPr/>
        <a:lstStyle/>
        <a:p>
          <a:endParaRPr lang="en-US"/>
        </a:p>
      </dgm:t>
    </dgm:pt>
    <dgm:pt modelId="{C6E8AF83-7B97-4E16-BD9C-389DE3840286}">
      <dgm:prSet/>
      <dgm:spPr/>
      <dgm:t>
        <a:bodyPr/>
        <a:lstStyle/>
        <a:p>
          <a:r>
            <a:rPr lang="en-GB" b="1"/>
            <a:t>Training Accuracy: 95%</a:t>
          </a:r>
          <a:endParaRPr lang="en-US"/>
        </a:p>
      </dgm:t>
    </dgm:pt>
    <dgm:pt modelId="{845A7224-9D8F-4412-BECB-F6F311D44F2E}" type="parTrans" cxnId="{24819857-6352-4D58-8A7C-DB2B9C871648}">
      <dgm:prSet/>
      <dgm:spPr/>
      <dgm:t>
        <a:bodyPr/>
        <a:lstStyle/>
        <a:p>
          <a:endParaRPr lang="en-US"/>
        </a:p>
      </dgm:t>
    </dgm:pt>
    <dgm:pt modelId="{F0DB8588-884F-4C3C-90A3-76788DD49018}" type="sibTrans" cxnId="{24819857-6352-4D58-8A7C-DB2B9C871648}">
      <dgm:prSet/>
      <dgm:spPr/>
      <dgm:t>
        <a:bodyPr/>
        <a:lstStyle/>
        <a:p>
          <a:endParaRPr lang="en-US"/>
        </a:p>
      </dgm:t>
    </dgm:pt>
    <dgm:pt modelId="{7C682035-7C17-402C-B80C-32E422D3B4A8}">
      <dgm:prSet/>
      <dgm:spPr/>
      <dgm:t>
        <a:bodyPr/>
        <a:lstStyle/>
        <a:p>
          <a:r>
            <a:rPr lang="en-GB" b="1"/>
            <a:t>Testing Accuracy: 93.2%</a:t>
          </a:r>
          <a:endParaRPr lang="en-US"/>
        </a:p>
      </dgm:t>
    </dgm:pt>
    <dgm:pt modelId="{7BBD1EC5-D056-42E8-AF18-1BAD017574F2}" type="parTrans" cxnId="{092EB51D-F8B8-4410-BB18-ED53A64CE5EC}">
      <dgm:prSet/>
      <dgm:spPr/>
      <dgm:t>
        <a:bodyPr/>
        <a:lstStyle/>
        <a:p>
          <a:endParaRPr lang="en-US"/>
        </a:p>
      </dgm:t>
    </dgm:pt>
    <dgm:pt modelId="{FE80C8BA-1CC7-4257-8F8D-96FD9F84E2F8}" type="sibTrans" cxnId="{092EB51D-F8B8-4410-BB18-ED53A64CE5EC}">
      <dgm:prSet/>
      <dgm:spPr/>
      <dgm:t>
        <a:bodyPr/>
        <a:lstStyle/>
        <a:p>
          <a:endParaRPr lang="en-US"/>
        </a:p>
      </dgm:t>
    </dgm:pt>
    <dgm:pt modelId="{8D9B82D2-C00D-4E70-82C9-72C08142F811}">
      <dgm:prSet/>
      <dgm:spPr/>
      <dgm:t>
        <a:bodyPr/>
        <a:lstStyle/>
        <a:p>
          <a:r>
            <a:rPr lang="en-GB"/>
            <a:t>Interpretation:</a:t>
          </a:r>
          <a:endParaRPr lang="en-US"/>
        </a:p>
      </dgm:t>
    </dgm:pt>
    <dgm:pt modelId="{1E6C14D4-80E5-48D7-8294-4514E761773D}" type="parTrans" cxnId="{28D242DF-5389-4C73-845D-15D91B36803A}">
      <dgm:prSet/>
      <dgm:spPr/>
      <dgm:t>
        <a:bodyPr/>
        <a:lstStyle/>
        <a:p>
          <a:endParaRPr lang="en-US"/>
        </a:p>
      </dgm:t>
    </dgm:pt>
    <dgm:pt modelId="{3A90B90C-0BF8-4E31-95D4-A60E63E0B142}" type="sibTrans" cxnId="{28D242DF-5389-4C73-845D-15D91B36803A}">
      <dgm:prSet/>
      <dgm:spPr/>
      <dgm:t>
        <a:bodyPr/>
        <a:lstStyle/>
        <a:p>
          <a:endParaRPr lang="en-US"/>
        </a:p>
      </dgm:t>
    </dgm:pt>
    <dgm:pt modelId="{1E2C6DAE-DC24-41FB-AFDB-1B1603C11929}">
      <dgm:prSet/>
      <dgm:spPr/>
      <dgm:t>
        <a:bodyPr/>
        <a:lstStyle/>
        <a:p>
          <a:r>
            <a:rPr lang="en-GB" dirty="0"/>
            <a:t>High accuracy indicates strong predictive capability</a:t>
          </a:r>
          <a:endParaRPr lang="en-US" dirty="0"/>
        </a:p>
      </dgm:t>
    </dgm:pt>
    <dgm:pt modelId="{5FF1D74A-6251-4CA5-B4FF-1D62CE4A1ECD}" type="parTrans" cxnId="{F35D52B0-DF71-405C-AE9E-68007BBFF791}">
      <dgm:prSet/>
      <dgm:spPr/>
      <dgm:t>
        <a:bodyPr/>
        <a:lstStyle/>
        <a:p>
          <a:endParaRPr lang="en-US"/>
        </a:p>
      </dgm:t>
    </dgm:pt>
    <dgm:pt modelId="{04BEC7B7-2FEA-45F8-8249-C7C0EEB79D5A}" type="sibTrans" cxnId="{F35D52B0-DF71-405C-AE9E-68007BBFF791}">
      <dgm:prSet/>
      <dgm:spPr/>
      <dgm:t>
        <a:bodyPr/>
        <a:lstStyle/>
        <a:p>
          <a:endParaRPr lang="en-US"/>
        </a:p>
      </dgm:t>
    </dgm:pt>
    <dgm:pt modelId="{ECA9E70F-242A-4EC0-9096-8B0F7C9A5E91}">
      <dgm:prSet/>
      <dgm:spPr/>
      <dgm:t>
        <a:bodyPr/>
        <a:lstStyle/>
        <a:p>
          <a:r>
            <a:rPr lang="en-GB" dirty="0"/>
            <a:t>Gap between training and testing suggests slight overfitting</a:t>
          </a:r>
          <a:endParaRPr lang="en-US" dirty="0"/>
        </a:p>
      </dgm:t>
    </dgm:pt>
    <dgm:pt modelId="{3B3A08F1-242D-42EC-BCB5-3A09E54F2180}" type="parTrans" cxnId="{3BCF7DED-03E7-4620-9B66-462E54468665}">
      <dgm:prSet/>
      <dgm:spPr/>
      <dgm:t>
        <a:bodyPr/>
        <a:lstStyle/>
        <a:p>
          <a:endParaRPr lang="en-US"/>
        </a:p>
      </dgm:t>
    </dgm:pt>
    <dgm:pt modelId="{5DBF7689-35BC-4424-BEF8-CBDE7B593470}" type="sibTrans" cxnId="{3BCF7DED-03E7-4620-9B66-462E54468665}">
      <dgm:prSet/>
      <dgm:spPr/>
      <dgm:t>
        <a:bodyPr/>
        <a:lstStyle/>
        <a:p>
          <a:endParaRPr lang="en-US"/>
        </a:p>
      </dgm:t>
    </dgm:pt>
    <dgm:pt modelId="{CDEA7281-95B9-47B5-BED5-88E9D001183D}">
      <dgm:prSet/>
      <dgm:spPr/>
      <dgm:t>
        <a:bodyPr/>
        <a:lstStyle/>
        <a:p>
          <a:r>
            <a:rPr lang="en-GB"/>
            <a:t>Performance Metrics:</a:t>
          </a:r>
          <a:endParaRPr lang="en-US"/>
        </a:p>
      </dgm:t>
    </dgm:pt>
    <dgm:pt modelId="{96360D0E-D9DC-4AA8-A9BE-AAB2EA26B30A}" type="parTrans" cxnId="{6209786B-E70A-4CCC-9015-F9C43EDF5FA9}">
      <dgm:prSet/>
      <dgm:spPr/>
      <dgm:t>
        <a:bodyPr/>
        <a:lstStyle/>
        <a:p>
          <a:endParaRPr lang="en-US"/>
        </a:p>
      </dgm:t>
    </dgm:pt>
    <dgm:pt modelId="{BF7DD930-E14F-40D5-B2B1-64AC51D1AA22}" type="sibTrans" cxnId="{6209786B-E70A-4CCC-9015-F9C43EDF5FA9}">
      <dgm:prSet/>
      <dgm:spPr/>
      <dgm:t>
        <a:bodyPr/>
        <a:lstStyle/>
        <a:p>
          <a:endParaRPr lang="en-US"/>
        </a:p>
      </dgm:t>
    </dgm:pt>
    <dgm:pt modelId="{A562CC58-792E-43DF-A225-E04127A991CB}">
      <dgm:prSet/>
      <dgm:spPr/>
      <dgm:t>
        <a:bodyPr/>
        <a:lstStyle/>
        <a:p>
          <a:r>
            <a:rPr lang="en-GB" dirty="0"/>
            <a:t>Precision &amp; Recall were analysed to evaluate classification performance</a:t>
          </a:r>
          <a:endParaRPr lang="en-US" dirty="0"/>
        </a:p>
      </dgm:t>
    </dgm:pt>
    <dgm:pt modelId="{0F6F56FD-6BE9-4966-8469-2B7B7898A7DF}" type="parTrans" cxnId="{C580A17F-A43C-4E18-BF18-2D118BE519C9}">
      <dgm:prSet/>
      <dgm:spPr/>
      <dgm:t>
        <a:bodyPr/>
        <a:lstStyle/>
        <a:p>
          <a:endParaRPr lang="en-US"/>
        </a:p>
      </dgm:t>
    </dgm:pt>
    <dgm:pt modelId="{38EA3E86-046E-42A2-8393-5ED1C9717CCC}" type="sibTrans" cxnId="{C580A17F-A43C-4E18-BF18-2D118BE519C9}">
      <dgm:prSet/>
      <dgm:spPr/>
      <dgm:t>
        <a:bodyPr/>
        <a:lstStyle/>
        <a:p>
          <a:endParaRPr lang="en-US"/>
        </a:p>
      </dgm:t>
    </dgm:pt>
    <dgm:pt modelId="{319D0BE6-7A2E-428C-985A-D36480C0E23E}">
      <dgm:prSet/>
      <dgm:spPr/>
      <dgm:t>
        <a:bodyPr/>
        <a:lstStyle/>
        <a:p>
          <a:r>
            <a:rPr lang="en-GB" dirty="0"/>
            <a:t>Ensured the model correctly identifies trending songs without excessive false predictions</a:t>
          </a:r>
          <a:endParaRPr lang="en-US" dirty="0"/>
        </a:p>
      </dgm:t>
    </dgm:pt>
    <dgm:pt modelId="{642B0F69-30C1-410C-AD3F-E148E2420700}" type="parTrans" cxnId="{DDCCC3D7-0ECE-4965-83CA-D3DEE04C4BB9}">
      <dgm:prSet/>
      <dgm:spPr/>
      <dgm:t>
        <a:bodyPr/>
        <a:lstStyle/>
        <a:p>
          <a:endParaRPr lang="en-US"/>
        </a:p>
      </dgm:t>
    </dgm:pt>
    <dgm:pt modelId="{EE8FA1B0-A3E0-4730-B29C-ABA946F21215}" type="sibTrans" cxnId="{DDCCC3D7-0ECE-4965-83CA-D3DEE04C4BB9}">
      <dgm:prSet/>
      <dgm:spPr/>
      <dgm:t>
        <a:bodyPr/>
        <a:lstStyle/>
        <a:p>
          <a:endParaRPr lang="en-US"/>
        </a:p>
      </dgm:t>
    </dgm:pt>
    <dgm:pt modelId="{310E11D4-30E2-4F3A-9373-9D95F328A876}" type="pres">
      <dgm:prSet presAssocID="{DF84E8DF-0B5C-43C1-B2D0-F69F5AB85129}" presName="Name0" presStyleCnt="0">
        <dgm:presLayoutVars>
          <dgm:dir/>
          <dgm:resizeHandles val="exact"/>
        </dgm:presLayoutVars>
      </dgm:prSet>
      <dgm:spPr/>
    </dgm:pt>
    <dgm:pt modelId="{A077E8A7-0620-43A2-A441-130E8653529A}" type="pres">
      <dgm:prSet presAssocID="{5DB5F6C6-4C54-4D57-9DEE-901AC0791313}" presName="node" presStyleLbl="node1" presStyleIdx="0" presStyleCnt="12">
        <dgm:presLayoutVars>
          <dgm:bulletEnabled val="1"/>
        </dgm:presLayoutVars>
      </dgm:prSet>
      <dgm:spPr/>
    </dgm:pt>
    <dgm:pt modelId="{2D3877E9-7238-4B92-A988-2324B8CB3C7E}" type="pres">
      <dgm:prSet presAssocID="{86DA987F-8CD2-4758-852D-C386E9586536}" presName="sibTrans" presStyleLbl="sibTrans1D1" presStyleIdx="0" presStyleCnt="11"/>
      <dgm:spPr/>
    </dgm:pt>
    <dgm:pt modelId="{CC75417D-1402-40BE-9EED-F71B3159BCDD}" type="pres">
      <dgm:prSet presAssocID="{86DA987F-8CD2-4758-852D-C386E9586536}" presName="connectorText" presStyleLbl="sibTrans1D1" presStyleIdx="0" presStyleCnt="11"/>
      <dgm:spPr/>
    </dgm:pt>
    <dgm:pt modelId="{75216A71-4575-4191-944D-8A721DDC1B54}" type="pres">
      <dgm:prSet presAssocID="{AD74283E-3DE8-47A0-A133-071F18D81F56}" presName="node" presStyleLbl="node1" presStyleIdx="1" presStyleCnt="12">
        <dgm:presLayoutVars>
          <dgm:bulletEnabled val="1"/>
        </dgm:presLayoutVars>
      </dgm:prSet>
      <dgm:spPr/>
    </dgm:pt>
    <dgm:pt modelId="{EA958855-7802-49E3-A051-B83A58B9C3A1}" type="pres">
      <dgm:prSet presAssocID="{B9D528E3-FC9C-41E3-94A1-C9F3A30D1383}" presName="sibTrans" presStyleLbl="sibTrans1D1" presStyleIdx="1" presStyleCnt="11"/>
      <dgm:spPr/>
    </dgm:pt>
    <dgm:pt modelId="{62A05EF6-786F-4D68-9D37-A3AB493F2DA8}" type="pres">
      <dgm:prSet presAssocID="{B9D528E3-FC9C-41E3-94A1-C9F3A30D1383}" presName="connectorText" presStyleLbl="sibTrans1D1" presStyleIdx="1" presStyleCnt="11"/>
      <dgm:spPr/>
    </dgm:pt>
    <dgm:pt modelId="{6FCC1CA9-8FFF-4864-954D-80338901C36E}" type="pres">
      <dgm:prSet presAssocID="{DA1563DC-7CD9-4518-BB56-D1E985B6FF18}" presName="node" presStyleLbl="node1" presStyleIdx="2" presStyleCnt="12">
        <dgm:presLayoutVars>
          <dgm:bulletEnabled val="1"/>
        </dgm:presLayoutVars>
      </dgm:prSet>
      <dgm:spPr/>
    </dgm:pt>
    <dgm:pt modelId="{DEB367D6-F8D3-4BBA-BB77-86F695F2BB43}" type="pres">
      <dgm:prSet presAssocID="{3C7C6044-72FB-48E7-A642-3E4DC57B484C}" presName="sibTrans" presStyleLbl="sibTrans1D1" presStyleIdx="2" presStyleCnt="11"/>
      <dgm:spPr/>
    </dgm:pt>
    <dgm:pt modelId="{FFF3FA3C-20E1-4292-BDDF-372E1BC2EA48}" type="pres">
      <dgm:prSet presAssocID="{3C7C6044-72FB-48E7-A642-3E4DC57B484C}" presName="connectorText" presStyleLbl="sibTrans1D1" presStyleIdx="2" presStyleCnt="11"/>
      <dgm:spPr/>
    </dgm:pt>
    <dgm:pt modelId="{E509E1F3-5254-4709-8EDE-4BC5D5756E93}" type="pres">
      <dgm:prSet presAssocID="{3C567762-1344-4F30-81C4-8388B33F9B0B}" presName="node" presStyleLbl="node1" presStyleIdx="3" presStyleCnt="12">
        <dgm:presLayoutVars>
          <dgm:bulletEnabled val="1"/>
        </dgm:presLayoutVars>
      </dgm:prSet>
      <dgm:spPr/>
    </dgm:pt>
    <dgm:pt modelId="{3030A002-8483-4F31-940F-395E5015F6E6}" type="pres">
      <dgm:prSet presAssocID="{3677E71A-8533-4B5A-857B-2F439D68CA71}" presName="sibTrans" presStyleLbl="sibTrans1D1" presStyleIdx="3" presStyleCnt="11"/>
      <dgm:spPr/>
    </dgm:pt>
    <dgm:pt modelId="{F25F09C7-8402-41B8-B3FA-AA285D5EA36D}" type="pres">
      <dgm:prSet presAssocID="{3677E71A-8533-4B5A-857B-2F439D68CA71}" presName="connectorText" presStyleLbl="sibTrans1D1" presStyleIdx="3" presStyleCnt="11"/>
      <dgm:spPr/>
    </dgm:pt>
    <dgm:pt modelId="{95BDACEF-DC25-4142-B698-8E15C1B840E2}" type="pres">
      <dgm:prSet presAssocID="{C6E8AF83-7B97-4E16-BD9C-389DE3840286}" presName="node" presStyleLbl="node1" presStyleIdx="4" presStyleCnt="12">
        <dgm:presLayoutVars>
          <dgm:bulletEnabled val="1"/>
        </dgm:presLayoutVars>
      </dgm:prSet>
      <dgm:spPr/>
    </dgm:pt>
    <dgm:pt modelId="{3B04D973-1AAB-492E-A638-F910E96A2822}" type="pres">
      <dgm:prSet presAssocID="{F0DB8588-884F-4C3C-90A3-76788DD49018}" presName="sibTrans" presStyleLbl="sibTrans1D1" presStyleIdx="4" presStyleCnt="11"/>
      <dgm:spPr/>
    </dgm:pt>
    <dgm:pt modelId="{791B5EA9-9B7F-4449-AA49-C1163FA4EEA9}" type="pres">
      <dgm:prSet presAssocID="{F0DB8588-884F-4C3C-90A3-76788DD49018}" presName="connectorText" presStyleLbl="sibTrans1D1" presStyleIdx="4" presStyleCnt="11"/>
      <dgm:spPr/>
    </dgm:pt>
    <dgm:pt modelId="{D178FE03-BAF2-48D7-9595-C0190674B5AF}" type="pres">
      <dgm:prSet presAssocID="{7C682035-7C17-402C-B80C-32E422D3B4A8}" presName="node" presStyleLbl="node1" presStyleIdx="5" presStyleCnt="12">
        <dgm:presLayoutVars>
          <dgm:bulletEnabled val="1"/>
        </dgm:presLayoutVars>
      </dgm:prSet>
      <dgm:spPr/>
    </dgm:pt>
    <dgm:pt modelId="{D2FA093B-410B-4E56-95B3-421D07C0F69E}" type="pres">
      <dgm:prSet presAssocID="{FE80C8BA-1CC7-4257-8F8D-96FD9F84E2F8}" presName="sibTrans" presStyleLbl="sibTrans1D1" presStyleIdx="5" presStyleCnt="11"/>
      <dgm:spPr/>
    </dgm:pt>
    <dgm:pt modelId="{4E764299-D7E7-4F13-8B07-F7C08804B156}" type="pres">
      <dgm:prSet presAssocID="{FE80C8BA-1CC7-4257-8F8D-96FD9F84E2F8}" presName="connectorText" presStyleLbl="sibTrans1D1" presStyleIdx="5" presStyleCnt="11"/>
      <dgm:spPr/>
    </dgm:pt>
    <dgm:pt modelId="{21B627F8-F42D-481A-9465-C96B3BAA9EDE}" type="pres">
      <dgm:prSet presAssocID="{8D9B82D2-C00D-4E70-82C9-72C08142F811}" presName="node" presStyleLbl="node1" presStyleIdx="6" presStyleCnt="12">
        <dgm:presLayoutVars>
          <dgm:bulletEnabled val="1"/>
        </dgm:presLayoutVars>
      </dgm:prSet>
      <dgm:spPr/>
    </dgm:pt>
    <dgm:pt modelId="{774AFE62-2845-4FC3-955E-766033B58BB5}" type="pres">
      <dgm:prSet presAssocID="{3A90B90C-0BF8-4E31-95D4-A60E63E0B142}" presName="sibTrans" presStyleLbl="sibTrans1D1" presStyleIdx="6" presStyleCnt="11"/>
      <dgm:spPr/>
    </dgm:pt>
    <dgm:pt modelId="{9B5C7031-6F3E-418F-819D-B3A418D5F699}" type="pres">
      <dgm:prSet presAssocID="{3A90B90C-0BF8-4E31-95D4-A60E63E0B142}" presName="connectorText" presStyleLbl="sibTrans1D1" presStyleIdx="6" presStyleCnt="11"/>
      <dgm:spPr/>
    </dgm:pt>
    <dgm:pt modelId="{25753432-A33C-4885-B854-245BC24AAA07}" type="pres">
      <dgm:prSet presAssocID="{1E2C6DAE-DC24-41FB-AFDB-1B1603C11929}" presName="node" presStyleLbl="node1" presStyleIdx="7" presStyleCnt="12">
        <dgm:presLayoutVars>
          <dgm:bulletEnabled val="1"/>
        </dgm:presLayoutVars>
      </dgm:prSet>
      <dgm:spPr/>
    </dgm:pt>
    <dgm:pt modelId="{E8122C7F-36AB-4A27-A984-5DC0C6BF1741}" type="pres">
      <dgm:prSet presAssocID="{04BEC7B7-2FEA-45F8-8249-C7C0EEB79D5A}" presName="sibTrans" presStyleLbl="sibTrans1D1" presStyleIdx="7" presStyleCnt="11"/>
      <dgm:spPr/>
    </dgm:pt>
    <dgm:pt modelId="{A723EDC3-5A9B-42F7-A252-C475B3EDCCC8}" type="pres">
      <dgm:prSet presAssocID="{04BEC7B7-2FEA-45F8-8249-C7C0EEB79D5A}" presName="connectorText" presStyleLbl="sibTrans1D1" presStyleIdx="7" presStyleCnt="11"/>
      <dgm:spPr/>
    </dgm:pt>
    <dgm:pt modelId="{D56244A5-4AE8-4EAF-8ED9-618EFF88A0C1}" type="pres">
      <dgm:prSet presAssocID="{ECA9E70F-242A-4EC0-9096-8B0F7C9A5E91}" presName="node" presStyleLbl="node1" presStyleIdx="8" presStyleCnt="12">
        <dgm:presLayoutVars>
          <dgm:bulletEnabled val="1"/>
        </dgm:presLayoutVars>
      </dgm:prSet>
      <dgm:spPr/>
    </dgm:pt>
    <dgm:pt modelId="{7AB58D78-1B6A-481B-98AF-C38C91E07565}" type="pres">
      <dgm:prSet presAssocID="{5DBF7689-35BC-4424-BEF8-CBDE7B593470}" presName="sibTrans" presStyleLbl="sibTrans1D1" presStyleIdx="8" presStyleCnt="11"/>
      <dgm:spPr/>
    </dgm:pt>
    <dgm:pt modelId="{509488B8-8479-4E9F-B82F-011F8C2C3E05}" type="pres">
      <dgm:prSet presAssocID="{5DBF7689-35BC-4424-BEF8-CBDE7B593470}" presName="connectorText" presStyleLbl="sibTrans1D1" presStyleIdx="8" presStyleCnt="11"/>
      <dgm:spPr/>
    </dgm:pt>
    <dgm:pt modelId="{96E5DBE8-2640-4BC0-82F1-40B84AF27CE4}" type="pres">
      <dgm:prSet presAssocID="{CDEA7281-95B9-47B5-BED5-88E9D001183D}" presName="node" presStyleLbl="node1" presStyleIdx="9" presStyleCnt="12">
        <dgm:presLayoutVars>
          <dgm:bulletEnabled val="1"/>
        </dgm:presLayoutVars>
      </dgm:prSet>
      <dgm:spPr/>
    </dgm:pt>
    <dgm:pt modelId="{5023323B-72FC-46B1-8194-C5E5857A80C5}" type="pres">
      <dgm:prSet presAssocID="{BF7DD930-E14F-40D5-B2B1-64AC51D1AA22}" presName="sibTrans" presStyleLbl="sibTrans1D1" presStyleIdx="9" presStyleCnt="11"/>
      <dgm:spPr/>
    </dgm:pt>
    <dgm:pt modelId="{870128F2-7749-4373-8FD5-0A05AC7E6F72}" type="pres">
      <dgm:prSet presAssocID="{BF7DD930-E14F-40D5-B2B1-64AC51D1AA22}" presName="connectorText" presStyleLbl="sibTrans1D1" presStyleIdx="9" presStyleCnt="11"/>
      <dgm:spPr/>
    </dgm:pt>
    <dgm:pt modelId="{45E2281B-E0FA-48DE-A3E7-AC16AD5A9165}" type="pres">
      <dgm:prSet presAssocID="{A562CC58-792E-43DF-A225-E04127A991CB}" presName="node" presStyleLbl="node1" presStyleIdx="10" presStyleCnt="12">
        <dgm:presLayoutVars>
          <dgm:bulletEnabled val="1"/>
        </dgm:presLayoutVars>
      </dgm:prSet>
      <dgm:spPr/>
    </dgm:pt>
    <dgm:pt modelId="{ACEF55B4-FC78-47C2-9C91-3194B1EB57D2}" type="pres">
      <dgm:prSet presAssocID="{38EA3E86-046E-42A2-8393-5ED1C9717CCC}" presName="sibTrans" presStyleLbl="sibTrans1D1" presStyleIdx="10" presStyleCnt="11"/>
      <dgm:spPr/>
    </dgm:pt>
    <dgm:pt modelId="{4742383A-E1B1-4A49-9A9E-696B642FDA45}" type="pres">
      <dgm:prSet presAssocID="{38EA3E86-046E-42A2-8393-5ED1C9717CCC}" presName="connectorText" presStyleLbl="sibTrans1D1" presStyleIdx="10" presStyleCnt="11"/>
      <dgm:spPr/>
    </dgm:pt>
    <dgm:pt modelId="{ED02A990-0736-4042-8E8E-8BC644300389}" type="pres">
      <dgm:prSet presAssocID="{319D0BE6-7A2E-428C-985A-D36480C0E23E}" presName="node" presStyleLbl="node1" presStyleIdx="11" presStyleCnt="12">
        <dgm:presLayoutVars>
          <dgm:bulletEnabled val="1"/>
        </dgm:presLayoutVars>
      </dgm:prSet>
      <dgm:spPr/>
    </dgm:pt>
  </dgm:ptLst>
  <dgm:cxnLst>
    <dgm:cxn modelId="{B235C701-164C-48FF-90FA-23ED73799AAE}" type="presOf" srcId="{ECA9E70F-242A-4EC0-9096-8B0F7C9A5E91}" destId="{D56244A5-4AE8-4EAF-8ED9-618EFF88A0C1}" srcOrd="0" destOrd="0" presId="urn:microsoft.com/office/officeart/2016/7/layout/RepeatingBendingProcessNew"/>
    <dgm:cxn modelId="{DFCC3307-6BC0-411D-B18E-1A18815B7E3E}" type="presOf" srcId="{DF84E8DF-0B5C-43C1-B2D0-F69F5AB85129}" destId="{310E11D4-30E2-4F3A-9373-9D95F328A876}" srcOrd="0" destOrd="0" presId="urn:microsoft.com/office/officeart/2016/7/layout/RepeatingBendingProcessNew"/>
    <dgm:cxn modelId="{AC58C70B-28F7-44CE-9AE8-D6FD0718F90E}" type="presOf" srcId="{CDEA7281-95B9-47B5-BED5-88E9D001183D}" destId="{96E5DBE8-2640-4BC0-82F1-40B84AF27CE4}" srcOrd="0" destOrd="0" presId="urn:microsoft.com/office/officeart/2016/7/layout/RepeatingBendingProcessNew"/>
    <dgm:cxn modelId="{092EB51D-F8B8-4410-BB18-ED53A64CE5EC}" srcId="{DF84E8DF-0B5C-43C1-B2D0-F69F5AB85129}" destId="{7C682035-7C17-402C-B80C-32E422D3B4A8}" srcOrd="5" destOrd="0" parTransId="{7BBD1EC5-D056-42E8-AF18-1BAD017574F2}" sibTransId="{FE80C8BA-1CC7-4257-8F8D-96FD9F84E2F8}"/>
    <dgm:cxn modelId="{FBECA01F-9B1F-4A58-8E6D-199092FF5831}" type="presOf" srcId="{3C7C6044-72FB-48E7-A642-3E4DC57B484C}" destId="{FFF3FA3C-20E1-4292-BDDF-372E1BC2EA48}" srcOrd="1" destOrd="0" presId="urn:microsoft.com/office/officeart/2016/7/layout/RepeatingBendingProcessNew"/>
    <dgm:cxn modelId="{2CB95E25-D837-4C3F-9C4B-51EDE98C99C2}" type="presOf" srcId="{5DB5F6C6-4C54-4D57-9DEE-901AC0791313}" destId="{A077E8A7-0620-43A2-A441-130E8653529A}" srcOrd="0" destOrd="0" presId="urn:microsoft.com/office/officeart/2016/7/layout/RepeatingBendingProcessNew"/>
    <dgm:cxn modelId="{B9C3F025-85D7-4161-8D2F-BDF0E0094B5B}" type="presOf" srcId="{319D0BE6-7A2E-428C-985A-D36480C0E23E}" destId="{ED02A990-0736-4042-8E8E-8BC644300389}" srcOrd="0" destOrd="0" presId="urn:microsoft.com/office/officeart/2016/7/layout/RepeatingBendingProcessNew"/>
    <dgm:cxn modelId="{3E7E3F30-0A82-4F42-A57C-DA0BBC16416C}" type="presOf" srcId="{7C682035-7C17-402C-B80C-32E422D3B4A8}" destId="{D178FE03-BAF2-48D7-9595-C0190674B5AF}" srcOrd="0" destOrd="0" presId="urn:microsoft.com/office/officeart/2016/7/layout/RepeatingBendingProcessNew"/>
    <dgm:cxn modelId="{28A05D33-38D2-4A89-9E04-FAE7EFCC609E}" type="presOf" srcId="{8D9B82D2-C00D-4E70-82C9-72C08142F811}" destId="{21B627F8-F42D-481A-9465-C96B3BAA9EDE}" srcOrd="0" destOrd="0" presId="urn:microsoft.com/office/officeart/2016/7/layout/RepeatingBendingProcessNew"/>
    <dgm:cxn modelId="{A26F315B-A025-43E5-9D52-06BDFDFD1B9F}" srcId="{DF84E8DF-0B5C-43C1-B2D0-F69F5AB85129}" destId="{AD74283E-3DE8-47A0-A133-071F18D81F56}" srcOrd="1" destOrd="0" parTransId="{2CE2DE4D-CBEA-427F-B515-5DB72689B2E7}" sibTransId="{B9D528E3-FC9C-41E3-94A1-C9F3A30D1383}"/>
    <dgm:cxn modelId="{8F2EDA5E-45BB-480F-98D5-16CBBD9A4EE4}" type="presOf" srcId="{5DBF7689-35BC-4424-BEF8-CBDE7B593470}" destId="{509488B8-8479-4E9F-B82F-011F8C2C3E05}" srcOrd="1" destOrd="0" presId="urn:microsoft.com/office/officeart/2016/7/layout/RepeatingBendingProcessNew"/>
    <dgm:cxn modelId="{401F4646-C3DC-47D5-A604-242203F05610}" type="presOf" srcId="{5DBF7689-35BC-4424-BEF8-CBDE7B593470}" destId="{7AB58D78-1B6A-481B-98AF-C38C91E07565}" srcOrd="0" destOrd="0" presId="urn:microsoft.com/office/officeart/2016/7/layout/RepeatingBendingProcessNew"/>
    <dgm:cxn modelId="{5A83746A-C5DC-4C25-8159-07516FF34E76}" type="presOf" srcId="{38EA3E86-046E-42A2-8393-5ED1C9717CCC}" destId="{4742383A-E1B1-4A49-9A9E-696B642FDA45}" srcOrd="1" destOrd="0" presId="urn:microsoft.com/office/officeart/2016/7/layout/RepeatingBendingProcessNew"/>
    <dgm:cxn modelId="{AA1DE94A-3091-4E56-8DBF-6CA22D10F92B}" type="presOf" srcId="{3C7C6044-72FB-48E7-A642-3E4DC57B484C}" destId="{DEB367D6-F8D3-4BBA-BB77-86F695F2BB43}" srcOrd="0" destOrd="0" presId="urn:microsoft.com/office/officeart/2016/7/layout/RepeatingBendingProcessNew"/>
    <dgm:cxn modelId="{6209786B-E70A-4CCC-9015-F9C43EDF5FA9}" srcId="{DF84E8DF-0B5C-43C1-B2D0-F69F5AB85129}" destId="{CDEA7281-95B9-47B5-BED5-88E9D001183D}" srcOrd="9" destOrd="0" parTransId="{96360D0E-D9DC-4AA8-A9BE-AAB2EA26B30A}" sibTransId="{BF7DD930-E14F-40D5-B2B1-64AC51D1AA22}"/>
    <dgm:cxn modelId="{1F46936C-FA59-461A-A502-3B80AD221C7D}" srcId="{DF84E8DF-0B5C-43C1-B2D0-F69F5AB85129}" destId="{DA1563DC-7CD9-4518-BB56-D1E985B6FF18}" srcOrd="2" destOrd="0" parTransId="{A7C063C9-FECD-44BE-B7BC-A794C3D6FC82}" sibTransId="{3C7C6044-72FB-48E7-A642-3E4DC57B484C}"/>
    <dgm:cxn modelId="{A7A7964C-AFC7-4375-8B95-38E69FF928A6}" type="presOf" srcId="{86DA987F-8CD2-4758-852D-C386E9586536}" destId="{CC75417D-1402-40BE-9EED-F71B3159BCDD}" srcOrd="1" destOrd="0" presId="urn:microsoft.com/office/officeart/2016/7/layout/RepeatingBendingProcessNew"/>
    <dgm:cxn modelId="{A8924A71-F7AE-4A9E-B6A5-8647512B0FDA}" type="presOf" srcId="{04BEC7B7-2FEA-45F8-8249-C7C0EEB79D5A}" destId="{A723EDC3-5A9B-42F7-A252-C475B3EDCCC8}" srcOrd="1" destOrd="0" presId="urn:microsoft.com/office/officeart/2016/7/layout/RepeatingBendingProcessNew"/>
    <dgm:cxn modelId="{C9B1A251-9164-4703-8F2F-76586CE6E232}" type="presOf" srcId="{C6E8AF83-7B97-4E16-BD9C-389DE3840286}" destId="{95BDACEF-DC25-4142-B698-8E15C1B840E2}" srcOrd="0" destOrd="0" presId="urn:microsoft.com/office/officeart/2016/7/layout/RepeatingBendingProcessNew"/>
    <dgm:cxn modelId="{34C2BB72-F068-4977-A66D-4CCDC8D9DEBF}" type="presOf" srcId="{3677E71A-8533-4B5A-857B-2F439D68CA71}" destId="{3030A002-8483-4F31-940F-395E5015F6E6}" srcOrd="0" destOrd="0" presId="urn:microsoft.com/office/officeart/2016/7/layout/RepeatingBendingProcessNew"/>
    <dgm:cxn modelId="{61F76777-8D71-4F0C-83A0-B361FC13EBB2}" type="presOf" srcId="{DA1563DC-7CD9-4518-BB56-D1E985B6FF18}" destId="{6FCC1CA9-8FFF-4864-954D-80338901C36E}" srcOrd="0" destOrd="0" presId="urn:microsoft.com/office/officeart/2016/7/layout/RepeatingBendingProcessNew"/>
    <dgm:cxn modelId="{24819857-6352-4D58-8A7C-DB2B9C871648}" srcId="{DF84E8DF-0B5C-43C1-B2D0-F69F5AB85129}" destId="{C6E8AF83-7B97-4E16-BD9C-389DE3840286}" srcOrd="4" destOrd="0" parTransId="{845A7224-9D8F-4412-BECB-F6F311D44F2E}" sibTransId="{F0DB8588-884F-4C3C-90A3-76788DD49018}"/>
    <dgm:cxn modelId="{C580A17F-A43C-4E18-BF18-2D118BE519C9}" srcId="{DF84E8DF-0B5C-43C1-B2D0-F69F5AB85129}" destId="{A562CC58-792E-43DF-A225-E04127A991CB}" srcOrd="10" destOrd="0" parTransId="{0F6F56FD-6BE9-4966-8469-2B7B7898A7DF}" sibTransId="{38EA3E86-046E-42A2-8393-5ED1C9717CCC}"/>
    <dgm:cxn modelId="{80035E8C-270E-4DE9-A8FD-CC4F6AAD0D0B}" type="presOf" srcId="{3A90B90C-0BF8-4E31-95D4-A60E63E0B142}" destId="{774AFE62-2845-4FC3-955E-766033B58BB5}" srcOrd="0" destOrd="0" presId="urn:microsoft.com/office/officeart/2016/7/layout/RepeatingBendingProcessNew"/>
    <dgm:cxn modelId="{01C14FA2-C6EF-42FB-9FA0-B87F6A17185A}" type="presOf" srcId="{B9D528E3-FC9C-41E3-94A1-C9F3A30D1383}" destId="{62A05EF6-786F-4D68-9D37-A3AB493F2DA8}" srcOrd="1" destOrd="0" presId="urn:microsoft.com/office/officeart/2016/7/layout/RepeatingBendingProcessNew"/>
    <dgm:cxn modelId="{DE40F4A2-2040-428F-AD9C-4B119B4FA0A5}" type="presOf" srcId="{BF7DD930-E14F-40D5-B2B1-64AC51D1AA22}" destId="{870128F2-7749-4373-8FD5-0A05AC7E6F72}" srcOrd="1" destOrd="0" presId="urn:microsoft.com/office/officeart/2016/7/layout/RepeatingBendingProcessNew"/>
    <dgm:cxn modelId="{F35D52B0-DF71-405C-AE9E-68007BBFF791}" srcId="{DF84E8DF-0B5C-43C1-B2D0-F69F5AB85129}" destId="{1E2C6DAE-DC24-41FB-AFDB-1B1603C11929}" srcOrd="7" destOrd="0" parTransId="{5FF1D74A-6251-4CA5-B4FF-1D62CE4A1ECD}" sibTransId="{04BEC7B7-2FEA-45F8-8249-C7C0EEB79D5A}"/>
    <dgm:cxn modelId="{5026B9B0-D44D-412B-9DA3-E947FBD6FD69}" type="presOf" srcId="{3A90B90C-0BF8-4E31-95D4-A60E63E0B142}" destId="{9B5C7031-6F3E-418F-819D-B3A418D5F699}" srcOrd="1" destOrd="0" presId="urn:microsoft.com/office/officeart/2016/7/layout/RepeatingBendingProcessNew"/>
    <dgm:cxn modelId="{2475B1B3-7296-4A49-AF5B-25BE350F69DF}" srcId="{DF84E8DF-0B5C-43C1-B2D0-F69F5AB85129}" destId="{3C567762-1344-4F30-81C4-8388B33F9B0B}" srcOrd="3" destOrd="0" parTransId="{CEE50BB4-50E6-49D1-AC1E-7A16750EC064}" sibTransId="{3677E71A-8533-4B5A-857B-2F439D68CA71}"/>
    <dgm:cxn modelId="{346B08B5-E1B9-47A5-888C-F55F02EB7B04}" type="presOf" srcId="{B9D528E3-FC9C-41E3-94A1-C9F3A30D1383}" destId="{EA958855-7802-49E3-A051-B83A58B9C3A1}" srcOrd="0" destOrd="0" presId="urn:microsoft.com/office/officeart/2016/7/layout/RepeatingBendingProcessNew"/>
    <dgm:cxn modelId="{F130A5B5-AB94-42DE-9978-D1A8BB9572E1}" type="presOf" srcId="{86DA987F-8CD2-4758-852D-C386E9586536}" destId="{2D3877E9-7238-4B92-A988-2324B8CB3C7E}" srcOrd="0" destOrd="0" presId="urn:microsoft.com/office/officeart/2016/7/layout/RepeatingBendingProcessNew"/>
    <dgm:cxn modelId="{841708B6-479C-47D2-BA0F-E223456F755C}" type="presOf" srcId="{3677E71A-8533-4B5A-857B-2F439D68CA71}" destId="{F25F09C7-8402-41B8-B3FA-AA285D5EA36D}" srcOrd="1" destOrd="0" presId="urn:microsoft.com/office/officeart/2016/7/layout/RepeatingBendingProcessNew"/>
    <dgm:cxn modelId="{8AD1E7B6-0E64-42B3-84C7-F83A24925C8C}" type="presOf" srcId="{04BEC7B7-2FEA-45F8-8249-C7C0EEB79D5A}" destId="{E8122C7F-36AB-4A27-A984-5DC0C6BF1741}" srcOrd="0" destOrd="0" presId="urn:microsoft.com/office/officeart/2016/7/layout/RepeatingBendingProcessNew"/>
    <dgm:cxn modelId="{1FFDDCB7-0A3B-41F3-9C20-5A8D8C1DFC3E}" srcId="{DF84E8DF-0B5C-43C1-B2D0-F69F5AB85129}" destId="{5DB5F6C6-4C54-4D57-9DEE-901AC0791313}" srcOrd="0" destOrd="0" parTransId="{0772DB1D-9F91-40A1-AD7C-BDCD1B6DF695}" sibTransId="{86DA987F-8CD2-4758-852D-C386E9586536}"/>
    <dgm:cxn modelId="{6E1EA5C0-D9AF-4C88-AE4E-88A054CF8C54}" type="presOf" srcId="{1E2C6DAE-DC24-41FB-AFDB-1B1603C11929}" destId="{25753432-A33C-4885-B854-245BC24AAA07}" srcOrd="0" destOrd="0" presId="urn:microsoft.com/office/officeart/2016/7/layout/RepeatingBendingProcessNew"/>
    <dgm:cxn modelId="{867DBED0-F77C-46AE-BB97-4AF41EDFCD5C}" type="presOf" srcId="{38EA3E86-046E-42A2-8393-5ED1C9717CCC}" destId="{ACEF55B4-FC78-47C2-9C91-3194B1EB57D2}" srcOrd="0" destOrd="0" presId="urn:microsoft.com/office/officeart/2016/7/layout/RepeatingBendingProcessNew"/>
    <dgm:cxn modelId="{DDCCC3D7-0ECE-4965-83CA-D3DEE04C4BB9}" srcId="{DF84E8DF-0B5C-43C1-B2D0-F69F5AB85129}" destId="{319D0BE6-7A2E-428C-985A-D36480C0E23E}" srcOrd="11" destOrd="0" parTransId="{642B0F69-30C1-410C-AD3F-E148E2420700}" sibTransId="{EE8FA1B0-A3E0-4730-B29C-ABA946F21215}"/>
    <dgm:cxn modelId="{91100DD8-63FC-481B-BC93-E046D85D217C}" type="presOf" srcId="{F0DB8588-884F-4C3C-90A3-76788DD49018}" destId="{3B04D973-1AAB-492E-A638-F910E96A2822}" srcOrd="0" destOrd="0" presId="urn:microsoft.com/office/officeart/2016/7/layout/RepeatingBendingProcessNew"/>
    <dgm:cxn modelId="{E595C4DD-5080-4D84-85BF-792A632A1E07}" type="presOf" srcId="{A562CC58-792E-43DF-A225-E04127A991CB}" destId="{45E2281B-E0FA-48DE-A3E7-AC16AD5A9165}" srcOrd="0" destOrd="0" presId="urn:microsoft.com/office/officeart/2016/7/layout/RepeatingBendingProcessNew"/>
    <dgm:cxn modelId="{28D242DF-5389-4C73-845D-15D91B36803A}" srcId="{DF84E8DF-0B5C-43C1-B2D0-F69F5AB85129}" destId="{8D9B82D2-C00D-4E70-82C9-72C08142F811}" srcOrd="6" destOrd="0" parTransId="{1E6C14D4-80E5-48D7-8294-4514E761773D}" sibTransId="{3A90B90C-0BF8-4E31-95D4-A60E63E0B142}"/>
    <dgm:cxn modelId="{F36006E2-5344-461C-9F21-431ABF65887C}" type="presOf" srcId="{FE80C8BA-1CC7-4257-8F8D-96FD9F84E2F8}" destId="{4E764299-D7E7-4F13-8B07-F7C08804B156}" srcOrd="1" destOrd="0" presId="urn:microsoft.com/office/officeart/2016/7/layout/RepeatingBendingProcessNew"/>
    <dgm:cxn modelId="{41DE5BE8-07DC-4416-B8E3-766D4A680B47}" type="presOf" srcId="{FE80C8BA-1CC7-4257-8F8D-96FD9F84E2F8}" destId="{D2FA093B-410B-4E56-95B3-421D07C0F69E}" srcOrd="0" destOrd="0" presId="urn:microsoft.com/office/officeart/2016/7/layout/RepeatingBendingProcessNew"/>
    <dgm:cxn modelId="{A8BF1FEB-35CB-48AC-BBB9-08E7B4966118}" type="presOf" srcId="{F0DB8588-884F-4C3C-90A3-76788DD49018}" destId="{791B5EA9-9B7F-4449-AA49-C1163FA4EEA9}" srcOrd="1" destOrd="0" presId="urn:microsoft.com/office/officeart/2016/7/layout/RepeatingBendingProcessNew"/>
    <dgm:cxn modelId="{8B556AEC-B8AF-49A9-970D-EACF2C467561}" type="presOf" srcId="{BF7DD930-E14F-40D5-B2B1-64AC51D1AA22}" destId="{5023323B-72FC-46B1-8194-C5E5857A80C5}" srcOrd="0" destOrd="0" presId="urn:microsoft.com/office/officeart/2016/7/layout/RepeatingBendingProcessNew"/>
    <dgm:cxn modelId="{3BCF7DED-03E7-4620-9B66-462E54468665}" srcId="{DF84E8DF-0B5C-43C1-B2D0-F69F5AB85129}" destId="{ECA9E70F-242A-4EC0-9096-8B0F7C9A5E91}" srcOrd="8" destOrd="0" parTransId="{3B3A08F1-242D-42EC-BCB5-3A09E54F2180}" sibTransId="{5DBF7689-35BC-4424-BEF8-CBDE7B593470}"/>
    <dgm:cxn modelId="{B7BD67FB-5F4C-4ED8-BF1E-666C379D54E1}" type="presOf" srcId="{3C567762-1344-4F30-81C4-8388B33F9B0B}" destId="{E509E1F3-5254-4709-8EDE-4BC5D5756E93}" srcOrd="0" destOrd="0" presId="urn:microsoft.com/office/officeart/2016/7/layout/RepeatingBendingProcessNew"/>
    <dgm:cxn modelId="{7A80EDFD-5288-473C-BF62-355432A86678}" type="presOf" srcId="{AD74283E-3DE8-47A0-A133-071F18D81F56}" destId="{75216A71-4575-4191-944D-8A721DDC1B54}" srcOrd="0" destOrd="0" presId="urn:microsoft.com/office/officeart/2016/7/layout/RepeatingBendingProcessNew"/>
    <dgm:cxn modelId="{F529CFF5-7D96-4B9B-B34A-8E886A581C22}" type="presParOf" srcId="{310E11D4-30E2-4F3A-9373-9D95F328A876}" destId="{A077E8A7-0620-43A2-A441-130E8653529A}" srcOrd="0" destOrd="0" presId="urn:microsoft.com/office/officeart/2016/7/layout/RepeatingBendingProcessNew"/>
    <dgm:cxn modelId="{2D462E43-CCA3-44AB-9D36-87A91BCF678B}" type="presParOf" srcId="{310E11D4-30E2-4F3A-9373-9D95F328A876}" destId="{2D3877E9-7238-4B92-A988-2324B8CB3C7E}" srcOrd="1" destOrd="0" presId="urn:microsoft.com/office/officeart/2016/7/layout/RepeatingBendingProcessNew"/>
    <dgm:cxn modelId="{461659E2-FCF9-43C3-A09F-6F281742D96B}" type="presParOf" srcId="{2D3877E9-7238-4B92-A988-2324B8CB3C7E}" destId="{CC75417D-1402-40BE-9EED-F71B3159BCDD}" srcOrd="0" destOrd="0" presId="urn:microsoft.com/office/officeart/2016/7/layout/RepeatingBendingProcessNew"/>
    <dgm:cxn modelId="{8D738535-DB44-4436-86B9-8EE88AB88726}" type="presParOf" srcId="{310E11D4-30E2-4F3A-9373-9D95F328A876}" destId="{75216A71-4575-4191-944D-8A721DDC1B54}" srcOrd="2" destOrd="0" presId="urn:microsoft.com/office/officeart/2016/7/layout/RepeatingBendingProcessNew"/>
    <dgm:cxn modelId="{50F586BF-EA3B-444F-ABA3-3EBBB249FC3D}" type="presParOf" srcId="{310E11D4-30E2-4F3A-9373-9D95F328A876}" destId="{EA958855-7802-49E3-A051-B83A58B9C3A1}" srcOrd="3" destOrd="0" presId="urn:microsoft.com/office/officeart/2016/7/layout/RepeatingBendingProcessNew"/>
    <dgm:cxn modelId="{7F62E105-FEB6-4176-96B9-982AAF26F380}" type="presParOf" srcId="{EA958855-7802-49E3-A051-B83A58B9C3A1}" destId="{62A05EF6-786F-4D68-9D37-A3AB493F2DA8}" srcOrd="0" destOrd="0" presId="urn:microsoft.com/office/officeart/2016/7/layout/RepeatingBendingProcessNew"/>
    <dgm:cxn modelId="{4FE1BE74-5F95-4F85-96F0-C355FCE51A38}" type="presParOf" srcId="{310E11D4-30E2-4F3A-9373-9D95F328A876}" destId="{6FCC1CA9-8FFF-4864-954D-80338901C36E}" srcOrd="4" destOrd="0" presId="urn:microsoft.com/office/officeart/2016/7/layout/RepeatingBendingProcessNew"/>
    <dgm:cxn modelId="{1FAF0A4D-8620-4D77-9BE1-BE974102BD90}" type="presParOf" srcId="{310E11D4-30E2-4F3A-9373-9D95F328A876}" destId="{DEB367D6-F8D3-4BBA-BB77-86F695F2BB43}" srcOrd="5" destOrd="0" presId="urn:microsoft.com/office/officeart/2016/7/layout/RepeatingBendingProcessNew"/>
    <dgm:cxn modelId="{35C63CC5-0DD5-48A7-A759-C74E6688C1CF}" type="presParOf" srcId="{DEB367D6-F8D3-4BBA-BB77-86F695F2BB43}" destId="{FFF3FA3C-20E1-4292-BDDF-372E1BC2EA48}" srcOrd="0" destOrd="0" presId="urn:microsoft.com/office/officeart/2016/7/layout/RepeatingBendingProcessNew"/>
    <dgm:cxn modelId="{48AC76D8-B2E8-469E-B7EB-8CBDD3C64C7B}" type="presParOf" srcId="{310E11D4-30E2-4F3A-9373-9D95F328A876}" destId="{E509E1F3-5254-4709-8EDE-4BC5D5756E93}" srcOrd="6" destOrd="0" presId="urn:microsoft.com/office/officeart/2016/7/layout/RepeatingBendingProcessNew"/>
    <dgm:cxn modelId="{AE3EDC96-81B4-4BA5-A8A2-7BEA0BC4EBC5}" type="presParOf" srcId="{310E11D4-30E2-4F3A-9373-9D95F328A876}" destId="{3030A002-8483-4F31-940F-395E5015F6E6}" srcOrd="7" destOrd="0" presId="urn:microsoft.com/office/officeart/2016/7/layout/RepeatingBendingProcessNew"/>
    <dgm:cxn modelId="{5B76BD05-B146-4A07-B440-D0225E8F641B}" type="presParOf" srcId="{3030A002-8483-4F31-940F-395E5015F6E6}" destId="{F25F09C7-8402-41B8-B3FA-AA285D5EA36D}" srcOrd="0" destOrd="0" presId="urn:microsoft.com/office/officeart/2016/7/layout/RepeatingBendingProcessNew"/>
    <dgm:cxn modelId="{7B2B57A9-02D6-41AB-828A-3980E29B6199}" type="presParOf" srcId="{310E11D4-30E2-4F3A-9373-9D95F328A876}" destId="{95BDACEF-DC25-4142-B698-8E15C1B840E2}" srcOrd="8" destOrd="0" presId="urn:microsoft.com/office/officeart/2016/7/layout/RepeatingBendingProcessNew"/>
    <dgm:cxn modelId="{7EA617FA-2CFC-403F-952D-92B900C8AE52}" type="presParOf" srcId="{310E11D4-30E2-4F3A-9373-9D95F328A876}" destId="{3B04D973-1AAB-492E-A638-F910E96A2822}" srcOrd="9" destOrd="0" presId="urn:microsoft.com/office/officeart/2016/7/layout/RepeatingBendingProcessNew"/>
    <dgm:cxn modelId="{EC4F2C1D-8096-4103-A531-13E0B7C280BC}" type="presParOf" srcId="{3B04D973-1AAB-492E-A638-F910E96A2822}" destId="{791B5EA9-9B7F-4449-AA49-C1163FA4EEA9}" srcOrd="0" destOrd="0" presId="urn:microsoft.com/office/officeart/2016/7/layout/RepeatingBendingProcessNew"/>
    <dgm:cxn modelId="{64A1977C-3B1C-42A4-A2BB-4D57E526B4EF}" type="presParOf" srcId="{310E11D4-30E2-4F3A-9373-9D95F328A876}" destId="{D178FE03-BAF2-48D7-9595-C0190674B5AF}" srcOrd="10" destOrd="0" presId="urn:microsoft.com/office/officeart/2016/7/layout/RepeatingBendingProcessNew"/>
    <dgm:cxn modelId="{565C8FD5-CA31-4DB3-AFAF-6CE04154F2C2}" type="presParOf" srcId="{310E11D4-30E2-4F3A-9373-9D95F328A876}" destId="{D2FA093B-410B-4E56-95B3-421D07C0F69E}" srcOrd="11" destOrd="0" presId="urn:microsoft.com/office/officeart/2016/7/layout/RepeatingBendingProcessNew"/>
    <dgm:cxn modelId="{E8FB73AC-13A1-43B7-BDEA-90805891EB0B}" type="presParOf" srcId="{D2FA093B-410B-4E56-95B3-421D07C0F69E}" destId="{4E764299-D7E7-4F13-8B07-F7C08804B156}" srcOrd="0" destOrd="0" presId="urn:microsoft.com/office/officeart/2016/7/layout/RepeatingBendingProcessNew"/>
    <dgm:cxn modelId="{1BB1A981-F604-43AA-B88A-EBC455F33E1A}" type="presParOf" srcId="{310E11D4-30E2-4F3A-9373-9D95F328A876}" destId="{21B627F8-F42D-481A-9465-C96B3BAA9EDE}" srcOrd="12" destOrd="0" presId="urn:microsoft.com/office/officeart/2016/7/layout/RepeatingBendingProcessNew"/>
    <dgm:cxn modelId="{9BDCE376-95F7-4E0F-BFE9-B600EC2C8787}" type="presParOf" srcId="{310E11D4-30E2-4F3A-9373-9D95F328A876}" destId="{774AFE62-2845-4FC3-955E-766033B58BB5}" srcOrd="13" destOrd="0" presId="urn:microsoft.com/office/officeart/2016/7/layout/RepeatingBendingProcessNew"/>
    <dgm:cxn modelId="{8F3878D7-E49A-403B-BC96-BB67005732F1}" type="presParOf" srcId="{774AFE62-2845-4FC3-955E-766033B58BB5}" destId="{9B5C7031-6F3E-418F-819D-B3A418D5F699}" srcOrd="0" destOrd="0" presId="urn:microsoft.com/office/officeart/2016/7/layout/RepeatingBendingProcessNew"/>
    <dgm:cxn modelId="{8DF025D5-48E5-4E3C-9DF8-05F1BCCE0F53}" type="presParOf" srcId="{310E11D4-30E2-4F3A-9373-9D95F328A876}" destId="{25753432-A33C-4885-B854-245BC24AAA07}" srcOrd="14" destOrd="0" presId="urn:microsoft.com/office/officeart/2016/7/layout/RepeatingBendingProcessNew"/>
    <dgm:cxn modelId="{E8C0E35D-79BD-4689-AC7D-79B806042E1F}" type="presParOf" srcId="{310E11D4-30E2-4F3A-9373-9D95F328A876}" destId="{E8122C7F-36AB-4A27-A984-5DC0C6BF1741}" srcOrd="15" destOrd="0" presId="urn:microsoft.com/office/officeart/2016/7/layout/RepeatingBendingProcessNew"/>
    <dgm:cxn modelId="{CF2843A4-F9BD-45F8-A7F5-EDE914A78C4B}" type="presParOf" srcId="{E8122C7F-36AB-4A27-A984-5DC0C6BF1741}" destId="{A723EDC3-5A9B-42F7-A252-C475B3EDCCC8}" srcOrd="0" destOrd="0" presId="urn:microsoft.com/office/officeart/2016/7/layout/RepeatingBendingProcessNew"/>
    <dgm:cxn modelId="{5B97DF2E-6E0C-4FA3-A4F6-325B147A30ED}" type="presParOf" srcId="{310E11D4-30E2-4F3A-9373-9D95F328A876}" destId="{D56244A5-4AE8-4EAF-8ED9-618EFF88A0C1}" srcOrd="16" destOrd="0" presId="urn:microsoft.com/office/officeart/2016/7/layout/RepeatingBendingProcessNew"/>
    <dgm:cxn modelId="{61FE7CD9-DE45-4A0E-86C0-6033EF8A6070}" type="presParOf" srcId="{310E11D4-30E2-4F3A-9373-9D95F328A876}" destId="{7AB58D78-1B6A-481B-98AF-C38C91E07565}" srcOrd="17" destOrd="0" presId="urn:microsoft.com/office/officeart/2016/7/layout/RepeatingBendingProcessNew"/>
    <dgm:cxn modelId="{6694EC0A-1213-4171-A7A8-DC6F2285EDC0}" type="presParOf" srcId="{7AB58D78-1B6A-481B-98AF-C38C91E07565}" destId="{509488B8-8479-4E9F-B82F-011F8C2C3E05}" srcOrd="0" destOrd="0" presId="urn:microsoft.com/office/officeart/2016/7/layout/RepeatingBendingProcessNew"/>
    <dgm:cxn modelId="{89AFC9E3-D957-4B79-BEF9-9CDF2DB3984F}" type="presParOf" srcId="{310E11D4-30E2-4F3A-9373-9D95F328A876}" destId="{96E5DBE8-2640-4BC0-82F1-40B84AF27CE4}" srcOrd="18" destOrd="0" presId="urn:microsoft.com/office/officeart/2016/7/layout/RepeatingBendingProcessNew"/>
    <dgm:cxn modelId="{737CDA9C-E0BF-4680-ACC9-E0198E0E7588}" type="presParOf" srcId="{310E11D4-30E2-4F3A-9373-9D95F328A876}" destId="{5023323B-72FC-46B1-8194-C5E5857A80C5}" srcOrd="19" destOrd="0" presId="urn:microsoft.com/office/officeart/2016/7/layout/RepeatingBendingProcessNew"/>
    <dgm:cxn modelId="{3AC9D6C2-BDAD-4F09-BDDA-49A8D5BC9E87}" type="presParOf" srcId="{5023323B-72FC-46B1-8194-C5E5857A80C5}" destId="{870128F2-7749-4373-8FD5-0A05AC7E6F72}" srcOrd="0" destOrd="0" presId="urn:microsoft.com/office/officeart/2016/7/layout/RepeatingBendingProcessNew"/>
    <dgm:cxn modelId="{9147F0C6-4075-4D67-8B2F-C5523FD9783A}" type="presParOf" srcId="{310E11D4-30E2-4F3A-9373-9D95F328A876}" destId="{45E2281B-E0FA-48DE-A3E7-AC16AD5A9165}" srcOrd="20" destOrd="0" presId="urn:microsoft.com/office/officeart/2016/7/layout/RepeatingBendingProcessNew"/>
    <dgm:cxn modelId="{578D13B8-4503-49FB-82D9-AFF8CACD1AC6}" type="presParOf" srcId="{310E11D4-30E2-4F3A-9373-9D95F328A876}" destId="{ACEF55B4-FC78-47C2-9C91-3194B1EB57D2}" srcOrd="21" destOrd="0" presId="urn:microsoft.com/office/officeart/2016/7/layout/RepeatingBendingProcessNew"/>
    <dgm:cxn modelId="{26801BEB-D931-444E-8E71-D689A040D25C}" type="presParOf" srcId="{ACEF55B4-FC78-47C2-9C91-3194B1EB57D2}" destId="{4742383A-E1B1-4A49-9A9E-696B642FDA45}" srcOrd="0" destOrd="0" presId="urn:microsoft.com/office/officeart/2016/7/layout/RepeatingBendingProcessNew"/>
    <dgm:cxn modelId="{25BE751B-92CD-4B37-8B9E-C93C2FC8C65A}" type="presParOf" srcId="{310E11D4-30E2-4F3A-9373-9D95F328A876}" destId="{ED02A990-0736-4042-8E8E-8BC644300389}" srcOrd="2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DA2711B-B707-4C95-A3AE-F98DD3DA219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7E27CD7F-E269-4F4B-A22C-09EE81F1307A}">
      <dgm:prSet/>
      <dgm:spPr/>
      <dgm:t>
        <a:bodyPr/>
        <a:lstStyle/>
        <a:p>
          <a:pPr>
            <a:lnSpc>
              <a:spcPct val="100000"/>
            </a:lnSpc>
          </a:pPr>
          <a:r>
            <a:rPr lang="en-GB"/>
            <a:t>Based on the analysis, several strategic actions can be taken to improve song discovery and platform performance.</a:t>
          </a:r>
          <a:endParaRPr lang="en-US"/>
        </a:p>
      </dgm:t>
    </dgm:pt>
    <dgm:pt modelId="{B8C57C63-ADA9-46BF-BE96-FDCD79B6440C}" type="parTrans" cxnId="{1AC0A350-3FA3-4D82-81BB-0C5020890A91}">
      <dgm:prSet/>
      <dgm:spPr/>
      <dgm:t>
        <a:bodyPr/>
        <a:lstStyle/>
        <a:p>
          <a:endParaRPr lang="en-US"/>
        </a:p>
      </dgm:t>
    </dgm:pt>
    <dgm:pt modelId="{FC3C4879-8D2D-4788-B331-1E99CB38422D}" type="sibTrans" cxnId="{1AC0A350-3FA3-4D82-81BB-0C5020890A91}">
      <dgm:prSet/>
      <dgm:spPr/>
      <dgm:t>
        <a:bodyPr/>
        <a:lstStyle/>
        <a:p>
          <a:pPr>
            <a:lnSpc>
              <a:spcPct val="100000"/>
            </a:lnSpc>
          </a:pPr>
          <a:endParaRPr lang="en-US"/>
        </a:p>
      </dgm:t>
    </dgm:pt>
    <dgm:pt modelId="{0E232CBB-152F-4572-98C5-42C6C2FB10C8}">
      <dgm:prSet/>
      <dgm:spPr/>
      <dgm:t>
        <a:bodyPr/>
        <a:lstStyle/>
        <a:p>
          <a:pPr>
            <a:lnSpc>
              <a:spcPct val="100000"/>
            </a:lnSpc>
          </a:pPr>
          <a:r>
            <a:rPr lang="en-GB" dirty="0"/>
            <a:t>Enhancing early trend detection should be a key focus, as identifying emerging songs at an early stage can significantly improve engagement and retention.</a:t>
          </a:r>
          <a:endParaRPr lang="en-US" dirty="0"/>
        </a:p>
      </dgm:t>
    </dgm:pt>
    <dgm:pt modelId="{133ED5F2-63B1-4444-AEED-3E52B12B5146}" type="parTrans" cxnId="{CD78126B-6978-45F0-A038-B186BD991054}">
      <dgm:prSet/>
      <dgm:spPr/>
      <dgm:t>
        <a:bodyPr/>
        <a:lstStyle/>
        <a:p>
          <a:endParaRPr lang="en-US"/>
        </a:p>
      </dgm:t>
    </dgm:pt>
    <dgm:pt modelId="{A1A33575-2545-4EC0-923C-6D500293A33D}" type="sibTrans" cxnId="{CD78126B-6978-45F0-A038-B186BD991054}">
      <dgm:prSet/>
      <dgm:spPr/>
      <dgm:t>
        <a:bodyPr/>
        <a:lstStyle/>
        <a:p>
          <a:pPr>
            <a:lnSpc>
              <a:spcPct val="100000"/>
            </a:lnSpc>
          </a:pPr>
          <a:endParaRPr lang="en-US"/>
        </a:p>
      </dgm:t>
    </dgm:pt>
    <dgm:pt modelId="{8F42BA17-305E-48E3-859D-DDF5C13CF10A}">
      <dgm:prSet/>
      <dgm:spPr/>
      <dgm:t>
        <a:bodyPr/>
        <a:lstStyle/>
        <a:p>
          <a:pPr>
            <a:lnSpc>
              <a:spcPct val="100000"/>
            </a:lnSpc>
          </a:pPr>
          <a:r>
            <a:rPr lang="en-GB"/>
            <a:t>Integrating external signals, particularly from platforms like Shazam, can provide valuable insights into real-time user interest and help identify potential hits before they peak.</a:t>
          </a:r>
          <a:endParaRPr lang="en-US"/>
        </a:p>
      </dgm:t>
    </dgm:pt>
    <dgm:pt modelId="{B62F09CF-E6D0-474E-81A2-350F8C216F1F}" type="parTrans" cxnId="{5C300AD2-6E22-4965-B859-1344AF2A468C}">
      <dgm:prSet/>
      <dgm:spPr/>
      <dgm:t>
        <a:bodyPr/>
        <a:lstStyle/>
        <a:p>
          <a:endParaRPr lang="en-US"/>
        </a:p>
      </dgm:t>
    </dgm:pt>
    <dgm:pt modelId="{EEA78AD4-AE0F-4A93-A52F-C260AA9C6772}" type="sibTrans" cxnId="{5C300AD2-6E22-4965-B859-1344AF2A468C}">
      <dgm:prSet/>
      <dgm:spPr/>
      <dgm:t>
        <a:bodyPr/>
        <a:lstStyle/>
        <a:p>
          <a:pPr>
            <a:lnSpc>
              <a:spcPct val="100000"/>
            </a:lnSpc>
          </a:pPr>
          <a:endParaRPr lang="en-US"/>
        </a:p>
      </dgm:t>
    </dgm:pt>
    <dgm:pt modelId="{3C649509-53AE-4A90-A342-850F3593BB46}">
      <dgm:prSet/>
      <dgm:spPr/>
      <dgm:t>
        <a:bodyPr/>
        <a:lstStyle/>
        <a:p>
          <a:pPr>
            <a:lnSpc>
              <a:spcPct val="100000"/>
            </a:lnSpc>
          </a:pPr>
          <a:r>
            <a:rPr lang="en-GB"/>
            <a:t>Additionally, promoting emerging songs more aggressively through dynamic playlist updates can increase visibility and improve their chances of becoming popular.</a:t>
          </a:r>
          <a:endParaRPr lang="en-US"/>
        </a:p>
      </dgm:t>
    </dgm:pt>
    <dgm:pt modelId="{AB44D9B7-40D8-4BA8-8754-7E018D5DADAB}" type="parTrans" cxnId="{44547A54-F952-47CD-B710-D50764A960AB}">
      <dgm:prSet/>
      <dgm:spPr/>
      <dgm:t>
        <a:bodyPr/>
        <a:lstStyle/>
        <a:p>
          <a:endParaRPr lang="en-US"/>
        </a:p>
      </dgm:t>
    </dgm:pt>
    <dgm:pt modelId="{F46F872C-7E6E-47EF-A04E-2DF674EFA297}" type="sibTrans" cxnId="{44547A54-F952-47CD-B710-D50764A960AB}">
      <dgm:prSet/>
      <dgm:spPr/>
      <dgm:t>
        <a:bodyPr/>
        <a:lstStyle/>
        <a:p>
          <a:pPr>
            <a:lnSpc>
              <a:spcPct val="100000"/>
            </a:lnSpc>
          </a:pPr>
          <a:endParaRPr lang="en-US"/>
        </a:p>
      </dgm:t>
    </dgm:pt>
    <dgm:pt modelId="{30E0388F-14F4-453C-A5F5-DFAA44E47E11}">
      <dgm:prSet/>
      <dgm:spPr/>
      <dgm:t>
        <a:bodyPr/>
        <a:lstStyle/>
        <a:p>
          <a:pPr>
            <a:lnSpc>
              <a:spcPct val="100000"/>
            </a:lnSpc>
          </a:pPr>
          <a:r>
            <a:rPr lang="en-GB"/>
            <a:t>These actions can help strengthen Spotify’s recommendation system and improve its ability to identify and promote trending music effectively.</a:t>
          </a:r>
          <a:endParaRPr lang="en-US"/>
        </a:p>
      </dgm:t>
    </dgm:pt>
    <dgm:pt modelId="{4F81478E-2DF2-439A-ACA0-44D664F9A186}" type="parTrans" cxnId="{57FC6E3D-65CF-4D95-B70F-81396623E92B}">
      <dgm:prSet/>
      <dgm:spPr/>
      <dgm:t>
        <a:bodyPr/>
        <a:lstStyle/>
        <a:p>
          <a:endParaRPr lang="en-US"/>
        </a:p>
      </dgm:t>
    </dgm:pt>
    <dgm:pt modelId="{161CD1EA-D9A2-4D32-A85F-E23E5131722D}" type="sibTrans" cxnId="{57FC6E3D-65CF-4D95-B70F-81396623E92B}">
      <dgm:prSet/>
      <dgm:spPr/>
      <dgm:t>
        <a:bodyPr/>
        <a:lstStyle/>
        <a:p>
          <a:endParaRPr lang="en-US"/>
        </a:p>
      </dgm:t>
    </dgm:pt>
    <dgm:pt modelId="{A17704BA-25DC-4D67-A79C-AF0BA0BE9606}" type="pres">
      <dgm:prSet presAssocID="{1DA2711B-B707-4C95-A3AE-F98DD3DA2193}" presName="root" presStyleCnt="0">
        <dgm:presLayoutVars>
          <dgm:dir/>
          <dgm:resizeHandles val="exact"/>
        </dgm:presLayoutVars>
      </dgm:prSet>
      <dgm:spPr/>
    </dgm:pt>
    <dgm:pt modelId="{811786D5-8A4B-4671-B4EA-7DBCA176676F}" type="pres">
      <dgm:prSet presAssocID="{1DA2711B-B707-4C95-A3AE-F98DD3DA2193}" presName="container" presStyleCnt="0">
        <dgm:presLayoutVars>
          <dgm:dir/>
          <dgm:resizeHandles val="exact"/>
        </dgm:presLayoutVars>
      </dgm:prSet>
      <dgm:spPr/>
    </dgm:pt>
    <dgm:pt modelId="{B81D764D-9A44-44E9-B28F-9A84CB1FFE64}" type="pres">
      <dgm:prSet presAssocID="{7E27CD7F-E269-4F4B-A22C-09EE81F1307A}" presName="compNode" presStyleCnt="0"/>
      <dgm:spPr/>
    </dgm:pt>
    <dgm:pt modelId="{43AC05D9-23BE-447B-8CA4-4FCB9102774E}" type="pres">
      <dgm:prSet presAssocID="{7E27CD7F-E269-4F4B-A22C-09EE81F1307A}" presName="iconBgRect" presStyleLbl="bgShp" presStyleIdx="0" presStyleCnt="5"/>
      <dgm:spPr/>
    </dgm:pt>
    <dgm:pt modelId="{CF4DB497-2B83-41A4-AAD6-BEC4E48BCE3E}" type="pres">
      <dgm:prSet presAssocID="{7E27CD7F-E269-4F4B-A22C-09EE81F1307A}"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Treble clef"/>
        </a:ext>
      </dgm:extLst>
    </dgm:pt>
    <dgm:pt modelId="{BFECCABD-87F1-42DE-B8F0-C1EB9FF95417}" type="pres">
      <dgm:prSet presAssocID="{7E27CD7F-E269-4F4B-A22C-09EE81F1307A}" presName="spaceRect" presStyleCnt="0"/>
      <dgm:spPr/>
    </dgm:pt>
    <dgm:pt modelId="{402678C4-818A-4512-AAA1-8002FCBA3D34}" type="pres">
      <dgm:prSet presAssocID="{7E27CD7F-E269-4F4B-A22C-09EE81F1307A}" presName="textRect" presStyleLbl="revTx" presStyleIdx="0" presStyleCnt="5">
        <dgm:presLayoutVars>
          <dgm:chMax val="1"/>
          <dgm:chPref val="1"/>
        </dgm:presLayoutVars>
      </dgm:prSet>
      <dgm:spPr/>
    </dgm:pt>
    <dgm:pt modelId="{685EA76D-4E1B-419F-B2A8-C36C65D9983B}" type="pres">
      <dgm:prSet presAssocID="{FC3C4879-8D2D-4788-B331-1E99CB38422D}" presName="sibTrans" presStyleLbl="sibTrans2D1" presStyleIdx="0" presStyleCnt="0"/>
      <dgm:spPr/>
    </dgm:pt>
    <dgm:pt modelId="{3AA26A79-C262-40A0-B33D-9B15A46FB5C9}" type="pres">
      <dgm:prSet presAssocID="{0E232CBB-152F-4572-98C5-42C6C2FB10C8}" presName="compNode" presStyleCnt="0"/>
      <dgm:spPr/>
    </dgm:pt>
    <dgm:pt modelId="{9B578CFF-4CF9-4494-8D26-7CEFD70F35DB}" type="pres">
      <dgm:prSet presAssocID="{0E232CBB-152F-4572-98C5-42C6C2FB10C8}" presName="iconBgRect" presStyleLbl="bgShp" presStyleIdx="1" presStyleCnt="5"/>
      <dgm:spPr/>
    </dgm:pt>
    <dgm:pt modelId="{F3F8D461-BAB3-4D99-986F-9C81EFD9D6DA}" type="pres">
      <dgm:prSet presAssocID="{0E232CBB-152F-4572-98C5-42C6C2FB10C8}"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rum Set"/>
        </a:ext>
      </dgm:extLst>
    </dgm:pt>
    <dgm:pt modelId="{E4319DCC-C0D7-4E1F-964E-E267768B2538}" type="pres">
      <dgm:prSet presAssocID="{0E232CBB-152F-4572-98C5-42C6C2FB10C8}" presName="spaceRect" presStyleCnt="0"/>
      <dgm:spPr/>
    </dgm:pt>
    <dgm:pt modelId="{88EC8D64-DFB3-4A24-97B9-94066233C64C}" type="pres">
      <dgm:prSet presAssocID="{0E232CBB-152F-4572-98C5-42C6C2FB10C8}" presName="textRect" presStyleLbl="revTx" presStyleIdx="1" presStyleCnt="5">
        <dgm:presLayoutVars>
          <dgm:chMax val="1"/>
          <dgm:chPref val="1"/>
        </dgm:presLayoutVars>
      </dgm:prSet>
      <dgm:spPr/>
    </dgm:pt>
    <dgm:pt modelId="{44DC0F6E-6105-4846-8C71-52A2CFE4A737}" type="pres">
      <dgm:prSet presAssocID="{A1A33575-2545-4EC0-923C-6D500293A33D}" presName="sibTrans" presStyleLbl="sibTrans2D1" presStyleIdx="0" presStyleCnt="0"/>
      <dgm:spPr/>
    </dgm:pt>
    <dgm:pt modelId="{5E4E7061-1FBF-460A-9A05-A45EADC1324C}" type="pres">
      <dgm:prSet presAssocID="{8F42BA17-305E-48E3-859D-DDF5C13CF10A}" presName="compNode" presStyleCnt="0"/>
      <dgm:spPr/>
    </dgm:pt>
    <dgm:pt modelId="{4FA5E876-80B2-4F6F-85EA-E9E6104D8FCB}" type="pres">
      <dgm:prSet presAssocID="{8F42BA17-305E-48E3-859D-DDF5C13CF10A}" presName="iconBgRect" presStyleLbl="bgShp" presStyleIdx="2" presStyleCnt="5"/>
      <dgm:spPr/>
    </dgm:pt>
    <dgm:pt modelId="{830CD0FD-A67C-4F63-9D45-A5CFC9A585E8}" type="pres">
      <dgm:prSet presAssocID="{8F42BA17-305E-48E3-859D-DDF5C13CF10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Target Audience"/>
        </a:ext>
      </dgm:extLst>
    </dgm:pt>
    <dgm:pt modelId="{C42D5929-CFD5-4170-9CA4-4BECAAC7CA84}" type="pres">
      <dgm:prSet presAssocID="{8F42BA17-305E-48E3-859D-DDF5C13CF10A}" presName="spaceRect" presStyleCnt="0"/>
      <dgm:spPr/>
    </dgm:pt>
    <dgm:pt modelId="{C785470B-92D1-4F28-B60A-0F00F506669C}" type="pres">
      <dgm:prSet presAssocID="{8F42BA17-305E-48E3-859D-DDF5C13CF10A}" presName="textRect" presStyleLbl="revTx" presStyleIdx="2" presStyleCnt="5">
        <dgm:presLayoutVars>
          <dgm:chMax val="1"/>
          <dgm:chPref val="1"/>
        </dgm:presLayoutVars>
      </dgm:prSet>
      <dgm:spPr/>
    </dgm:pt>
    <dgm:pt modelId="{5BF9512F-F8E9-4F02-9DD1-4ED3C9850616}" type="pres">
      <dgm:prSet presAssocID="{EEA78AD4-AE0F-4A93-A52F-C260AA9C6772}" presName="sibTrans" presStyleLbl="sibTrans2D1" presStyleIdx="0" presStyleCnt="0"/>
      <dgm:spPr/>
    </dgm:pt>
    <dgm:pt modelId="{E9CDBAB1-1AFD-460B-8B89-68876E6E3B3C}" type="pres">
      <dgm:prSet presAssocID="{3C649509-53AE-4A90-A342-850F3593BB46}" presName="compNode" presStyleCnt="0"/>
      <dgm:spPr/>
    </dgm:pt>
    <dgm:pt modelId="{6945B44E-4C3F-45FD-8B5B-47642FBAC025}" type="pres">
      <dgm:prSet presAssocID="{3C649509-53AE-4A90-A342-850F3593BB46}" presName="iconBgRect" presStyleLbl="bgShp" presStyleIdx="3" presStyleCnt="5"/>
      <dgm:spPr/>
    </dgm:pt>
    <dgm:pt modelId="{C8CB7DF0-1167-4475-B78C-312F045D8F94}" type="pres">
      <dgm:prSet presAssocID="{3C649509-53AE-4A90-A342-850F3593BB46}"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ncing"/>
        </a:ext>
      </dgm:extLst>
    </dgm:pt>
    <dgm:pt modelId="{A7779100-ED02-4BE7-ABD9-3BE9D393D9FD}" type="pres">
      <dgm:prSet presAssocID="{3C649509-53AE-4A90-A342-850F3593BB46}" presName="spaceRect" presStyleCnt="0"/>
      <dgm:spPr/>
    </dgm:pt>
    <dgm:pt modelId="{5127B315-53CD-4481-86B0-65BF65F47143}" type="pres">
      <dgm:prSet presAssocID="{3C649509-53AE-4A90-A342-850F3593BB46}" presName="textRect" presStyleLbl="revTx" presStyleIdx="3" presStyleCnt="5">
        <dgm:presLayoutVars>
          <dgm:chMax val="1"/>
          <dgm:chPref val="1"/>
        </dgm:presLayoutVars>
      </dgm:prSet>
      <dgm:spPr/>
    </dgm:pt>
    <dgm:pt modelId="{F3FAE4A9-5231-49B1-8FC4-3A339ABE0464}" type="pres">
      <dgm:prSet presAssocID="{F46F872C-7E6E-47EF-A04E-2DF674EFA297}" presName="sibTrans" presStyleLbl="sibTrans2D1" presStyleIdx="0" presStyleCnt="0"/>
      <dgm:spPr/>
    </dgm:pt>
    <dgm:pt modelId="{4C6BA12A-F37C-4E76-AF33-1681B9E9FE20}" type="pres">
      <dgm:prSet presAssocID="{30E0388F-14F4-453C-A5F5-DFAA44E47E11}" presName="compNode" presStyleCnt="0"/>
      <dgm:spPr/>
    </dgm:pt>
    <dgm:pt modelId="{CBDE001F-3D17-46F5-A6C4-F5F3FCEE9E75}" type="pres">
      <dgm:prSet presAssocID="{30E0388F-14F4-453C-A5F5-DFAA44E47E11}" presName="iconBgRect" presStyleLbl="bgShp" presStyleIdx="4" presStyleCnt="5"/>
      <dgm:spPr/>
    </dgm:pt>
    <dgm:pt modelId="{AF6BD53E-3DAE-4C71-9B92-C0AF0649B8B7}" type="pres">
      <dgm:prSet presAssocID="{30E0388F-14F4-453C-A5F5-DFAA44E47E1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Music"/>
        </a:ext>
      </dgm:extLst>
    </dgm:pt>
    <dgm:pt modelId="{965B67A4-F3D8-4C94-BC92-A1D47E1B2841}" type="pres">
      <dgm:prSet presAssocID="{30E0388F-14F4-453C-A5F5-DFAA44E47E11}" presName="spaceRect" presStyleCnt="0"/>
      <dgm:spPr/>
    </dgm:pt>
    <dgm:pt modelId="{CB421D20-C815-486F-A2F4-93E8AA348A1E}" type="pres">
      <dgm:prSet presAssocID="{30E0388F-14F4-453C-A5F5-DFAA44E47E11}" presName="textRect" presStyleLbl="revTx" presStyleIdx="4" presStyleCnt="5">
        <dgm:presLayoutVars>
          <dgm:chMax val="1"/>
          <dgm:chPref val="1"/>
        </dgm:presLayoutVars>
      </dgm:prSet>
      <dgm:spPr/>
    </dgm:pt>
  </dgm:ptLst>
  <dgm:cxnLst>
    <dgm:cxn modelId="{D4B6AE18-04D1-43B1-8A71-105022E1DA5C}" type="presOf" srcId="{30E0388F-14F4-453C-A5F5-DFAA44E47E11}" destId="{CB421D20-C815-486F-A2F4-93E8AA348A1E}" srcOrd="0" destOrd="0" presId="urn:microsoft.com/office/officeart/2018/2/layout/IconCircleList"/>
    <dgm:cxn modelId="{507FF132-B804-43BB-AD77-5E8BAD6959BE}" type="presOf" srcId="{3C649509-53AE-4A90-A342-850F3593BB46}" destId="{5127B315-53CD-4481-86B0-65BF65F47143}" srcOrd="0" destOrd="0" presId="urn:microsoft.com/office/officeart/2018/2/layout/IconCircleList"/>
    <dgm:cxn modelId="{57FC6E3D-65CF-4D95-B70F-81396623E92B}" srcId="{1DA2711B-B707-4C95-A3AE-F98DD3DA2193}" destId="{30E0388F-14F4-453C-A5F5-DFAA44E47E11}" srcOrd="4" destOrd="0" parTransId="{4F81478E-2DF2-439A-ACA0-44D664F9A186}" sibTransId="{161CD1EA-D9A2-4D32-A85F-E23E5131722D}"/>
    <dgm:cxn modelId="{CD78126B-6978-45F0-A038-B186BD991054}" srcId="{1DA2711B-B707-4C95-A3AE-F98DD3DA2193}" destId="{0E232CBB-152F-4572-98C5-42C6C2FB10C8}" srcOrd="1" destOrd="0" parTransId="{133ED5F2-63B1-4444-AEED-3E52B12B5146}" sibTransId="{A1A33575-2545-4EC0-923C-6D500293A33D}"/>
    <dgm:cxn modelId="{ECF8D44C-3202-44F5-B672-D4EC30E2A9F2}" type="presOf" srcId="{8F42BA17-305E-48E3-859D-DDF5C13CF10A}" destId="{C785470B-92D1-4F28-B60A-0F00F506669C}" srcOrd="0" destOrd="0" presId="urn:microsoft.com/office/officeart/2018/2/layout/IconCircleList"/>
    <dgm:cxn modelId="{1AC0A350-3FA3-4D82-81BB-0C5020890A91}" srcId="{1DA2711B-B707-4C95-A3AE-F98DD3DA2193}" destId="{7E27CD7F-E269-4F4B-A22C-09EE81F1307A}" srcOrd="0" destOrd="0" parTransId="{B8C57C63-ADA9-46BF-BE96-FDCD79B6440C}" sibTransId="{FC3C4879-8D2D-4788-B331-1E99CB38422D}"/>
    <dgm:cxn modelId="{44547A54-F952-47CD-B710-D50764A960AB}" srcId="{1DA2711B-B707-4C95-A3AE-F98DD3DA2193}" destId="{3C649509-53AE-4A90-A342-850F3593BB46}" srcOrd="3" destOrd="0" parTransId="{AB44D9B7-40D8-4BA8-8754-7E018D5DADAB}" sibTransId="{F46F872C-7E6E-47EF-A04E-2DF674EFA297}"/>
    <dgm:cxn modelId="{84991F8A-D484-4525-86A0-871755C8E8D5}" type="presOf" srcId="{7E27CD7F-E269-4F4B-A22C-09EE81F1307A}" destId="{402678C4-818A-4512-AAA1-8002FCBA3D34}" srcOrd="0" destOrd="0" presId="urn:microsoft.com/office/officeart/2018/2/layout/IconCircleList"/>
    <dgm:cxn modelId="{676BF791-82D7-4AD3-9820-B1FDD0271F6F}" type="presOf" srcId="{F46F872C-7E6E-47EF-A04E-2DF674EFA297}" destId="{F3FAE4A9-5231-49B1-8FC4-3A339ABE0464}" srcOrd="0" destOrd="0" presId="urn:microsoft.com/office/officeart/2018/2/layout/IconCircleList"/>
    <dgm:cxn modelId="{05E87FAB-07C1-4716-A979-E0369A3A76A6}" type="presOf" srcId="{1DA2711B-B707-4C95-A3AE-F98DD3DA2193}" destId="{A17704BA-25DC-4D67-A79C-AF0BA0BE9606}" srcOrd="0" destOrd="0" presId="urn:microsoft.com/office/officeart/2018/2/layout/IconCircleList"/>
    <dgm:cxn modelId="{F7F0C3B2-476B-45C8-BD93-7ED29E49B800}" type="presOf" srcId="{0E232CBB-152F-4572-98C5-42C6C2FB10C8}" destId="{88EC8D64-DFB3-4A24-97B9-94066233C64C}" srcOrd="0" destOrd="0" presId="urn:microsoft.com/office/officeart/2018/2/layout/IconCircleList"/>
    <dgm:cxn modelId="{EA3EB9CA-0561-460F-BD8D-72B12A422D1E}" type="presOf" srcId="{EEA78AD4-AE0F-4A93-A52F-C260AA9C6772}" destId="{5BF9512F-F8E9-4F02-9DD1-4ED3C9850616}" srcOrd="0" destOrd="0" presId="urn:microsoft.com/office/officeart/2018/2/layout/IconCircleList"/>
    <dgm:cxn modelId="{5C300AD2-6E22-4965-B859-1344AF2A468C}" srcId="{1DA2711B-B707-4C95-A3AE-F98DD3DA2193}" destId="{8F42BA17-305E-48E3-859D-DDF5C13CF10A}" srcOrd="2" destOrd="0" parTransId="{B62F09CF-E6D0-474E-81A2-350F8C216F1F}" sibTransId="{EEA78AD4-AE0F-4A93-A52F-C260AA9C6772}"/>
    <dgm:cxn modelId="{7766B3E1-43AF-4BE0-A75C-42181C9828D2}" type="presOf" srcId="{A1A33575-2545-4EC0-923C-6D500293A33D}" destId="{44DC0F6E-6105-4846-8C71-52A2CFE4A737}" srcOrd="0" destOrd="0" presId="urn:microsoft.com/office/officeart/2018/2/layout/IconCircleList"/>
    <dgm:cxn modelId="{F9FA5EEE-B2B0-42AB-ACBF-100976603E5F}" type="presOf" srcId="{FC3C4879-8D2D-4788-B331-1E99CB38422D}" destId="{685EA76D-4E1B-419F-B2A8-C36C65D9983B}" srcOrd="0" destOrd="0" presId="urn:microsoft.com/office/officeart/2018/2/layout/IconCircleList"/>
    <dgm:cxn modelId="{82363238-C9AE-4FF4-8030-BA4F873A20EE}" type="presParOf" srcId="{A17704BA-25DC-4D67-A79C-AF0BA0BE9606}" destId="{811786D5-8A4B-4671-B4EA-7DBCA176676F}" srcOrd="0" destOrd="0" presId="urn:microsoft.com/office/officeart/2018/2/layout/IconCircleList"/>
    <dgm:cxn modelId="{B17E131A-8DFB-4A80-91BF-EC8753489B08}" type="presParOf" srcId="{811786D5-8A4B-4671-B4EA-7DBCA176676F}" destId="{B81D764D-9A44-44E9-B28F-9A84CB1FFE64}" srcOrd="0" destOrd="0" presId="urn:microsoft.com/office/officeart/2018/2/layout/IconCircleList"/>
    <dgm:cxn modelId="{3D59D975-F66B-4023-9282-57E42AF385EA}" type="presParOf" srcId="{B81D764D-9A44-44E9-B28F-9A84CB1FFE64}" destId="{43AC05D9-23BE-447B-8CA4-4FCB9102774E}" srcOrd="0" destOrd="0" presId="urn:microsoft.com/office/officeart/2018/2/layout/IconCircleList"/>
    <dgm:cxn modelId="{68E8C9B5-2840-4A58-BBEE-069A1CA018D2}" type="presParOf" srcId="{B81D764D-9A44-44E9-B28F-9A84CB1FFE64}" destId="{CF4DB497-2B83-41A4-AAD6-BEC4E48BCE3E}" srcOrd="1" destOrd="0" presId="urn:microsoft.com/office/officeart/2018/2/layout/IconCircleList"/>
    <dgm:cxn modelId="{F224C302-3FA6-44FA-BA90-D3C1E80E91D2}" type="presParOf" srcId="{B81D764D-9A44-44E9-B28F-9A84CB1FFE64}" destId="{BFECCABD-87F1-42DE-B8F0-C1EB9FF95417}" srcOrd="2" destOrd="0" presId="urn:microsoft.com/office/officeart/2018/2/layout/IconCircleList"/>
    <dgm:cxn modelId="{75AADACB-3914-4A1D-8654-7E6DC81C895D}" type="presParOf" srcId="{B81D764D-9A44-44E9-B28F-9A84CB1FFE64}" destId="{402678C4-818A-4512-AAA1-8002FCBA3D34}" srcOrd="3" destOrd="0" presId="urn:microsoft.com/office/officeart/2018/2/layout/IconCircleList"/>
    <dgm:cxn modelId="{FA5A29A2-143B-4E2F-8D24-80647398377B}" type="presParOf" srcId="{811786D5-8A4B-4671-B4EA-7DBCA176676F}" destId="{685EA76D-4E1B-419F-B2A8-C36C65D9983B}" srcOrd="1" destOrd="0" presId="urn:microsoft.com/office/officeart/2018/2/layout/IconCircleList"/>
    <dgm:cxn modelId="{A589721F-58BE-4A32-9C5F-FCA7B159E515}" type="presParOf" srcId="{811786D5-8A4B-4671-B4EA-7DBCA176676F}" destId="{3AA26A79-C262-40A0-B33D-9B15A46FB5C9}" srcOrd="2" destOrd="0" presId="urn:microsoft.com/office/officeart/2018/2/layout/IconCircleList"/>
    <dgm:cxn modelId="{DCDB2F30-4D9F-4A5D-9135-FD5E1F34123B}" type="presParOf" srcId="{3AA26A79-C262-40A0-B33D-9B15A46FB5C9}" destId="{9B578CFF-4CF9-4494-8D26-7CEFD70F35DB}" srcOrd="0" destOrd="0" presId="urn:microsoft.com/office/officeart/2018/2/layout/IconCircleList"/>
    <dgm:cxn modelId="{77971406-BCF6-448D-81E5-11A057BB8778}" type="presParOf" srcId="{3AA26A79-C262-40A0-B33D-9B15A46FB5C9}" destId="{F3F8D461-BAB3-4D99-986F-9C81EFD9D6DA}" srcOrd="1" destOrd="0" presId="urn:microsoft.com/office/officeart/2018/2/layout/IconCircleList"/>
    <dgm:cxn modelId="{EC052E5B-DB41-43D6-803F-FA9EAEC3614C}" type="presParOf" srcId="{3AA26A79-C262-40A0-B33D-9B15A46FB5C9}" destId="{E4319DCC-C0D7-4E1F-964E-E267768B2538}" srcOrd="2" destOrd="0" presId="urn:microsoft.com/office/officeart/2018/2/layout/IconCircleList"/>
    <dgm:cxn modelId="{C1D3D30B-C7CA-4BBF-835C-090601992187}" type="presParOf" srcId="{3AA26A79-C262-40A0-B33D-9B15A46FB5C9}" destId="{88EC8D64-DFB3-4A24-97B9-94066233C64C}" srcOrd="3" destOrd="0" presId="urn:microsoft.com/office/officeart/2018/2/layout/IconCircleList"/>
    <dgm:cxn modelId="{08D9B6BF-CCE0-4CF5-9ABD-9331A20C6EBA}" type="presParOf" srcId="{811786D5-8A4B-4671-B4EA-7DBCA176676F}" destId="{44DC0F6E-6105-4846-8C71-52A2CFE4A737}" srcOrd="3" destOrd="0" presId="urn:microsoft.com/office/officeart/2018/2/layout/IconCircleList"/>
    <dgm:cxn modelId="{B81C2F21-1EA3-44B6-891C-A345E87D8D76}" type="presParOf" srcId="{811786D5-8A4B-4671-B4EA-7DBCA176676F}" destId="{5E4E7061-1FBF-460A-9A05-A45EADC1324C}" srcOrd="4" destOrd="0" presId="urn:microsoft.com/office/officeart/2018/2/layout/IconCircleList"/>
    <dgm:cxn modelId="{2255F773-CE42-4B10-A32B-C351CAF7C898}" type="presParOf" srcId="{5E4E7061-1FBF-460A-9A05-A45EADC1324C}" destId="{4FA5E876-80B2-4F6F-85EA-E9E6104D8FCB}" srcOrd="0" destOrd="0" presId="urn:microsoft.com/office/officeart/2018/2/layout/IconCircleList"/>
    <dgm:cxn modelId="{CF4DCCE4-2C91-413B-8E0E-6B91713BBD48}" type="presParOf" srcId="{5E4E7061-1FBF-460A-9A05-A45EADC1324C}" destId="{830CD0FD-A67C-4F63-9D45-A5CFC9A585E8}" srcOrd="1" destOrd="0" presId="urn:microsoft.com/office/officeart/2018/2/layout/IconCircleList"/>
    <dgm:cxn modelId="{C0926186-CC63-40DA-84C3-9BCD61D2B03D}" type="presParOf" srcId="{5E4E7061-1FBF-460A-9A05-A45EADC1324C}" destId="{C42D5929-CFD5-4170-9CA4-4BECAAC7CA84}" srcOrd="2" destOrd="0" presId="urn:microsoft.com/office/officeart/2018/2/layout/IconCircleList"/>
    <dgm:cxn modelId="{0840507D-79D1-43A4-8D40-39825ED5861D}" type="presParOf" srcId="{5E4E7061-1FBF-460A-9A05-A45EADC1324C}" destId="{C785470B-92D1-4F28-B60A-0F00F506669C}" srcOrd="3" destOrd="0" presId="urn:microsoft.com/office/officeart/2018/2/layout/IconCircleList"/>
    <dgm:cxn modelId="{CB602B00-AD41-40AA-A161-83378C63DD90}" type="presParOf" srcId="{811786D5-8A4B-4671-B4EA-7DBCA176676F}" destId="{5BF9512F-F8E9-4F02-9DD1-4ED3C9850616}" srcOrd="5" destOrd="0" presId="urn:microsoft.com/office/officeart/2018/2/layout/IconCircleList"/>
    <dgm:cxn modelId="{4459568E-8CC7-4400-B99C-AB7212FCD8CA}" type="presParOf" srcId="{811786D5-8A4B-4671-B4EA-7DBCA176676F}" destId="{E9CDBAB1-1AFD-460B-8B89-68876E6E3B3C}" srcOrd="6" destOrd="0" presId="urn:microsoft.com/office/officeart/2018/2/layout/IconCircleList"/>
    <dgm:cxn modelId="{AE7FFA83-A2B9-469A-B1F5-E78412B2A5AA}" type="presParOf" srcId="{E9CDBAB1-1AFD-460B-8B89-68876E6E3B3C}" destId="{6945B44E-4C3F-45FD-8B5B-47642FBAC025}" srcOrd="0" destOrd="0" presId="urn:microsoft.com/office/officeart/2018/2/layout/IconCircleList"/>
    <dgm:cxn modelId="{B0FCF0B0-590E-4A1E-B6FC-838A3AFA0973}" type="presParOf" srcId="{E9CDBAB1-1AFD-460B-8B89-68876E6E3B3C}" destId="{C8CB7DF0-1167-4475-B78C-312F045D8F94}" srcOrd="1" destOrd="0" presId="urn:microsoft.com/office/officeart/2018/2/layout/IconCircleList"/>
    <dgm:cxn modelId="{BE622D5A-3E35-4EE0-8F7E-B0D0BFF8C0FB}" type="presParOf" srcId="{E9CDBAB1-1AFD-460B-8B89-68876E6E3B3C}" destId="{A7779100-ED02-4BE7-ABD9-3BE9D393D9FD}" srcOrd="2" destOrd="0" presId="urn:microsoft.com/office/officeart/2018/2/layout/IconCircleList"/>
    <dgm:cxn modelId="{F5420DA0-24D9-45BD-AF5D-FA072DDB4CAB}" type="presParOf" srcId="{E9CDBAB1-1AFD-460B-8B89-68876E6E3B3C}" destId="{5127B315-53CD-4481-86B0-65BF65F47143}" srcOrd="3" destOrd="0" presId="urn:microsoft.com/office/officeart/2018/2/layout/IconCircleList"/>
    <dgm:cxn modelId="{B2280DD4-0852-439F-84D2-6244090B91B2}" type="presParOf" srcId="{811786D5-8A4B-4671-B4EA-7DBCA176676F}" destId="{F3FAE4A9-5231-49B1-8FC4-3A339ABE0464}" srcOrd="7" destOrd="0" presId="urn:microsoft.com/office/officeart/2018/2/layout/IconCircleList"/>
    <dgm:cxn modelId="{95716537-3286-4183-BFE2-30A1679E779B}" type="presParOf" srcId="{811786D5-8A4B-4671-B4EA-7DBCA176676F}" destId="{4C6BA12A-F37C-4E76-AF33-1681B9E9FE20}" srcOrd="8" destOrd="0" presId="urn:microsoft.com/office/officeart/2018/2/layout/IconCircleList"/>
    <dgm:cxn modelId="{80398180-EA61-4E0C-A90B-D52B22D2D26C}" type="presParOf" srcId="{4C6BA12A-F37C-4E76-AF33-1681B9E9FE20}" destId="{CBDE001F-3D17-46F5-A6C4-F5F3FCEE9E75}" srcOrd="0" destOrd="0" presId="urn:microsoft.com/office/officeart/2018/2/layout/IconCircleList"/>
    <dgm:cxn modelId="{286952C1-FFC5-4D2D-89EA-C11EA8998550}" type="presParOf" srcId="{4C6BA12A-F37C-4E76-AF33-1681B9E9FE20}" destId="{AF6BD53E-3DAE-4C71-9B92-C0AF0649B8B7}" srcOrd="1" destOrd="0" presId="urn:microsoft.com/office/officeart/2018/2/layout/IconCircleList"/>
    <dgm:cxn modelId="{3D158EDB-A79F-41EA-B4E0-34FA8FAFD47E}" type="presParOf" srcId="{4C6BA12A-F37C-4E76-AF33-1681B9E9FE20}" destId="{965B67A4-F3D8-4C94-BC92-A1D47E1B2841}" srcOrd="2" destOrd="0" presId="urn:microsoft.com/office/officeart/2018/2/layout/IconCircleList"/>
    <dgm:cxn modelId="{6D59E4A2-1F9A-4F02-A07C-2C9D6B1DFCF1}" type="presParOf" srcId="{4C6BA12A-F37C-4E76-AF33-1681B9E9FE20}" destId="{CB421D20-C815-486F-A2F4-93E8AA348A1E}"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252F30-78EB-48E5-9871-DD7201709530}" type="doc">
      <dgm:prSet loTypeId="urn:microsoft.com/office/officeart/2018/2/layout/IconLabelList" loCatId="icon" qsTypeId="urn:microsoft.com/office/officeart/2005/8/quickstyle/simple1" qsCatId="simple" csTypeId="urn:microsoft.com/office/officeart/2018/5/colors/Iconchunking_neutralbg_accent0_3" csCatId="mainScheme" phldr="1"/>
      <dgm:spPr/>
      <dgm:t>
        <a:bodyPr/>
        <a:lstStyle/>
        <a:p>
          <a:endParaRPr lang="en-US"/>
        </a:p>
      </dgm:t>
    </dgm:pt>
    <dgm:pt modelId="{17BBE4D9-4A90-49BD-930C-5F3EE92A6B1D}">
      <dgm:prSet/>
      <dgm:spPr/>
      <dgm:t>
        <a:bodyPr/>
        <a:lstStyle/>
        <a:p>
          <a:pPr>
            <a:lnSpc>
              <a:spcPct val="100000"/>
            </a:lnSpc>
          </a:pPr>
          <a:r>
            <a:rPr lang="en-GB" dirty="0"/>
            <a:t>This project helps to analysed song performance data to identify the key factors influencing music popularity. The findings highlight that playlist exposure and platform visibility play a more significant role than audio features in driving success. Additionally, cross-platform insights revealed opportunities to improve early trend detection. By combining data analysis, machine learning, and interactive visualization, the project provides a comprehensive, data-driven approach to understanding and predicting song trends. These insights can support better decision-making, enhance recommendation systems, and improve music discovery strategies.</a:t>
          </a:r>
          <a:endParaRPr lang="en-US" dirty="0"/>
        </a:p>
      </dgm:t>
    </dgm:pt>
    <dgm:pt modelId="{55093AC3-D4ED-41F1-8EEE-C753A67292BA}" type="parTrans" cxnId="{440055C7-701C-4DE8-8B0E-428298EF9A02}">
      <dgm:prSet/>
      <dgm:spPr/>
      <dgm:t>
        <a:bodyPr/>
        <a:lstStyle/>
        <a:p>
          <a:endParaRPr lang="en-US"/>
        </a:p>
      </dgm:t>
    </dgm:pt>
    <dgm:pt modelId="{01A5198F-378C-4862-8FF4-8F3348D10BB1}" type="sibTrans" cxnId="{440055C7-701C-4DE8-8B0E-428298EF9A02}">
      <dgm:prSet/>
      <dgm:spPr/>
      <dgm:t>
        <a:bodyPr/>
        <a:lstStyle/>
        <a:p>
          <a:endParaRPr lang="en-US"/>
        </a:p>
      </dgm:t>
    </dgm:pt>
    <dgm:pt modelId="{35A3965D-E8B0-4742-857F-A1A940A7A6C3}" type="pres">
      <dgm:prSet presAssocID="{ED252F30-78EB-48E5-9871-DD7201709530}" presName="root" presStyleCnt="0">
        <dgm:presLayoutVars>
          <dgm:dir/>
          <dgm:resizeHandles val="exact"/>
        </dgm:presLayoutVars>
      </dgm:prSet>
      <dgm:spPr/>
    </dgm:pt>
    <dgm:pt modelId="{C219872F-BF7C-40D9-AC6B-17F3D3BD04CC}" type="pres">
      <dgm:prSet presAssocID="{17BBE4D9-4A90-49BD-930C-5F3EE92A6B1D}" presName="compNode" presStyleCnt="0"/>
      <dgm:spPr/>
    </dgm:pt>
    <dgm:pt modelId="{5E16030C-E62A-4D91-BE1E-4C3125CAEB6F}" type="pres">
      <dgm:prSet presAssocID="{17BBE4D9-4A90-49BD-930C-5F3EE92A6B1D}" presName="iconRect" presStyleLbl="node1" presStyleIdx="0" presStyleCnt="1"/>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usic"/>
        </a:ext>
      </dgm:extLst>
    </dgm:pt>
    <dgm:pt modelId="{A1F2881A-3296-40A8-8F4B-BDACB5DA73E8}" type="pres">
      <dgm:prSet presAssocID="{17BBE4D9-4A90-49BD-930C-5F3EE92A6B1D}" presName="spaceRect" presStyleCnt="0"/>
      <dgm:spPr/>
    </dgm:pt>
    <dgm:pt modelId="{2004FDE1-4EE4-4142-BB55-A63F2B53F9D6}" type="pres">
      <dgm:prSet presAssocID="{17BBE4D9-4A90-49BD-930C-5F3EE92A6B1D}" presName="textRect" presStyleLbl="revTx" presStyleIdx="0" presStyleCnt="1">
        <dgm:presLayoutVars>
          <dgm:chMax val="1"/>
          <dgm:chPref val="1"/>
        </dgm:presLayoutVars>
      </dgm:prSet>
      <dgm:spPr/>
    </dgm:pt>
  </dgm:ptLst>
  <dgm:cxnLst>
    <dgm:cxn modelId="{80FBBD0A-F08B-4A5F-93FE-4E5E88FF7602}" type="presOf" srcId="{17BBE4D9-4A90-49BD-930C-5F3EE92A6B1D}" destId="{2004FDE1-4EE4-4142-BB55-A63F2B53F9D6}" srcOrd="0" destOrd="0" presId="urn:microsoft.com/office/officeart/2018/2/layout/IconLabelList"/>
    <dgm:cxn modelId="{E0046CC3-C79F-416C-941A-D230EAC847F7}" type="presOf" srcId="{ED252F30-78EB-48E5-9871-DD7201709530}" destId="{35A3965D-E8B0-4742-857F-A1A940A7A6C3}" srcOrd="0" destOrd="0" presId="urn:microsoft.com/office/officeart/2018/2/layout/IconLabelList"/>
    <dgm:cxn modelId="{440055C7-701C-4DE8-8B0E-428298EF9A02}" srcId="{ED252F30-78EB-48E5-9871-DD7201709530}" destId="{17BBE4D9-4A90-49BD-930C-5F3EE92A6B1D}" srcOrd="0" destOrd="0" parTransId="{55093AC3-D4ED-41F1-8EEE-C753A67292BA}" sibTransId="{01A5198F-378C-4862-8FF4-8F3348D10BB1}"/>
    <dgm:cxn modelId="{1F20F61D-8FAB-4013-9D1F-08099415A6C7}" type="presParOf" srcId="{35A3965D-E8B0-4742-857F-A1A940A7A6C3}" destId="{C219872F-BF7C-40D9-AC6B-17F3D3BD04CC}" srcOrd="0" destOrd="0" presId="urn:microsoft.com/office/officeart/2018/2/layout/IconLabelList"/>
    <dgm:cxn modelId="{298494AB-570E-4C6C-A43E-97BDAEFD970C}" type="presParOf" srcId="{C219872F-BF7C-40D9-AC6B-17F3D3BD04CC}" destId="{5E16030C-E62A-4D91-BE1E-4C3125CAEB6F}" srcOrd="0" destOrd="0" presId="urn:microsoft.com/office/officeart/2018/2/layout/IconLabelList"/>
    <dgm:cxn modelId="{C78DAE29-EDAC-4404-A09A-7897D948C0CF}" type="presParOf" srcId="{C219872F-BF7C-40D9-AC6B-17F3D3BD04CC}" destId="{A1F2881A-3296-40A8-8F4B-BDACB5DA73E8}" srcOrd="1" destOrd="0" presId="urn:microsoft.com/office/officeart/2018/2/layout/IconLabelList"/>
    <dgm:cxn modelId="{83569BC6-EE1E-4273-9EAF-B75C062985F0}" type="presParOf" srcId="{C219872F-BF7C-40D9-AC6B-17F3D3BD04CC}" destId="{2004FDE1-4EE4-4142-BB55-A63F2B53F9D6}"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3877E9-7238-4B92-A988-2324B8CB3C7E}">
      <dsp:nvSpPr>
        <dsp:cNvPr id="0" name=""/>
        <dsp:cNvSpPr/>
      </dsp:nvSpPr>
      <dsp:spPr>
        <a:xfrm>
          <a:off x="1854705" y="576404"/>
          <a:ext cx="395264" cy="91440"/>
        </a:xfrm>
        <a:custGeom>
          <a:avLst/>
          <a:gdLst/>
          <a:ahLst/>
          <a:cxnLst/>
          <a:rect l="0" t="0" r="0" b="0"/>
          <a:pathLst>
            <a:path>
              <a:moveTo>
                <a:pt x="0" y="45720"/>
              </a:moveTo>
              <a:lnTo>
                <a:pt x="39526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41691" y="619995"/>
        <a:ext cx="21293" cy="4258"/>
      </dsp:txXfrm>
    </dsp:sp>
    <dsp:sp modelId="{A077E8A7-0620-43A2-A441-130E8653529A}">
      <dsp:nvSpPr>
        <dsp:cNvPr id="0" name=""/>
        <dsp:cNvSpPr/>
      </dsp:nvSpPr>
      <dsp:spPr>
        <a:xfrm>
          <a:off x="4918" y="66648"/>
          <a:ext cx="1851586" cy="11109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29" tIns="95236" rIns="90729" bIns="95236" numCol="1" spcCol="1270" anchor="ctr" anchorCtr="0">
          <a:noAutofit/>
        </a:bodyPr>
        <a:lstStyle/>
        <a:p>
          <a:pPr marL="0" lvl="0" indent="0" algn="ctr" defTabSz="511175">
            <a:lnSpc>
              <a:spcPct val="90000"/>
            </a:lnSpc>
            <a:spcBef>
              <a:spcPct val="0"/>
            </a:spcBef>
            <a:spcAft>
              <a:spcPct val="35000"/>
            </a:spcAft>
            <a:buNone/>
          </a:pPr>
          <a:r>
            <a:rPr lang="en-GB" sz="1150" kern="1200" dirty="0"/>
            <a:t>The model was evaluated using multiple performance metrics to ensure its effectiveness in predicting trending songs.</a:t>
          </a:r>
          <a:endParaRPr lang="en-US" sz="1150" kern="1200" dirty="0"/>
        </a:p>
      </dsp:txBody>
      <dsp:txXfrm>
        <a:off x="4918" y="66648"/>
        <a:ext cx="1851586" cy="1110951"/>
      </dsp:txXfrm>
    </dsp:sp>
    <dsp:sp modelId="{EA958855-7802-49E3-A051-B83A58B9C3A1}">
      <dsp:nvSpPr>
        <dsp:cNvPr id="0" name=""/>
        <dsp:cNvSpPr/>
      </dsp:nvSpPr>
      <dsp:spPr>
        <a:xfrm>
          <a:off x="4132156" y="576404"/>
          <a:ext cx="395264" cy="91440"/>
        </a:xfrm>
        <a:custGeom>
          <a:avLst/>
          <a:gdLst/>
          <a:ahLst/>
          <a:cxnLst/>
          <a:rect l="0" t="0" r="0" b="0"/>
          <a:pathLst>
            <a:path>
              <a:moveTo>
                <a:pt x="0" y="45720"/>
              </a:moveTo>
              <a:lnTo>
                <a:pt x="39526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19142" y="619995"/>
        <a:ext cx="21293" cy="4258"/>
      </dsp:txXfrm>
    </dsp:sp>
    <dsp:sp modelId="{75216A71-4575-4191-944D-8A721DDC1B54}">
      <dsp:nvSpPr>
        <dsp:cNvPr id="0" name=""/>
        <dsp:cNvSpPr/>
      </dsp:nvSpPr>
      <dsp:spPr>
        <a:xfrm>
          <a:off x="2282370" y="66648"/>
          <a:ext cx="1851586" cy="11109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29" tIns="95236" rIns="90729" bIns="95236" numCol="1" spcCol="1270" anchor="ctr" anchorCtr="0">
          <a:noAutofit/>
        </a:bodyPr>
        <a:lstStyle/>
        <a:p>
          <a:pPr marL="0" lvl="0" indent="0" algn="ctr" defTabSz="577850">
            <a:lnSpc>
              <a:spcPct val="90000"/>
            </a:lnSpc>
            <a:spcBef>
              <a:spcPct val="0"/>
            </a:spcBef>
            <a:spcAft>
              <a:spcPct val="35000"/>
            </a:spcAft>
            <a:buNone/>
          </a:pPr>
          <a:r>
            <a:rPr lang="en-GB" sz="1300" kern="1200"/>
            <a:t>Evaluation Approach:</a:t>
          </a:r>
          <a:endParaRPr lang="en-US" sz="1300" kern="1200"/>
        </a:p>
      </dsp:txBody>
      <dsp:txXfrm>
        <a:off x="2282370" y="66648"/>
        <a:ext cx="1851586" cy="1110951"/>
      </dsp:txXfrm>
    </dsp:sp>
    <dsp:sp modelId="{DEB367D6-F8D3-4BBA-BB77-86F695F2BB43}">
      <dsp:nvSpPr>
        <dsp:cNvPr id="0" name=""/>
        <dsp:cNvSpPr/>
      </dsp:nvSpPr>
      <dsp:spPr>
        <a:xfrm>
          <a:off x="930712" y="1175800"/>
          <a:ext cx="4554902" cy="395264"/>
        </a:xfrm>
        <a:custGeom>
          <a:avLst/>
          <a:gdLst/>
          <a:ahLst/>
          <a:cxnLst/>
          <a:rect l="0" t="0" r="0" b="0"/>
          <a:pathLst>
            <a:path>
              <a:moveTo>
                <a:pt x="4554902" y="0"/>
              </a:moveTo>
              <a:lnTo>
                <a:pt x="4554902" y="214732"/>
              </a:lnTo>
              <a:lnTo>
                <a:pt x="0" y="214732"/>
              </a:lnTo>
              <a:lnTo>
                <a:pt x="0" y="395264"/>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93794" y="1371303"/>
        <a:ext cx="228738" cy="4258"/>
      </dsp:txXfrm>
    </dsp:sp>
    <dsp:sp modelId="{6FCC1CA9-8FFF-4864-954D-80338901C36E}">
      <dsp:nvSpPr>
        <dsp:cNvPr id="0" name=""/>
        <dsp:cNvSpPr/>
      </dsp:nvSpPr>
      <dsp:spPr>
        <a:xfrm>
          <a:off x="4559821" y="66648"/>
          <a:ext cx="1851586" cy="11109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29" tIns="95236" rIns="90729" bIns="95236" numCol="1" spcCol="1270" anchor="ctr" anchorCtr="0">
          <a:noAutofit/>
        </a:bodyPr>
        <a:lstStyle/>
        <a:p>
          <a:pPr marL="0" lvl="0" indent="0" algn="ctr" defTabSz="577850">
            <a:lnSpc>
              <a:spcPct val="90000"/>
            </a:lnSpc>
            <a:spcBef>
              <a:spcPct val="0"/>
            </a:spcBef>
            <a:spcAft>
              <a:spcPct val="35000"/>
            </a:spcAft>
            <a:buNone/>
          </a:pPr>
          <a:r>
            <a:rPr lang="en-GB" sz="1300" kern="1200" dirty="0"/>
            <a:t>Split data into training and testing sets</a:t>
          </a:r>
          <a:endParaRPr lang="en-US" sz="1300" kern="1200" dirty="0"/>
        </a:p>
      </dsp:txBody>
      <dsp:txXfrm>
        <a:off x="4559821" y="66648"/>
        <a:ext cx="1851586" cy="1110951"/>
      </dsp:txXfrm>
    </dsp:sp>
    <dsp:sp modelId="{3030A002-8483-4F31-940F-395E5015F6E6}">
      <dsp:nvSpPr>
        <dsp:cNvPr id="0" name=""/>
        <dsp:cNvSpPr/>
      </dsp:nvSpPr>
      <dsp:spPr>
        <a:xfrm>
          <a:off x="1854705" y="2113221"/>
          <a:ext cx="395264" cy="91440"/>
        </a:xfrm>
        <a:custGeom>
          <a:avLst/>
          <a:gdLst/>
          <a:ahLst/>
          <a:cxnLst/>
          <a:rect l="0" t="0" r="0" b="0"/>
          <a:pathLst>
            <a:path>
              <a:moveTo>
                <a:pt x="0" y="45720"/>
              </a:moveTo>
              <a:lnTo>
                <a:pt x="39526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41691" y="2156812"/>
        <a:ext cx="21293" cy="4258"/>
      </dsp:txXfrm>
    </dsp:sp>
    <dsp:sp modelId="{E509E1F3-5254-4709-8EDE-4BC5D5756E93}">
      <dsp:nvSpPr>
        <dsp:cNvPr id="0" name=""/>
        <dsp:cNvSpPr/>
      </dsp:nvSpPr>
      <dsp:spPr>
        <a:xfrm>
          <a:off x="4918" y="1603465"/>
          <a:ext cx="1851586" cy="11109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29" tIns="95236" rIns="90729" bIns="95236" numCol="1" spcCol="1270" anchor="ctr" anchorCtr="0">
          <a:noAutofit/>
        </a:bodyPr>
        <a:lstStyle/>
        <a:p>
          <a:pPr marL="0" lvl="0" indent="0" algn="ctr" defTabSz="577850">
            <a:lnSpc>
              <a:spcPct val="90000"/>
            </a:lnSpc>
            <a:spcBef>
              <a:spcPct val="0"/>
            </a:spcBef>
            <a:spcAft>
              <a:spcPct val="35000"/>
            </a:spcAft>
            <a:buNone/>
          </a:pPr>
          <a:r>
            <a:rPr lang="en-GB" sz="1300" kern="1200" dirty="0"/>
            <a:t> Evaluated model performance on unseen test data</a:t>
          </a:r>
          <a:endParaRPr lang="en-US" sz="1300" kern="1200" dirty="0"/>
        </a:p>
      </dsp:txBody>
      <dsp:txXfrm>
        <a:off x="4918" y="1603465"/>
        <a:ext cx="1851586" cy="1110951"/>
      </dsp:txXfrm>
    </dsp:sp>
    <dsp:sp modelId="{3B04D973-1AAB-492E-A638-F910E96A2822}">
      <dsp:nvSpPr>
        <dsp:cNvPr id="0" name=""/>
        <dsp:cNvSpPr/>
      </dsp:nvSpPr>
      <dsp:spPr>
        <a:xfrm>
          <a:off x="4132156" y="2113221"/>
          <a:ext cx="395264" cy="91440"/>
        </a:xfrm>
        <a:custGeom>
          <a:avLst/>
          <a:gdLst/>
          <a:ahLst/>
          <a:cxnLst/>
          <a:rect l="0" t="0" r="0" b="0"/>
          <a:pathLst>
            <a:path>
              <a:moveTo>
                <a:pt x="0" y="45720"/>
              </a:moveTo>
              <a:lnTo>
                <a:pt x="39526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19142" y="2156812"/>
        <a:ext cx="21293" cy="4258"/>
      </dsp:txXfrm>
    </dsp:sp>
    <dsp:sp modelId="{95BDACEF-DC25-4142-B698-8E15C1B840E2}">
      <dsp:nvSpPr>
        <dsp:cNvPr id="0" name=""/>
        <dsp:cNvSpPr/>
      </dsp:nvSpPr>
      <dsp:spPr>
        <a:xfrm>
          <a:off x="2282370" y="1603465"/>
          <a:ext cx="1851586" cy="11109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29" tIns="95236" rIns="90729" bIns="95236" numCol="1" spcCol="1270" anchor="ctr" anchorCtr="0">
          <a:noAutofit/>
        </a:bodyPr>
        <a:lstStyle/>
        <a:p>
          <a:pPr marL="0" lvl="0" indent="0" algn="ctr" defTabSz="577850">
            <a:lnSpc>
              <a:spcPct val="90000"/>
            </a:lnSpc>
            <a:spcBef>
              <a:spcPct val="0"/>
            </a:spcBef>
            <a:spcAft>
              <a:spcPct val="35000"/>
            </a:spcAft>
            <a:buNone/>
          </a:pPr>
          <a:r>
            <a:rPr lang="en-GB" sz="1300" b="1" kern="1200"/>
            <a:t>Training Accuracy: 95%</a:t>
          </a:r>
          <a:endParaRPr lang="en-US" sz="1300" kern="1200"/>
        </a:p>
      </dsp:txBody>
      <dsp:txXfrm>
        <a:off x="2282370" y="1603465"/>
        <a:ext cx="1851586" cy="1110951"/>
      </dsp:txXfrm>
    </dsp:sp>
    <dsp:sp modelId="{D2FA093B-410B-4E56-95B3-421D07C0F69E}">
      <dsp:nvSpPr>
        <dsp:cNvPr id="0" name=""/>
        <dsp:cNvSpPr/>
      </dsp:nvSpPr>
      <dsp:spPr>
        <a:xfrm>
          <a:off x="930712" y="2712617"/>
          <a:ext cx="4554902" cy="395264"/>
        </a:xfrm>
        <a:custGeom>
          <a:avLst/>
          <a:gdLst/>
          <a:ahLst/>
          <a:cxnLst/>
          <a:rect l="0" t="0" r="0" b="0"/>
          <a:pathLst>
            <a:path>
              <a:moveTo>
                <a:pt x="4554902" y="0"/>
              </a:moveTo>
              <a:lnTo>
                <a:pt x="4554902" y="214732"/>
              </a:lnTo>
              <a:lnTo>
                <a:pt x="0" y="214732"/>
              </a:lnTo>
              <a:lnTo>
                <a:pt x="0" y="395264"/>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93794" y="2908120"/>
        <a:ext cx="228738" cy="4258"/>
      </dsp:txXfrm>
    </dsp:sp>
    <dsp:sp modelId="{D178FE03-BAF2-48D7-9595-C0190674B5AF}">
      <dsp:nvSpPr>
        <dsp:cNvPr id="0" name=""/>
        <dsp:cNvSpPr/>
      </dsp:nvSpPr>
      <dsp:spPr>
        <a:xfrm>
          <a:off x="4559821" y="1603465"/>
          <a:ext cx="1851586" cy="11109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29" tIns="95236" rIns="90729" bIns="95236" numCol="1" spcCol="1270" anchor="ctr" anchorCtr="0">
          <a:noAutofit/>
        </a:bodyPr>
        <a:lstStyle/>
        <a:p>
          <a:pPr marL="0" lvl="0" indent="0" algn="ctr" defTabSz="577850">
            <a:lnSpc>
              <a:spcPct val="90000"/>
            </a:lnSpc>
            <a:spcBef>
              <a:spcPct val="0"/>
            </a:spcBef>
            <a:spcAft>
              <a:spcPct val="35000"/>
            </a:spcAft>
            <a:buNone/>
          </a:pPr>
          <a:r>
            <a:rPr lang="en-GB" sz="1300" b="1" kern="1200"/>
            <a:t>Testing Accuracy: 93.2%</a:t>
          </a:r>
          <a:endParaRPr lang="en-US" sz="1300" kern="1200"/>
        </a:p>
      </dsp:txBody>
      <dsp:txXfrm>
        <a:off x="4559821" y="1603465"/>
        <a:ext cx="1851586" cy="1110951"/>
      </dsp:txXfrm>
    </dsp:sp>
    <dsp:sp modelId="{774AFE62-2845-4FC3-955E-766033B58BB5}">
      <dsp:nvSpPr>
        <dsp:cNvPr id="0" name=""/>
        <dsp:cNvSpPr/>
      </dsp:nvSpPr>
      <dsp:spPr>
        <a:xfrm>
          <a:off x="1854705" y="3650038"/>
          <a:ext cx="395264" cy="91440"/>
        </a:xfrm>
        <a:custGeom>
          <a:avLst/>
          <a:gdLst/>
          <a:ahLst/>
          <a:cxnLst/>
          <a:rect l="0" t="0" r="0" b="0"/>
          <a:pathLst>
            <a:path>
              <a:moveTo>
                <a:pt x="0" y="45720"/>
              </a:moveTo>
              <a:lnTo>
                <a:pt x="39526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41691" y="3693629"/>
        <a:ext cx="21293" cy="4258"/>
      </dsp:txXfrm>
    </dsp:sp>
    <dsp:sp modelId="{21B627F8-F42D-481A-9465-C96B3BAA9EDE}">
      <dsp:nvSpPr>
        <dsp:cNvPr id="0" name=""/>
        <dsp:cNvSpPr/>
      </dsp:nvSpPr>
      <dsp:spPr>
        <a:xfrm>
          <a:off x="4918" y="3140282"/>
          <a:ext cx="1851586" cy="11109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29" tIns="95236" rIns="90729" bIns="95236" numCol="1" spcCol="1270" anchor="ctr" anchorCtr="0">
          <a:noAutofit/>
        </a:bodyPr>
        <a:lstStyle/>
        <a:p>
          <a:pPr marL="0" lvl="0" indent="0" algn="ctr" defTabSz="577850">
            <a:lnSpc>
              <a:spcPct val="90000"/>
            </a:lnSpc>
            <a:spcBef>
              <a:spcPct val="0"/>
            </a:spcBef>
            <a:spcAft>
              <a:spcPct val="35000"/>
            </a:spcAft>
            <a:buNone/>
          </a:pPr>
          <a:r>
            <a:rPr lang="en-GB" sz="1300" kern="1200"/>
            <a:t>Interpretation:</a:t>
          </a:r>
          <a:endParaRPr lang="en-US" sz="1300" kern="1200"/>
        </a:p>
      </dsp:txBody>
      <dsp:txXfrm>
        <a:off x="4918" y="3140282"/>
        <a:ext cx="1851586" cy="1110951"/>
      </dsp:txXfrm>
    </dsp:sp>
    <dsp:sp modelId="{E8122C7F-36AB-4A27-A984-5DC0C6BF1741}">
      <dsp:nvSpPr>
        <dsp:cNvPr id="0" name=""/>
        <dsp:cNvSpPr/>
      </dsp:nvSpPr>
      <dsp:spPr>
        <a:xfrm>
          <a:off x="4132156" y="3650038"/>
          <a:ext cx="395264" cy="91440"/>
        </a:xfrm>
        <a:custGeom>
          <a:avLst/>
          <a:gdLst/>
          <a:ahLst/>
          <a:cxnLst/>
          <a:rect l="0" t="0" r="0" b="0"/>
          <a:pathLst>
            <a:path>
              <a:moveTo>
                <a:pt x="0" y="45720"/>
              </a:moveTo>
              <a:lnTo>
                <a:pt x="39526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19142" y="3693629"/>
        <a:ext cx="21293" cy="4258"/>
      </dsp:txXfrm>
    </dsp:sp>
    <dsp:sp modelId="{25753432-A33C-4885-B854-245BC24AAA07}">
      <dsp:nvSpPr>
        <dsp:cNvPr id="0" name=""/>
        <dsp:cNvSpPr/>
      </dsp:nvSpPr>
      <dsp:spPr>
        <a:xfrm>
          <a:off x="2282370" y="3140282"/>
          <a:ext cx="1851586" cy="11109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29" tIns="95236" rIns="90729" bIns="95236" numCol="1" spcCol="1270" anchor="ctr" anchorCtr="0">
          <a:noAutofit/>
        </a:bodyPr>
        <a:lstStyle/>
        <a:p>
          <a:pPr marL="0" lvl="0" indent="0" algn="ctr" defTabSz="577850">
            <a:lnSpc>
              <a:spcPct val="90000"/>
            </a:lnSpc>
            <a:spcBef>
              <a:spcPct val="0"/>
            </a:spcBef>
            <a:spcAft>
              <a:spcPct val="35000"/>
            </a:spcAft>
            <a:buNone/>
          </a:pPr>
          <a:r>
            <a:rPr lang="en-GB" sz="1300" kern="1200" dirty="0"/>
            <a:t>High accuracy indicates strong predictive capability</a:t>
          </a:r>
          <a:endParaRPr lang="en-US" sz="1300" kern="1200" dirty="0"/>
        </a:p>
      </dsp:txBody>
      <dsp:txXfrm>
        <a:off x="2282370" y="3140282"/>
        <a:ext cx="1851586" cy="1110951"/>
      </dsp:txXfrm>
    </dsp:sp>
    <dsp:sp modelId="{7AB58D78-1B6A-481B-98AF-C38C91E07565}">
      <dsp:nvSpPr>
        <dsp:cNvPr id="0" name=""/>
        <dsp:cNvSpPr/>
      </dsp:nvSpPr>
      <dsp:spPr>
        <a:xfrm>
          <a:off x="930712" y="4249434"/>
          <a:ext cx="4554902" cy="395264"/>
        </a:xfrm>
        <a:custGeom>
          <a:avLst/>
          <a:gdLst/>
          <a:ahLst/>
          <a:cxnLst/>
          <a:rect l="0" t="0" r="0" b="0"/>
          <a:pathLst>
            <a:path>
              <a:moveTo>
                <a:pt x="4554902" y="0"/>
              </a:moveTo>
              <a:lnTo>
                <a:pt x="4554902" y="214732"/>
              </a:lnTo>
              <a:lnTo>
                <a:pt x="0" y="214732"/>
              </a:lnTo>
              <a:lnTo>
                <a:pt x="0" y="395264"/>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93794" y="4444937"/>
        <a:ext cx="228738" cy="4258"/>
      </dsp:txXfrm>
    </dsp:sp>
    <dsp:sp modelId="{D56244A5-4AE8-4EAF-8ED9-618EFF88A0C1}">
      <dsp:nvSpPr>
        <dsp:cNvPr id="0" name=""/>
        <dsp:cNvSpPr/>
      </dsp:nvSpPr>
      <dsp:spPr>
        <a:xfrm>
          <a:off x="4559821" y="3140282"/>
          <a:ext cx="1851586" cy="11109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29" tIns="95236" rIns="90729" bIns="95236" numCol="1" spcCol="1270" anchor="ctr" anchorCtr="0">
          <a:noAutofit/>
        </a:bodyPr>
        <a:lstStyle/>
        <a:p>
          <a:pPr marL="0" lvl="0" indent="0" algn="ctr" defTabSz="577850">
            <a:lnSpc>
              <a:spcPct val="90000"/>
            </a:lnSpc>
            <a:spcBef>
              <a:spcPct val="0"/>
            </a:spcBef>
            <a:spcAft>
              <a:spcPct val="35000"/>
            </a:spcAft>
            <a:buNone/>
          </a:pPr>
          <a:r>
            <a:rPr lang="en-GB" sz="1300" kern="1200" dirty="0"/>
            <a:t>Gap between training and testing suggests slight overfitting</a:t>
          </a:r>
          <a:endParaRPr lang="en-US" sz="1300" kern="1200" dirty="0"/>
        </a:p>
      </dsp:txBody>
      <dsp:txXfrm>
        <a:off x="4559821" y="3140282"/>
        <a:ext cx="1851586" cy="1110951"/>
      </dsp:txXfrm>
    </dsp:sp>
    <dsp:sp modelId="{5023323B-72FC-46B1-8194-C5E5857A80C5}">
      <dsp:nvSpPr>
        <dsp:cNvPr id="0" name=""/>
        <dsp:cNvSpPr/>
      </dsp:nvSpPr>
      <dsp:spPr>
        <a:xfrm>
          <a:off x="1854705" y="5186855"/>
          <a:ext cx="395264" cy="91440"/>
        </a:xfrm>
        <a:custGeom>
          <a:avLst/>
          <a:gdLst/>
          <a:ahLst/>
          <a:cxnLst/>
          <a:rect l="0" t="0" r="0" b="0"/>
          <a:pathLst>
            <a:path>
              <a:moveTo>
                <a:pt x="0" y="45720"/>
              </a:moveTo>
              <a:lnTo>
                <a:pt x="39526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41691" y="5230445"/>
        <a:ext cx="21293" cy="4258"/>
      </dsp:txXfrm>
    </dsp:sp>
    <dsp:sp modelId="{96E5DBE8-2640-4BC0-82F1-40B84AF27CE4}">
      <dsp:nvSpPr>
        <dsp:cNvPr id="0" name=""/>
        <dsp:cNvSpPr/>
      </dsp:nvSpPr>
      <dsp:spPr>
        <a:xfrm>
          <a:off x="4918" y="4677099"/>
          <a:ext cx="1851586" cy="11109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29" tIns="95236" rIns="90729" bIns="95236" numCol="1" spcCol="1270" anchor="ctr" anchorCtr="0">
          <a:noAutofit/>
        </a:bodyPr>
        <a:lstStyle/>
        <a:p>
          <a:pPr marL="0" lvl="0" indent="0" algn="ctr" defTabSz="577850">
            <a:lnSpc>
              <a:spcPct val="90000"/>
            </a:lnSpc>
            <a:spcBef>
              <a:spcPct val="0"/>
            </a:spcBef>
            <a:spcAft>
              <a:spcPct val="35000"/>
            </a:spcAft>
            <a:buNone/>
          </a:pPr>
          <a:r>
            <a:rPr lang="en-GB" sz="1300" kern="1200"/>
            <a:t>Performance Metrics:</a:t>
          </a:r>
          <a:endParaRPr lang="en-US" sz="1300" kern="1200"/>
        </a:p>
      </dsp:txBody>
      <dsp:txXfrm>
        <a:off x="4918" y="4677099"/>
        <a:ext cx="1851586" cy="1110951"/>
      </dsp:txXfrm>
    </dsp:sp>
    <dsp:sp modelId="{ACEF55B4-FC78-47C2-9C91-3194B1EB57D2}">
      <dsp:nvSpPr>
        <dsp:cNvPr id="0" name=""/>
        <dsp:cNvSpPr/>
      </dsp:nvSpPr>
      <dsp:spPr>
        <a:xfrm>
          <a:off x="4132156" y="5186855"/>
          <a:ext cx="395264" cy="91440"/>
        </a:xfrm>
        <a:custGeom>
          <a:avLst/>
          <a:gdLst/>
          <a:ahLst/>
          <a:cxnLst/>
          <a:rect l="0" t="0" r="0" b="0"/>
          <a:pathLst>
            <a:path>
              <a:moveTo>
                <a:pt x="0" y="45720"/>
              </a:moveTo>
              <a:lnTo>
                <a:pt x="395264"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19142" y="5230445"/>
        <a:ext cx="21293" cy="4258"/>
      </dsp:txXfrm>
    </dsp:sp>
    <dsp:sp modelId="{45E2281B-E0FA-48DE-A3E7-AC16AD5A9165}">
      <dsp:nvSpPr>
        <dsp:cNvPr id="0" name=""/>
        <dsp:cNvSpPr/>
      </dsp:nvSpPr>
      <dsp:spPr>
        <a:xfrm>
          <a:off x="2282370" y="4677099"/>
          <a:ext cx="1851586" cy="11109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29" tIns="95236" rIns="90729" bIns="95236" numCol="1" spcCol="1270" anchor="ctr" anchorCtr="0">
          <a:noAutofit/>
        </a:bodyPr>
        <a:lstStyle/>
        <a:p>
          <a:pPr marL="0" lvl="0" indent="0" algn="ctr" defTabSz="577850">
            <a:lnSpc>
              <a:spcPct val="90000"/>
            </a:lnSpc>
            <a:spcBef>
              <a:spcPct val="0"/>
            </a:spcBef>
            <a:spcAft>
              <a:spcPct val="35000"/>
            </a:spcAft>
            <a:buNone/>
          </a:pPr>
          <a:r>
            <a:rPr lang="en-GB" sz="1300" kern="1200" dirty="0"/>
            <a:t>Precision &amp; Recall were analysed to evaluate classification performance</a:t>
          </a:r>
          <a:endParaRPr lang="en-US" sz="1300" kern="1200" dirty="0"/>
        </a:p>
      </dsp:txBody>
      <dsp:txXfrm>
        <a:off x="2282370" y="4677099"/>
        <a:ext cx="1851586" cy="1110951"/>
      </dsp:txXfrm>
    </dsp:sp>
    <dsp:sp modelId="{ED02A990-0736-4042-8E8E-8BC644300389}">
      <dsp:nvSpPr>
        <dsp:cNvPr id="0" name=""/>
        <dsp:cNvSpPr/>
      </dsp:nvSpPr>
      <dsp:spPr>
        <a:xfrm>
          <a:off x="4559821" y="4677099"/>
          <a:ext cx="1851586" cy="111095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0729" tIns="95236" rIns="90729" bIns="95236" numCol="1" spcCol="1270" anchor="ctr" anchorCtr="0">
          <a:noAutofit/>
        </a:bodyPr>
        <a:lstStyle/>
        <a:p>
          <a:pPr marL="0" lvl="0" indent="0" algn="ctr" defTabSz="577850">
            <a:lnSpc>
              <a:spcPct val="90000"/>
            </a:lnSpc>
            <a:spcBef>
              <a:spcPct val="0"/>
            </a:spcBef>
            <a:spcAft>
              <a:spcPct val="35000"/>
            </a:spcAft>
            <a:buNone/>
          </a:pPr>
          <a:r>
            <a:rPr lang="en-GB" sz="1300" kern="1200" dirty="0"/>
            <a:t>Ensured the model correctly identifies trending songs without excessive false predictions</a:t>
          </a:r>
          <a:endParaRPr lang="en-US" sz="1300" kern="1200" dirty="0"/>
        </a:p>
      </dsp:txBody>
      <dsp:txXfrm>
        <a:off x="4559821" y="4677099"/>
        <a:ext cx="1851586" cy="11109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AC05D9-23BE-447B-8CA4-4FCB9102774E}">
      <dsp:nvSpPr>
        <dsp:cNvPr id="0" name=""/>
        <dsp:cNvSpPr/>
      </dsp:nvSpPr>
      <dsp:spPr>
        <a:xfrm>
          <a:off x="82613"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4DB497-2B83-41A4-AAD6-BEC4E48BCE3E}">
      <dsp:nvSpPr>
        <dsp:cNvPr id="0" name=""/>
        <dsp:cNvSpPr/>
      </dsp:nvSpPr>
      <dsp:spPr>
        <a:xfrm>
          <a:off x="271034"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2678C4-818A-4512-AAA1-8002FCBA3D34}">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kern="1200"/>
            <a:t>Based on the analysis, several strategic actions can be taken to improve song discovery and platform performance.</a:t>
          </a:r>
          <a:endParaRPr lang="en-US" sz="1100" kern="1200"/>
        </a:p>
      </dsp:txBody>
      <dsp:txXfrm>
        <a:off x="1172126" y="908559"/>
        <a:ext cx="2114937" cy="897246"/>
      </dsp:txXfrm>
    </dsp:sp>
    <dsp:sp modelId="{9B578CFF-4CF9-4494-8D26-7CEFD70F35DB}">
      <dsp:nvSpPr>
        <dsp:cNvPr id="0" name=""/>
        <dsp:cNvSpPr/>
      </dsp:nvSpPr>
      <dsp:spPr>
        <a:xfrm>
          <a:off x="3655575"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F8D461-BAB3-4D99-986F-9C81EFD9D6DA}">
      <dsp:nvSpPr>
        <dsp:cNvPr id="0" name=""/>
        <dsp:cNvSpPr/>
      </dsp:nvSpPr>
      <dsp:spPr>
        <a:xfrm>
          <a:off x="3843996"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EC8D64-DFB3-4A24-97B9-94066233C64C}">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kern="1200" dirty="0"/>
            <a:t>Enhancing early trend detection should be a key focus, as identifying emerging songs at an early stage can significantly improve engagement and retention.</a:t>
          </a:r>
          <a:endParaRPr lang="en-US" sz="1100" kern="1200" dirty="0"/>
        </a:p>
      </dsp:txBody>
      <dsp:txXfrm>
        <a:off x="4745088" y="908559"/>
        <a:ext cx="2114937" cy="897246"/>
      </dsp:txXfrm>
    </dsp:sp>
    <dsp:sp modelId="{4FA5E876-80B2-4F6F-85EA-E9E6104D8FCB}">
      <dsp:nvSpPr>
        <dsp:cNvPr id="0" name=""/>
        <dsp:cNvSpPr/>
      </dsp:nvSpPr>
      <dsp:spPr>
        <a:xfrm>
          <a:off x="7228536"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0CD0FD-A67C-4F63-9D45-A5CFC9A585E8}">
      <dsp:nvSpPr>
        <dsp:cNvPr id="0" name=""/>
        <dsp:cNvSpPr/>
      </dsp:nvSpPr>
      <dsp:spPr>
        <a:xfrm>
          <a:off x="7416958" y="1096980"/>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85470B-92D1-4F28-B60A-0F00F506669C}">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kern="1200"/>
            <a:t>Integrating external signals, particularly from platforms like Shazam, can provide valuable insights into real-time user interest and help identify potential hits before they peak.</a:t>
          </a:r>
          <a:endParaRPr lang="en-US" sz="1100" kern="1200"/>
        </a:p>
      </dsp:txBody>
      <dsp:txXfrm>
        <a:off x="8318049" y="908559"/>
        <a:ext cx="2114937" cy="897246"/>
      </dsp:txXfrm>
    </dsp:sp>
    <dsp:sp modelId="{6945B44E-4C3F-45FD-8B5B-47642FBAC025}">
      <dsp:nvSpPr>
        <dsp:cNvPr id="0" name=""/>
        <dsp:cNvSpPr/>
      </dsp:nvSpPr>
      <dsp:spPr>
        <a:xfrm>
          <a:off x="82613"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CB7DF0-1167-4475-B78C-312F045D8F94}">
      <dsp:nvSpPr>
        <dsp:cNvPr id="0" name=""/>
        <dsp:cNvSpPr/>
      </dsp:nvSpPr>
      <dsp:spPr>
        <a:xfrm>
          <a:off x="271034"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27B315-53CD-4481-86B0-65BF65F47143}">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kern="1200"/>
            <a:t>Additionally, promoting emerging songs more aggressively through dynamic playlist updates can increase visibility and improve their chances of becoming popular.</a:t>
          </a:r>
          <a:endParaRPr lang="en-US" sz="1100" kern="1200"/>
        </a:p>
      </dsp:txBody>
      <dsp:txXfrm>
        <a:off x="1172126" y="2545532"/>
        <a:ext cx="2114937" cy="897246"/>
      </dsp:txXfrm>
    </dsp:sp>
    <dsp:sp modelId="{CBDE001F-3D17-46F5-A6C4-F5F3FCEE9E75}">
      <dsp:nvSpPr>
        <dsp:cNvPr id="0" name=""/>
        <dsp:cNvSpPr/>
      </dsp:nvSpPr>
      <dsp:spPr>
        <a:xfrm>
          <a:off x="3655575"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6BD53E-3DAE-4C71-9B92-C0AF0649B8B7}">
      <dsp:nvSpPr>
        <dsp:cNvPr id="0" name=""/>
        <dsp:cNvSpPr/>
      </dsp:nvSpPr>
      <dsp:spPr>
        <a:xfrm>
          <a:off x="3843996" y="2733954"/>
          <a:ext cx="520402" cy="52040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421D20-C815-486F-A2F4-93E8AA348A1E}">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488950">
            <a:lnSpc>
              <a:spcPct val="100000"/>
            </a:lnSpc>
            <a:spcBef>
              <a:spcPct val="0"/>
            </a:spcBef>
            <a:spcAft>
              <a:spcPct val="35000"/>
            </a:spcAft>
            <a:buNone/>
          </a:pPr>
          <a:r>
            <a:rPr lang="en-GB" sz="1100" kern="1200"/>
            <a:t>These actions can help strengthen Spotify’s recommendation system and improve its ability to identify and promote trending music effectively.</a:t>
          </a:r>
          <a:endParaRPr lang="en-US" sz="1100" kern="1200"/>
        </a:p>
      </dsp:txBody>
      <dsp:txXfrm>
        <a:off x="4745088" y="2545532"/>
        <a:ext cx="2114937" cy="8972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16030C-E62A-4D91-BE1E-4C3125CAEB6F}">
      <dsp:nvSpPr>
        <dsp:cNvPr id="0" name=""/>
        <dsp:cNvSpPr/>
      </dsp:nvSpPr>
      <dsp:spPr>
        <a:xfrm>
          <a:off x="1377499" y="1127059"/>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04FDE1-4EE4-4142-BB55-A63F2B53F9D6}">
      <dsp:nvSpPr>
        <dsp:cNvPr id="0" name=""/>
        <dsp:cNvSpPr/>
      </dsp:nvSpPr>
      <dsp:spPr>
        <a:xfrm>
          <a:off x="189499" y="3716140"/>
          <a:ext cx="4320000" cy="171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GB" sz="1100" kern="1200" dirty="0"/>
            <a:t>This project helps to analysed song performance data to identify the key factors influencing music popularity. The findings highlight that playlist exposure and platform visibility play a more significant role than audio features in driving success. Additionally, cross-platform insights revealed opportunities to improve early trend detection. By combining data analysis, machine learning, and interactive visualization, the project provides a comprehensive, data-driven approach to understanding and predicting song trends. These insights can support better decision-making, enhance recommendation systems, and improve music discovery strategies.</a:t>
          </a:r>
          <a:endParaRPr lang="en-US" sz="1100" kern="1200" dirty="0"/>
        </a:p>
      </dsp:txBody>
      <dsp:txXfrm>
        <a:off x="189499" y="3716140"/>
        <a:ext cx="4320000" cy="1710000"/>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7BD68-B1FF-D514-7A98-B7E23ED641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419CD88-BB9E-38DF-49C8-71E989D48D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31974D2-311D-5F71-9E28-431C36E12817}"/>
              </a:ext>
            </a:extLst>
          </p:cNvPr>
          <p:cNvSpPr>
            <a:spLocks noGrp="1"/>
          </p:cNvSpPr>
          <p:nvPr>
            <p:ph type="dt" sz="half" idx="10"/>
          </p:nvPr>
        </p:nvSpPr>
        <p:spPr/>
        <p:txBody>
          <a:bodyPr/>
          <a:lstStyle/>
          <a:p>
            <a:fld id="{75F7C9D5-417A-4F22-8D27-1B67A245BE72}" type="datetimeFigureOut">
              <a:rPr lang="en-US" smtClean="0"/>
              <a:t>3/28/2026</a:t>
            </a:fld>
            <a:endParaRPr lang="en-US"/>
          </a:p>
        </p:txBody>
      </p:sp>
      <p:sp>
        <p:nvSpPr>
          <p:cNvPr id="5" name="Footer Placeholder 4">
            <a:extLst>
              <a:ext uri="{FF2B5EF4-FFF2-40B4-BE49-F238E27FC236}">
                <a16:creationId xmlns:a16="http://schemas.microsoft.com/office/drawing/2014/main" id="{6FB33920-6286-C5E4-887B-12E605CFFB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4C1DA-EA0E-CB2C-CF46-B7CBE6FCB139}"/>
              </a:ext>
            </a:extLst>
          </p:cNvPr>
          <p:cNvSpPr>
            <a:spLocks noGrp="1"/>
          </p:cNvSpPr>
          <p:nvPr>
            <p:ph type="sldNum" sz="quarter" idx="12"/>
          </p:nvPr>
        </p:nvSpPr>
        <p:spPr/>
        <p:txBody>
          <a:bodyPr/>
          <a:lstStyle/>
          <a:p>
            <a:fld id="{C756EE8C-AC8C-42CA-BE5D-08060A5F8279}" type="slidenum">
              <a:rPr lang="en-US" smtClean="0"/>
              <a:t>‹#›</a:t>
            </a:fld>
            <a:endParaRPr lang="en-US"/>
          </a:p>
        </p:txBody>
      </p:sp>
    </p:spTree>
    <p:extLst>
      <p:ext uri="{BB962C8B-B14F-4D97-AF65-F5344CB8AC3E}">
        <p14:creationId xmlns:p14="http://schemas.microsoft.com/office/powerpoint/2010/main" val="177883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6FFF5-2DAF-3EC0-A029-B4A0B305532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20D4604-E903-86ED-3E1F-F0AEB51B39F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FDADA9F-A6DD-696F-B75A-4A51B7DDA473}"/>
              </a:ext>
            </a:extLst>
          </p:cNvPr>
          <p:cNvSpPr>
            <a:spLocks noGrp="1"/>
          </p:cNvSpPr>
          <p:nvPr>
            <p:ph type="dt" sz="half" idx="10"/>
          </p:nvPr>
        </p:nvSpPr>
        <p:spPr/>
        <p:txBody>
          <a:bodyPr/>
          <a:lstStyle/>
          <a:p>
            <a:fld id="{75F7C9D5-417A-4F22-8D27-1B67A245BE72}" type="datetimeFigureOut">
              <a:rPr lang="en-US" smtClean="0"/>
              <a:t>3/28/2026</a:t>
            </a:fld>
            <a:endParaRPr lang="en-US"/>
          </a:p>
        </p:txBody>
      </p:sp>
      <p:sp>
        <p:nvSpPr>
          <p:cNvPr id="5" name="Footer Placeholder 4">
            <a:extLst>
              <a:ext uri="{FF2B5EF4-FFF2-40B4-BE49-F238E27FC236}">
                <a16:creationId xmlns:a16="http://schemas.microsoft.com/office/drawing/2014/main" id="{4B984AE7-2855-050B-6DFB-D5F064205E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1E8DA8-9A18-5335-6B86-173B2C20A719}"/>
              </a:ext>
            </a:extLst>
          </p:cNvPr>
          <p:cNvSpPr>
            <a:spLocks noGrp="1"/>
          </p:cNvSpPr>
          <p:nvPr>
            <p:ph type="sldNum" sz="quarter" idx="12"/>
          </p:nvPr>
        </p:nvSpPr>
        <p:spPr/>
        <p:txBody>
          <a:bodyPr/>
          <a:lstStyle/>
          <a:p>
            <a:fld id="{C756EE8C-AC8C-42CA-BE5D-08060A5F8279}" type="slidenum">
              <a:rPr lang="en-US" smtClean="0"/>
              <a:t>‹#›</a:t>
            </a:fld>
            <a:endParaRPr lang="en-US"/>
          </a:p>
        </p:txBody>
      </p:sp>
    </p:spTree>
    <p:extLst>
      <p:ext uri="{BB962C8B-B14F-4D97-AF65-F5344CB8AC3E}">
        <p14:creationId xmlns:p14="http://schemas.microsoft.com/office/powerpoint/2010/main" val="909511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42EF8-98B2-C152-4659-9FF5873D464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0CEC086-05DA-AD89-120C-698AD3FBA5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DDE78E6-35A8-1C52-706E-4396756C304D}"/>
              </a:ext>
            </a:extLst>
          </p:cNvPr>
          <p:cNvSpPr>
            <a:spLocks noGrp="1"/>
          </p:cNvSpPr>
          <p:nvPr>
            <p:ph type="dt" sz="half" idx="10"/>
          </p:nvPr>
        </p:nvSpPr>
        <p:spPr/>
        <p:txBody>
          <a:bodyPr/>
          <a:lstStyle/>
          <a:p>
            <a:fld id="{75F7C9D5-417A-4F22-8D27-1B67A245BE72}" type="datetimeFigureOut">
              <a:rPr lang="en-US" smtClean="0"/>
              <a:t>3/28/2026</a:t>
            </a:fld>
            <a:endParaRPr lang="en-US"/>
          </a:p>
        </p:txBody>
      </p:sp>
      <p:sp>
        <p:nvSpPr>
          <p:cNvPr id="5" name="Footer Placeholder 4">
            <a:extLst>
              <a:ext uri="{FF2B5EF4-FFF2-40B4-BE49-F238E27FC236}">
                <a16:creationId xmlns:a16="http://schemas.microsoft.com/office/drawing/2014/main" id="{117460D6-A850-BB8C-0DC0-746DEDD6B7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A4C48-5636-9253-7DDB-5E3E7776319C}"/>
              </a:ext>
            </a:extLst>
          </p:cNvPr>
          <p:cNvSpPr>
            <a:spLocks noGrp="1"/>
          </p:cNvSpPr>
          <p:nvPr>
            <p:ph type="sldNum" sz="quarter" idx="12"/>
          </p:nvPr>
        </p:nvSpPr>
        <p:spPr/>
        <p:txBody>
          <a:bodyPr/>
          <a:lstStyle/>
          <a:p>
            <a:fld id="{C756EE8C-AC8C-42CA-BE5D-08060A5F8279}" type="slidenum">
              <a:rPr lang="en-US" smtClean="0"/>
              <a:t>‹#›</a:t>
            </a:fld>
            <a:endParaRPr lang="en-US"/>
          </a:p>
        </p:txBody>
      </p:sp>
    </p:spTree>
    <p:extLst>
      <p:ext uri="{BB962C8B-B14F-4D97-AF65-F5344CB8AC3E}">
        <p14:creationId xmlns:p14="http://schemas.microsoft.com/office/powerpoint/2010/main" val="2971077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0D762-45D7-F82B-D2F2-EBF6329253C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208404E-A7E3-ECDB-654D-C0A1BAD1A16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7BF6B5D-1FDB-4B68-AFAE-A6126884C17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D8086993-D109-A2DB-429E-7FF9548B1195}"/>
              </a:ext>
            </a:extLst>
          </p:cNvPr>
          <p:cNvSpPr>
            <a:spLocks noGrp="1"/>
          </p:cNvSpPr>
          <p:nvPr>
            <p:ph type="dt" sz="half" idx="10"/>
          </p:nvPr>
        </p:nvSpPr>
        <p:spPr/>
        <p:txBody>
          <a:bodyPr/>
          <a:lstStyle/>
          <a:p>
            <a:fld id="{75F7C9D5-417A-4F22-8D27-1B67A245BE72}" type="datetimeFigureOut">
              <a:rPr lang="en-US" smtClean="0"/>
              <a:t>3/28/2026</a:t>
            </a:fld>
            <a:endParaRPr lang="en-US"/>
          </a:p>
        </p:txBody>
      </p:sp>
      <p:sp>
        <p:nvSpPr>
          <p:cNvPr id="6" name="Footer Placeholder 5">
            <a:extLst>
              <a:ext uri="{FF2B5EF4-FFF2-40B4-BE49-F238E27FC236}">
                <a16:creationId xmlns:a16="http://schemas.microsoft.com/office/drawing/2014/main" id="{66FC13F0-D7F0-B350-BD63-F9F556C158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B72C66-E048-2BF0-909A-9F718E40F675}"/>
              </a:ext>
            </a:extLst>
          </p:cNvPr>
          <p:cNvSpPr>
            <a:spLocks noGrp="1"/>
          </p:cNvSpPr>
          <p:nvPr>
            <p:ph type="sldNum" sz="quarter" idx="12"/>
          </p:nvPr>
        </p:nvSpPr>
        <p:spPr/>
        <p:txBody>
          <a:bodyPr/>
          <a:lstStyle/>
          <a:p>
            <a:fld id="{C756EE8C-AC8C-42CA-BE5D-08060A5F8279}" type="slidenum">
              <a:rPr lang="en-US" smtClean="0"/>
              <a:t>‹#›</a:t>
            </a:fld>
            <a:endParaRPr lang="en-US"/>
          </a:p>
        </p:txBody>
      </p:sp>
    </p:spTree>
    <p:extLst>
      <p:ext uri="{BB962C8B-B14F-4D97-AF65-F5344CB8AC3E}">
        <p14:creationId xmlns:p14="http://schemas.microsoft.com/office/powerpoint/2010/main" val="3793248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E66D1-7EAD-8CC8-A4BC-BA27D97844C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F19E4A6-CA8E-59EB-0930-F0A278AFA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5B95447-65D4-47B9-76DE-248D784A9CE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02E1DB3-C697-0B0B-56CF-4E34CFE0A3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DBAEF44-B4F6-A592-CB2B-7111B2C724D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D2C3286-5B5A-E251-3711-2EE7B82CFCC8}"/>
              </a:ext>
            </a:extLst>
          </p:cNvPr>
          <p:cNvSpPr>
            <a:spLocks noGrp="1"/>
          </p:cNvSpPr>
          <p:nvPr>
            <p:ph type="dt" sz="half" idx="10"/>
          </p:nvPr>
        </p:nvSpPr>
        <p:spPr/>
        <p:txBody>
          <a:bodyPr/>
          <a:lstStyle/>
          <a:p>
            <a:fld id="{75F7C9D5-417A-4F22-8D27-1B67A245BE72}" type="datetimeFigureOut">
              <a:rPr lang="en-US" smtClean="0"/>
              <a:t>3/28/2026</a:t>
            </a:fld>
            <a:endParaRPr lang="en-US"/>
          </a:p>
        </p:txBody>
      </p:sp>
      <p:sp>
        <p:nvSpPr>
          <p:cNvPr id="8" name="Footer Placeholder 7">
            <a:extLst>
              <a:ext uri="{FF2B5EF4-FFF2-40B4-BE49-F238E27FC236}">
                <a16:creationId xmlns:a16="http://schemas.microsoft.com/office/drawing/2014/main" id="{C27D30F1-3B98-3840-F19D-06A878F2B4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605EB6-723A-C009-B8B0-A799CC286B9D}"/>
              </a:ext>
            </a:extLst>
          </p:cNvPr>
          <p:cNvSpPr>
            <a:spLocks noGrp="1"/>
          </p:cNvSpPr>
          <p:nvPr>
            <p:ph type="sldNum" sz="quarter" idx="12"/>
          </p:nvPr>
        </p:nvSpPr>
        <p:spPr/>
        <p:txBody>
          <a:bodyPr/>
          <a:lstStyle/>
          <a:p>
            <a:fld id="{C756EE8C-AC8C-42CA-BE5D-08060A5F8279}" type="slidenum">
              <a:rPr lang="en-US" smtClean="0"/>
              <a:t>‹#›</a:t>
            </a:fld>
            <a:endParaRPr lang="en-US"/>
          </a:p>
        </p:txBody>
      </p:sp>
    </p:spTree>
    <p:extLst>
      <p:ext uri="{BB962C8B-B14F-4D97-AF65-F5344CB8AC3E}">
        <p14:creationId xmlns:p14="http://schemas.microsoft.com/office/powerpoint/2010/main" val="4100343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E2E6D-73E4-6186-DE3E-7CE6490FEC7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56D5106-911C-D00B-F49D-95028F5131E2}"/>
              </a:ext>
            </a:extLst>
          </p:cNvPr>
          <p:cNvSpPr>
            <a:spLocks noGrp="1"/>
          </p:cNvSpPr>
          <p:nvPr>
            <p:ph type="dt" sz="half" idx="10"/>
          </p:nvPr>
        </p:nvSpPr>
        <p:spPr/>
        <p:txBody>
          <a:bodyPr/>
          <a:lstStyle/>
          <a:p>
            <a:fld id="{75F7C9D5-417A-4F22-8D27-1B67A245BE72}" type="datetimeFigureOut">
              <a:rPr lang="en-US" smtClean="0"/>
              <a:t>3/28/2026</a:t>
            </a:fld>
            <a:endParaRPr lang="en-US"/>
          </a:p>
        </p:txBody>
      </p:sp>
      <p:sp>
        <p:nvSpPr>
          <p:cNvPr id="4" name="Footer Placeholder 3">
            <a:extLst>
              <a:ext uri="{FF2B5EF4-FFF2-40B4-BE49-F238E27FC236}">
                <a16:creationId xmlns:a16="http://schemas.microsoft.com/office/drawing/2014/main" id="{DBD181F1-99A5-B230-854B-A03C8A5BBC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347A27-8346-5A85-0DC1-1FC305D3AAFF}"/>
              </a:ext>
            </a:extLst>
          </p:cNvPr>
          <p:cNvSpPr>
            <a:spLocks noGrp="1"/>
          </p:cNvSpPr>
          <p:nvPr>
            <p:ph type="sldNum" sz="quarter" idx="12"/>
          </p:nvPr>
        </p:nvSpPr>
        <p:spPr/>
        <p:txBody>
          <a:bodyPr/>
          <a:lstStyle/>
          <a:p>
            <a:fld id="{C756EE8C-AC8C-42CA-BE5D-08060A5F8279}" type="slidenum">
              <a:rPr lang="en-US" smtClean="0"/>
              <a:t>‹#›</a:t>
            </a:fld>
            <a:endParaRPr lang="en-US"/>
          </a:p>
        </p:txBody>
      </p:sp>
    </p:spTree>
    <p:extLst>
      <p:ext uri="{BB962C8B-B14F-4D97-AF65-F5344CB8AC3E}">
        <p14:creationId xmlns:p14="http://schemas.microsoft.com/office/powerpoint/2010/main" val="3890061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6BC822-E135-5794-FD9A-F61F0AAC275E}"/>
              </a:ext>
            </a:extLst>
          </p:cNvPr>
          <p:cNvSpPr>
            <a:spLocks noGrp="1"/>
          </p:cNvSpPr>
          <p:nvPr>
            <p:ph type="dt" sz="half" idx="10"/>
          </p:nvPr>
        </p:nvSpPr>
        <p:spPr/>
        <p:txBody>
          <a:bodyPr/>
          <a:lstStyle/>
          <a:p>
            <a:fld id="{75F7C9D5-417A-4F22-8D27-1B67A245BE72}" type="datetimeFigureOut">
              <a:rPr lang="en-US" smtClean="0"/>
              <a:t>3/28/2026</a:t>
            </a:fld>
            <a:endParaRPr lang="en-US"/>
          </a:p>
        </p:txBody>
      </p:sp>
      <p:sp>
        <p:nvSpPr>
          <p:cNvPr id="3" name="Footer Placeholder 2">
            <a:extLst>
              <a:ext uri="{FF2B5EF4-FFF2-40B4-BE49-F238E27FC236}">
                <a16:creationId xmlns:a16="http://schemas.microsoft.com/office/drawing/2014/main" id="{B51BBF31-77E2-67FD-FCF4-28DAB4F7181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44669A-1E2D-FA44-676A-966D96BBCC6A}"/>
              </a:ext>
            </a:extLst>
          </p:cNvPr>
          <p:cNvSpPr>
            <a:spLocks noGrp="1"/>
          </p:cNvSpPr>
          <p:nvPr>
            <p:ph type="sldNum" sz="quarter" idx="12"/>
          </p:nvPr>
        </p:nvSpPr>
        <p:spPr/>
        <p:txBody>
          <a:bodyPr/>
          <a:lstStyle/>
          <a:p>
            <a:fld id="{C756EE8C-AC8C-42CA-BE5D-08060A5F8279}" type="slidenum">
              <a:rPr lang="en-US" smtClean="0"/>
              <a:t>‹#›</a:t>
            </a:fld>
            <a:endParaRPr lang="en-US"/>
          </a:p>
        </p:txBody>
      </p:sp>
    </p:spTree>
    <p:extLst>
      <p:ext uri="{BB962C8B-B14F-4D97-AF65-F5344CB8AC3E}">
        <p14:creationId xmlns:p14="http://schemas.microsoft.com/office/powerpoint/2010/main" val="2100504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4581B-7339-3F86-3B5F-F897E52CCAC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8845C16-7DF0-E8E2-C0DF-7C824AFD08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B73C64E-CB6D-DB8A-4DE0-CF947B529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349D507-BF80-5B92-AC83-FBD282C37295}"/>
              </a:ext>
            </a:extLst>
          </p:cNvPr>
          <p:cNvSpPr>
            <a:spLocks noGrp="1"/>
          </p:cNvSpPr>
          <p:nvPr>
            <p:ph type="dt" sz="half" idx="10"/>
          </p:nvPr>
        </p:nvSpPr>
        <p:spPr/>
        <p:txBody>
          <a:bodyPr/>
          <a:lstStyle/>
          <a:p>
            <a:fld id="{75F7C9D5-417A-4F22-8D27-1B67A245BE72}" type="datetimeFigureOut">
              <a:rPr lang="en-US" smtClean="0"/>
              <a:t>3/28/2026</a:t>
            </a:fld>
            <a:endParaRPr lang="en-US"/>
          </a:p>
        </p:txBody>
      </p:sp>
      <p:sp>
        <p:nvSpPr>
          <p:cNvPr id="6" name="Footer Placeholder 5">
            <a:extLst>
              <a:ext uri="{FF2B5EF4-FFF2-40B4-BE49-F238E27FC236}">
                <a16:creationId xmlns:a16="http://schemas.microsoft.com/office/drawing/2014/main" id="{6F6ADA19-A222-BC4C-5074-FC1B4CE334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5F0B9A-79C5-1B1C-87FE-4DDF2165C332}"/>
              </a:ext>
            </a:extLst>
          </p:cNvPr>
          <p:cNvSpPr>
            <a:spLocks noGrp="1"/>
          </p:cNvSpPr>
          <p:nvPr>
            <p:ph type="sldNum" sz="quarter" idx="12"/>
          </p:nvPr>
        </p:nvSpPr>
        <p:spPr/>
        <p:txBody>
          <a:bodyPr/>
          <a:lstStyle/>
          <a:p>
            <a:fld id="{C756EE8C-AC8C-42CA-BE5D-08060A5F8279}" type="slidenum">
              <a:rPr lang="en-US" smtClean="0"/>
              <a:t>‹#›</a:t>
            </a:fld>
            <a:endParaRPr lang="en-US"/>
          </a:p>
        </p:txBody>
      </p:sp>
    </p:spTree>
    <p:extLst>
      <p:ext uri="{BB962C8B-B14F-4D97-AF65-F5344CB8AC3E}">
        <p14:creationId xmlns:p14="http://schemas.microsoft.com/office/powerpoint/2010/main" val="13494643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5C1FA-2345-7758-530C-55E8C890FEE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4E5D5F4-06E2-F815-4791-2D29FF1D30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EF912D-5853-8D5F-613D-42A3D8768C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6A5C991-8749-B6A3-7386-CCD38C7E34A1}"/>
              </a:ext>
            </a:extLst>
          </p:cNvPr>
          <p:cNvSpPr>
            <a:spLocks noGrp="1"/>
          </p:cNvSpPr>
          <p:nvPr>
            <p:ph type="dt" sz="half" idx="10"/>
          </p:nvPr>
        </p:nvSpPr>
        <p:spPr/>
        <p:txBody>
          <a:bodyPr/>
          <a:lstStyle/>
          <a:p>
            <a:fld id="{75F7C9D5-417A-4F22-8D27-1B67A245BE72}" type="datetimeFigureOut">
              <a:rPr lang="en-US" smtClean="0"/>
              <a:t>3/28/2026</a:t>
            </a:fld>
            <a:endParaRPr lang="en-US"/>
          </a:p>
        </p:txBody>
      </p:sp>
      <p:sp>
        <p:nvSpPr>
          <p:cNvPr id="6" name="Footer Placeholder 5">
            <a:extLst>
              <a:ext uri="{FF2B5EF4-FFF2-40B4-BE49-F238E27FC236}">
                <a16:creationId xmlns:a16="http://schemas.microsoft.com/office/drawing/2014/main" id="{5AD31885-3ACA-6FCD-E10B-24C419E827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63140F-FC6D-ECF1-0878-34546D80D0B8}"/>
              </a:ext>
            </a:extLst>
          </p:cNvPr>
          <p:cNvSpPr>
            <a:spLocks noGrp="1"/>
          </p:cNvSpPr>
          <p:nvPr>
            <p:ph type="sldNum" sz="quarter" idx="12"/>
          </p:nvPr>
        </p:nvSpPr>
        <p:spPr/>
        <p:txBody>
          <a:bodyPr/>
          <a:lstStyle/>
          <a:p>
            <a:fld id="{C756EE8C-AC8C-42CA-BE5D-08060A5F8279}" type="slidenum">
              <a:rPr lang="en-US" smtClean="0"/>
              <a:t>‹#›</a:t>
            </a:fld>
            <a:endParaRPr lang="en-US"/>
          </a:p>
        </p:txBody>
      </p:sp>
    </p:spTree>
    <p:extLst>
      <p:ext uri="{BB962C8B-B14F-4D97-AF65-F5344CB8AC3E}">
        <p14:creationId xmlns:p14="http://schemas.microsoft.com/office/powerpoint/2010/main" val="1640147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AD6B4-A88B-118A-A4E5-D8F4AA745E4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FCFA84C-AB9F-69D0-F7AC-3E3A37BEAA6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D31926F-DC8B-7C2C-FBE0-31458FAC1F3F}"/>
              </a:ext>
            </a:extLst>
          </p:cNvPr>
          <p:cNvSpPr>
            <a:spLocks noGrp="1"/>
          </p:cNvSpPr>
          <p:nvPr>
            <p:ph type="dt" sz="half" idx="10"/>
          </p:nvPr>
        </p:nvSpPr>
        <p:spPr/>
        <p:txBody>
          <a:bodyPr/>
          <a:lstStyle/>
          <a:p>
            <a:fld id="{75F7C9D5-417A-4F22-8D27-1B67A245BE72}" type="datetimeFigureOut">
              <a:rPr lang="en-US" smtClean="0"/>
              <a:t>3/28/2026</a:t>
            </a:fld>
            <a:endParaRPr lang="en-US"/>
          </a:p>
        </p:txBody>
      </p:sp>
      <p:sp>
        <p:nvSpPr>
          <p:cNvPr id="5" name="Footer Placeholder 4">
            <a:extLst>
              <a:ext uri="{FF2B5EF4-FFF2-40B4-BE49-F238E27FC236}">
                <a16:creationId xmlns:a16="http://schemas.microsoft.com/office/drawing/2014/main" id="{B1F422C6-9AF5-6DD8-EF2A-26CC08593E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A256F7-8CC2-EA2E-C322-3EA2F053360D}"/>
              </a:ext>
            </a:extLst>
          </p:cNvPr>
          <p:cNvSpPr>
            <a:spLocks noGrp="1"/>
          </p:cNvSpPr>
          <p:nvPr>
            <p:ph type="sldNum" sz="quarter" idx="12"/>
          </p:nvPr>
        </p:nvSpPr>
        <p:spPr/>
        <p:txBody>
          <a:bodyPr/>
          <a:lstStyle/>
          <a:p>
            <a:fld id="{C756EE8C-AC8C-42CA-BE5D-08060A5F8279}" type="slidenum">
              <a:rPr lang="en-US" smtClean="0"/>
              <a:t>‹#›</a:t>
            </a:fld>
            <a:endParaRPr lang="en-US"/>
          </a:p>
        </p:txBody>
      </p:sp>
    </p:spTree>
    <p:extLst>
      <p:ext uri="{BB962C8B-B14F-4D97-AF65-F5344CB8AC3E}">
        <p14:creationId xmlns:p14="http://schemas.microsoft.com/office/powerpoint/2010/main" val="3851931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23E835-92AB-3F47-C48A-ED8F0AEE026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4C89C32-3629-F83D-1EC1-B786CA9AF45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E53FD69-F7DD-EE9A-DEDF-E307CA15922B}"/>
              </a:ext>
            </a:extLst>
          </p:cNvPr>
          <p:cNvSpPr>
            <a:spLocks noGrp="1"/>
          </p:cNvSpPr>
          <p:nvPr>
            <p:ph type="dt" sz="half" idx="10"/>
          </p:nvPr>
        </p:nvSpPr>
        <p:spPr/>
        <p:txBody>
          <a:bodyPr/>
          <a:lstStyle/>
          <a:p>
            <a:fld id="{75F7C9D5-417A-4F22-8D27-1B67A245BE72}" type="datetimeFigureOut">
              <a:rPr lang="en-US" smtClean="0"/>
              <a:t>3/28/2026</a:t>
            </a:fld>
            <a:endParaRPr lang="en-US"/>
          </a:p>
        </p:txBody>
      </p:sp>
      <p:sp>
        <p:nvSpPr>
          <p:cNvPr id="5" name="Footer Placeholder 4">
            <a:extLst>
              <a:ext uri="{FF2B5EF4-FFF2-40B4-BE49-F238E27FC236}">
                <a16:creationId xmlns:a16="http://schemas.microsoft.com/office/drawing/2014/main" id="{E23D2AE7-BFB4-73F2-E936-C82DA87383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B92FD7-3E0D-1235-835B-512232701597}"/>
              </a:ext>
            </a:extLst>
          </p:cNvPr>
          <p:cNvSpPr>
            <a:spLocks noGrp="1"/>
          </p:cNvSpPr>
          <p:nvPr>
            <p:ph type="sldNum" sz="quarter" idx="12"/>
          </p:nvPr>
        </p:nvSpPr>
        <p:spPr/>
        <p:txBody>
          <a:bodyPr/>
          <a:lstStyle/>
          <a:p>
            <a:fld id="{C756EE8C-AC8C-42CA-BE5D-08060A5F8279}" type="slidenum">
              <a:rPr lang="en-US" smtClean="0"/>
              <a:t>‹#›</a:t>
            </a:fld>
            <a:endParaRPr lang="en-US"/>
          </a:p>
        </p:txBody>
      </p:sp>
    </p:spTree>
    <p:extLst>
      <p:ext uri="{BB962C8B-B14F-4D97-AF65-F5344CB8AC3E}">
        <p14:creationId xmlns:p14="http://schemas.microsoft.com/office/powerpoint/2010/main" val="2156204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97AE75-F04B-4771-2DE3-3882654E2D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29BF522-4364-44E5-9FF7-C4FC092F5E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1EB45B-AA74-1BE9-D9FA-3706FB80CE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F7C9D5-417A-4F22-8D27-1B67A245BE72}" type="datetimeFigureOut">
              <a:rPr lang="en-US" smtClean="0"/>
              <a:t>3/28/2026</a:t>
            </a:fld>
            <a:endParaRPr lang="en-US"/>
          </a:p>
        </p:txBody>
      </p:sp>
      <p:sp>
        <p:nvSpPr>
          <p:cNvPr id="5" name="Footer Placeholder 4">
            <a:extLst>
              <a:ext uri="{FF2B5EF4-FFF2-40B4-BE49-F238E27FC236}">
                <a16:creationId xmlns:a16="http://schemas.microsoft.com/office/drawing/2014/main" id="{F0900FE4-E358-0919-6E7B-DDC54BAC53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920D15-BBBD-2F47-9893-16B0029AE3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56EE8C-AC8C-42CA-BE5D-08060A5F8279}" type="slidenum">
              <a:rPr lang="en-US" smtClean="0"/>
              <a:t>‹#›</a:t>
            </a:fld>
            <a:endParaRPr lang="en-US"/>
          </a:p>
        </p:txBody>
      </p:sp>
    </p:spTree>
    <p:extLst>
      <p:ext uri="{BB962C8B-B14F-4D97-AF65-F5344CB8AC3E}">
        <p14:creationId xmlns:p14="http://schemas.microsoft.com/office/powerpoint/2010/main" val="16658497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Layout" Target="../diagrams/layout1.xml"/><Relationship Id="rId7" Type="http://schemas.openxmlformats.org/officeDocument/2006/relationships/image" Target="../media/image7.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54966A0-ADB7-4D0B-8AE5-AACA88BFF9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CF7FE1C-8BC5-4B0C-A2BC-93AB72C90F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bg2">
              <a:alpha val="5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A4C42BAE-007B-895F-341A-29E71CC2FCCD}"/>
              </a:ext>
            </a:extLst>
          </p:cNvPr>
          <p:cNvSpPr>
            <a:spLocks noGrp="1"/>
          </p:cNvSpPr>
          <p:nvPr>
            <p:ph type="ctrTitle"/>
          </p:nvPr>
        </p:nvSpPr>
        <p:spPr>
          <a:xfrm>
            <a:off x="5751094" y="750667"/>
            <a:ext cx="5602705" cy="2678333"/>
          </a:xfrm>
        </p:spPr>
        <p:txBody>
          <a:bodyPr anchor="b">
            <a:normAutofit/>
          </a:bodyPr>
          <a:lstStyle/>
          <a:p>
            <a:pPr algn="l"/>
            <a:r>
              <a:rPr lang="en-GB" sz="4400"/>
              <a:t>Data-Driven Music Trend Analysis &amp; Recommendation System for Spotify</a:t>
            </a:r>
            <a:endParaRPr lang="en-US" sz="4400"/>
          </a:p>
        </p:txBody>
      </p:sp>
      <p:sp>
        <p:nvSpPr>
          <p:cNvPr id="6" name="Subtitle 5">
            <a:extLst>
              <a:ext uri="{FF2B5EF4-FFF2-40B4-BE49-F238E27FC236}">
                <a16:creationId xmlns:a16="http://schemas.microsoft.com/office/drawing/2014/main" id="{9DF1DE9F-F437-C7B1-2D0A-46CB39E8C94C}"/>
              </a:ext>
            </a:extLst>
          </p:cNvPr>
          <p:cNvSpPr>
            <a:spLocks noGrp="1"/>
          </p:cNvSpPr>
          <p:nvPr>
            <p:ph type="subTitle" idx="1"/>
          </p:nvPr>
        </p:nvSpPr>
        <p:spPr>
          <a:xfrm>
            <a:off x="5751095" y="3572614"/>
            <a:ext cx="3888206" cy="607054"/>
          </a:xfrm>
        </p:spPr>
        <p:txBody>
          <a:bodyPr anchor="t">
            <a:normAutofit/>
          </a:bodyPr>
          <a:lstStyle/>
          <a:p>
            <a:pPr algn="l"/>
            <a:r>
              <a:rPr lang="en-GB" dirty="0"/>
              <a:t>Using Python and Power BI</a:t>
            </a:r>
            <a:endParaRPr lang="en-US" dirty="0"/>
          </a:p>
        </p:txBody>
      </p:sp>
      <p:pic>
        <p:nvPicPr>
          <p:cNvPr id="10" name="Picture 9">
            <a:extLst>
              <a:ext uri="{FF2B5EF4-FFF2-40B4-BE49-F238E27FC236}">
                <a16:creationId xmlns:a16="http://schemas.microsoft.com/office/drawing/2014/main" id="{D6A2FEEE-DEEF-1CC9-3F9B-19E071247BC8}"/>
              </a:ext>
            </a:extLst>
          </p:cNvPr>
          <p:cNvPicPr>
            <a:picLocks noChangeAspect="1"/>
          </p:cNvPicPr>
          <p:nvPr/>
        </p:nvPicPr>
        <p:blipFill>
          <a:blip r:embed="rId2"/>
          <a:stretch>
            <a:fillRect/>
          </a:stretch>
        </p:blipFill>
        <p:spPr>
          <a:xfrm>
            <a:off x="1123152" y="680381"/>
            <a:ext cx="2883863" cy="2587752"/>
          </a:xfrm>
          <a:prstGeom prst="rect">
            <a:avLst/>
          </a:prstGeom>
        </p:spPr>
      </p:pic>
      <p:pic>
        <p:nvPicPr>
          <p:cNvPr id="8" name="Picture 7">
            <a:extLst>
              <a:ext uri="{FF2B5EF4-FFF2-40B4-BE49-F238E27FC236}">
                <a16:creationId xmlns:a16="http://schemas.microsoft.com/office/drawing/2014/main" id="{6F156F16-206E-0924-FBE7-8AD012768F3E}"/>
              </a:ext>
            </a:extLst>
          </p:cNvPr>
          <p:cNvPicPr>
            <a:picLocks noChangeAspect="1"/>
          </p:cNvPicPr>
          <p:nvPr/>
        </p:nvPicPr>
        <p:blipFill>
          <a:blip r:embed="rId3"/>
          <a:stretch>
            <a:fillRect/>
          </a:stretch>
        </p:blipFill>
        <p:spPr>
          <a:xfrm>
            <a:off x="969214" y="3589867"/>
            <a:ext cx="3191739" cy="2587542"/>
          </a:xfrm>
          <a:prstGeom prst="rect">
            <a:avLst/>
          </a:prstGeom>
        </p:spPr>
      </p:pic>
      <p:sp>
        <p:nvSpPr>
          <p:cNvPr id="11" name="TextBox 10">
            <a:extLst>
              <a:ext uri="{FF2B5EF4-FFF2-40B4-BE49-F238E27FC236}">
                <a16:creationId xmlns:a16="http://schemas.microsoft.com/office/drawing/2014/main" id="{561BE17A-1EA4-A3CC-21A6-40E1ECC086B6}"/>
              </a:ext>
            </a:extLst>
          </p:cNvPr>
          <p:cNvSpPr txBox="1"/>
          <p:nvPr/>
        </p:nvSpPr>
        <p:spPr>
          <a:xfrm>
            <a:off x="8891779" y="3995003"/>
            <a:ext cx="3047999" cy="369332"/>
          </a:xfrm>
          <a:prstGeom prst="rect">
            <a:avLst/>
          </a:prstGeom>
          <a:noFill/>
        </p:spPr>
        <p:txBody>
          <a:bodyPr wrap="square" rtlCol="0">
            <a:spAutoFit/>
          </a:bodyPr>
          <a:lstStyle/>
          <a:p>
            <a:r>
              <a:rPr lang="en-GB" dirty="0"/>
              <a:t>By Charu Jain</a:t>
            </a:r>
            <a:endParaRPr lang="en-US" dirty="0"/>
          </a:p>
        </p:txBody>
      </p:sp>
    </p:spTree>
    <p:extLst>
      <p:ext uri="{BB962C8B-B14F-4D97-AF65-F5344CB8AC3E}">
        <p14:creationId xmlns:p14="http://schemas.microsoft.com/office/powerpoint/2010/main" val="3964970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F52A529-ADA9-C040-40A3-E3D64B90B583}"/>
              </a:ext>
            </a:extLst>
          </p:cNvPr>
          <p:cNvSpPr>
            <a:spLocks noGrp="1"/>
          </p:cNvSpPr>
          <p:nvPr>
            <p:ph type="title"/>
          </p:nvPr>
        </p:nvSpPr>
        <p:spPr>
          <a:xfrm>
            <a:off x="1137036" y="548640"/>
            <a:ext cx="9543405" cy="1188720"/>
          </a:xfrm>
        </p:spPr>
        <p:txBody>
          <a:bodyPr numCol="1">
            <a:normAutofit/>
          </a:bodyPr>
          <a:lstStyle/>
          <a:p>
            <a:r>
              <a:rPr lang="en-GB" sz="3700" b="1">
                <a:solidFill>
                  <a:schemeClr val="tx1">
                    <a:lumMod val="85000"/>
                    <a:lumOff val="15000"/>
                  </a:schemeClr>
                </a:solidFill>
              </a:rPr>
              <a:t>Problem Statement</a:t>
            </a:r>
            <a:br>
              <a:rPr lang="en-GB" sz="3700" b="1">
                <a:solidFill>
                  <a:schemeClr val="tx1">
                    <a:lumMod val="85000"/>
                    <a:lumOff val="15000"/>
                  </a:schemeClr>
                </a:solidFill>
              </a:rPr>
            </a:br>
            <a:endParaRPr lang="en-US" sz="3700" b="1">
              <a:solidFill>
                <a:schemeClr val="tx1">
                  <a:lumMod val="85000"/>
                  <a:lumOff val="15000"/>
                </a:schemeClr>
              </a:solidFill>
            </a:endParaRPr>
          </a:p>
        </p:txBody>
      </p:sp>
      <p:sp>
        <p:nvSpPr>
          <p:cNvPr id="3" name="Content Placeholder 2">
            <a:extLst>
              <a:ext uri="{FF2B5EF4-FFF2-40B4-BE49-F238E27FC236}">
                <a16:creationId xmlns:a16="http://schemas.microsoft.com/office/drawing/2014/main" id="{694C890A-BDD5-41CA-8B65-A4241BADBF34}"/>
              </a:ext>
            </a:extLst>
          </p:cNvPr>
          <p:cNvSpPr>
            <a:spLocks noGrp="1"/>
          </p:cNvSpPr>
          <p:nvPr>
            <p:ph idx="1"/>
          </p:nvPr>
        </p:nvSpPr>
        <p:spPr>
          <a:xfrm>
            <a:off x="1957987" y="2431765"/>
            <a:ext cx="8276026" cy="3320031"/>
          </a:xfrm>
        </p:spPr>
        <p:txBody>
          <a:bodyPr anchor="ctr">
            <a:normAutofit/>
          </a:bodyPr>
          <a:lstStyle/>
          <a:p>
            <a:pPr marL="0" indent="0">
              <a:buNone/>
            </a:pPr>
            <a:r>
              <a:rPr lang="en-GB" sz="1600" dirty="0">
                <a:solidFill>
                  <a:schemeClr val="tx1">
                    <a:lumMod val="85000"/>
                    <a:lumOff val="15000"/>
                  </a:schemeClr>
                </a:solidFill>
              </a:rPr>
              <a:t>With the rapid growth of digital music platforms, thousands of songs are released every day. However, only a small percentage gain significant popularity, while many remain unnoticed.</a:t>
            </a:r>
          </a:p>
          <a:p>
            <a:pPr marL="0" indent="0">
              <a:buNone/>
            </a:pPr>
            <a:r>
              <a:rPr lang="en-GB" sz="1600" dirty="0">
                <a:solidFill>
                  <a:schemeClr val="tx1">
                    <a:lumMod val="85000"/>
                    <a:lumOff val="15000"/>
                  </a:schemeClr>
                </a:solidFill>
              </a:rPr>
              <a:t>Understanding what drives song popularity is crucial for improving music discovery, enhancing user engagement, and optimizing recommendation systems.</a:t>
            </a:r>
          </a:p>
          <a:p>
            <a:endParaRPr lang="en-GB" sz="1600" dirty="0">
              <a:solidFill>
                <a:schemeClr val="tx1">
                  <a:lumMod val="85000"/>
                  <a:lumOff val="15000"/>
                </a:schemeClr>
              </a:solidFill>
            </a:endParaRPr>
          </a:p>
          <a:p>
            <a:pPr marL="0" indent="0">
              <a:buNone/>
            </a:pPr>
            <a:r>
              <a:rPr lang="en-GB" sz="1600" b="1" dirty="0">
                <a:solidFill>
                  <a:schemeClr val="tx1">
                    <a:lumMod val="85000"/>
                    <a:lumOff val="15000"/>
                  </a:schemeClr>
                </a:solidFill>
              </a:rPr>
              <a:t>Business Objectives :</a:t>
            </a:r>
          </a:p>
          <a:p>
            <a:pPr marL="0" indent="0">
              <a:buNone/>
            </a:pPr>
            <a:r>
              <a:rPr lang="en-GB" sz="1600" dirty="0">
                <a:solidFill>
                  <a:schemeClr val="tx1">
                    <a:lumMod val="85000"/>
                    <a:lumOff val="15000"/>
                  </a:schemeClr>
                </a:solidFill>
              </a:rPr>
              <a:t>• Identify key factors influencing song popularity (streams)</a:t>
            </a:r>
            <a:br>
              <a:rPr lang="en-GB" sz="1600" dirty="0">
                <a:solidFill>
                  <a:schemeClr val="tx1">
                    <a:lumMod val="85000"/>
                    <a:lumOff val="15000"/>
                  </a:schemeClr>
                </a:solidFill>
              </a:rPr>
            </a:br>
            <a:r>
              <a:rPr lang="en-GB" sz="1600" dirty="0">
                <a:solidFill>
                  <a:schemeClr val="tx1">
                    <a:lumMod val="85000"/>
                    <a:lumOff val="15000"/>
                  </a:schemeClr>
                </a:solidFill>
              </a:rPr>
              <a:t>• Analyse the impact of playlists and cross-platform exposure</a:t>
            </a:r>
            <a:br>
              <a:rPr lang="en-GB" sz="1600" dirty="0">
                <a:solidFill>
                  <a:schemeClr val="tx1">
                    <a:lumMod val="85000"/>
                    <a:lumOff val="15000"/>
                  </a:schemeClr>
                </a:solidFill>
              </a:rPr>
            </a:br>
            <a:r>
              <a:rPr lang="en-GB" sz="1600" dirty="0">
                <a:solidFill>
                  <a:schemeClr val="tx1">
                    <a:lumMod val="85000"/>
                    <a:lumOff val="15000"/>
                  </a:schemeClr>
                </a:solidFill>
              </a:rPr>
              <a:t>• Evaluate the role of audio features in song success</a:t>
            </a:r>
            <a:br>
              <a:rPr lang="en-GB" sz="1600" dirty="0">
                <a:solidFill>
                  <a:schemeClr val="tx1">
                    <a:lumMod val="85000"/>
                    <a:lumOff val="15000"/>
                  </a:schemeClr>
                </a:solidFill>
              </a:rPr>
            </a:br>
            <a:r>
              <a:rPr lang="en-GB" sz="1600" dirty="0">
                <a:solidFill>
                  <a:schemeClr val="tx1">
                    <a:lumMod val="85000"/>
                    <a:lumOff val="15000"/>
                  </a:schemeClr>
                </a:solidFill>
              </a:rPr>
              <a:t>• Compare Spotify’s performance with other platforms</a:t>
            </a:r>
            <a:br>
              <a:rPr lang="en-GB" sz="1600" dirty="0">
                <a:solidFill>
                  <a:schemeClr val="tx1">
                    <a:lumMod val="85000"/>
                    <a:lumOff val="15000"/>
                  </a:schemeClr>
                </a:solidFill>
              </a:rPr>
            </a:br>
            <a:r>
              <a:rPr lang="en-GB" sz="1600" dirty="0">
                <a:solidFill>
                  <a:schemeClr val="tx1">
                    <a:lumMod val="85000"/>
                    <a:lumOff val="15000"/>
                  </a:schemeClr>
                </a:solidFill>
              </a:rPr>
              <a:t>• Provide actionable insights to improve trend detection and song promotion</a:t>
            </a:r>
            <a:endParaRPr lang="en-US" sz="1600" dirty="0">
              <a:solidFill>
                <a:schemeClr val="tx1">
                  <a:lumMod val="85000"/>
                  <a:lumOff val="15000"/>
                </a:schemeClr>
              </a:solidFill>
            </a:endParaRPr>
          </a:p>
        </p:txBody>
      </p:sp>
      <p:sp>
        <p:nvSpPr>
          <p:cNvPr id="26" name="Freeform: Shape 25">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7017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D62D0CF-BC8E-B4EF-2DE0-FC1F72321D8D}"/>
              </a:ext>
            </a:extLst>
          </p:cNvPr>
          <p:cNvSpPr>
            <a:spLocks noGrp="1"/>
          </p:cNvSpPr>
          <p:nvPr>
            <p:ph type="title"/>
          </p:nvPr>
        </p:nvSpPr>
        <p:spPr>
          <a:xfrm>
            <a:off x="804672" y="1412489"/>
            <a:ext cx="2871095" cy="2156621"/>
          </a:xfrm>
        </p:spPr>
        <p:txBody>
          <a:bodyPr vert="horz" lIns="91440" tIns="45720" rIns="91440" bIns="45720" rtlCol="0" anchor="t">
            <a:normAutofit/>
          </a:bodyPr>
          <a:lstStyle/>
          <a:p>
            <a:r>
              <a:rPr lang="en-US" sz="3600" kern="1200">
                <a:solidFill>
                  <a:srgbClr val="FFFFFF"/>
                </a:solidFill>
                <a:latin typeface="+mj-lt"/>
                <a:ea typeface="+mj-ea"/>
                <a:cs typeface="+mj-cs"/>
              </a:rPr>
              <a:t>Dataset Overview</a:t>
            </a:r>
          </a:p>
        </p:txBody>
      </p:sp>
      <p:sp>
        <p:nvSpPr>
          <p:cNvPr id="3" name="Content Placeholder 2">
            <a:extLst>
              <a:ext uri="{FF2B5EF4-FFF2-40B4-BE49-F238E27FC236}">
                <a16:creationId xmlns:a16="http://schemas.microsoft.com/office/drawing/2014/main" id="{80C25135-A8C8-1642-B067-93E064216C59}"/>
              </a:ext>
            </a:extLst>
          </p:cNvPr>
          <p:cNvSpPr>
            <a:spLocks noGrp="1"/>
          </p:cNvSpPr>
          <p:nvPr>
            <p:ph idx="1"/>
          </p:nvPr>
        </p:nvSpPr>
        <p:spPr>
          <a:xfrm>
            <a:off x="5198993" y="1412489"/>
            <a:ext cx="2926080" cy="4890340"/>
          </a:xfrm>
        </p:spPr>
        <p:txBody>
          <a:bodyPr vert="horz" lIns="91440" tIns="45720" rIns="91440" bIns="45720" rtlCol="0">
            <a:noAutofit/>
          </a:bodyPr>
          <a:lstStyle/>
          <a:p>
            <a:pPr marL="0" indent="0">
              <a:buNone/>
            </a:pPr>
            <a:r>
              <a:rPr lang="en-US" sz="1200" dirty="0"/>
              <a:t>The dataset consists of two primary tables containing song-level information and audio features.</a:t>
            </a:r>
          </a:p>
          <a:p>
            <a:endParaRPr lang="en-US" sz="1200" dirty="0"/>
          </a:p>
          <a:p>
            <a:pPr marL="0" indent="0">
              <a:buNone/>
            </a:pPr>
            <a:r>
              <a:rPr lang="en-US" sz="1200" b="1" dirty="0"/>
              <a:t>1. </a:t>
            </a:r>
            <a:r>
              <a:rPr lang="en-US" sz="1200" dirty="0"/>
              <a:t>🎵 </a:t>
            </a:r>
            <a:r>
              <a:rPr lang="en-US" sz="1200" b="1" dirty="0"/>
              <a:t>Song Details:</a:t>
            </a:r>
          </a:p>
          <a:p>
            <a:r>
              <a:rPr lang="en-US" sz="1200" dirty="0"/>
              <a:t> Includes metadata such as track name, artist(s), release date</a:t>
            </a:r>
          </a:p>
          <a:p>
            <a:r>
              <a:rPr lang="en-US" sz="1200" dirty="0"/>
              <a:t> Performance metrics: streams, playlists, and chart presence across platforms (Spotify, Apple, Deezer, Shazam)</a:t>
            </a:r>
          </a:p>
          <a:p>
            <a:r>
              <a:rPr lang="en-US" sz="1200" dirty="0"/>
              <a:t> Additional attributes: BPM, key, and mode</a:t>
            </a:r>
          </a:p>
          <a:p>
            <a:endParaRPr lang="en-US" sz="1200" dirty="0"/>
          </a:p>
          <a:p>
            <a:pPr marL="0" indent="0">
              <a:buNone/>
            </a:pPr>
            <a:r>
              <a:rPr lang="en-US" sz="1200" b="1" dirty="0"/>
              <a:t>2. </a:t>
            </a:r>
            <a:r>
              <a:rPr lang="en-US" sz="1200" dirty="0"/>
              <a:t>📊 </a:t>
            </a:r>
            <a:r>
              <a:rPr lang="en-US" sz="1200" b="1" dirty="0"/>
              <a:t>Audio Features (Node Data):</a:t>
            </a:r>
          </a:p>
          <a:p>
            <a:r>
              <a:rPr lang="en-US" sz="1200" dirty="0"/>
              <a:t>Contains musical characteristics of songs</a:t>
            </a:r>
          </a:p>
          <a:p>
            <a:r>
              <a:rPr lang="en-US" sz="1200" dirty="0"/>
              <a:t> Features include: danceability, energy, valence, </a:t>
            </a:r>
            <a:r>
              <a:rPr lang="en-US" sz="1200" dirty="0" err="1"/>
              <a:t>acousticness</a:t>
            </a:r>
            <a:r>
              <a:rPr lang="en-US" sz="1200" dirty="0"/>
              <a:t>, </a:t>
            </a:r>
            <a:r>
              <a:rPr lang="en-US" sz="1200" dirty="0" err="1"/>
              <a:t>instrumentalness</a:t>
            </a:r>
            <a:r>
              <a:rPr lang="en-US" sz="1200" dirty="0"/>
              <a:t>, liveness, and </a:t>
            </a:r>
            <a:r>
              <a:rPr lang="en-US" sz="1200" dirty="0" err="1"/>
              <a:t>speechiness</a:t>
            </a:r>
            <a:endParaRPr lang="en-US" sz="1200" dirty="0"/>
          </a:p>
        </p:txBody>
      </p:sp>
      <p:sp>
        <p:nvSpPr>
          <p:cNvPr id="4" name="TextBox 3">
            <a:extLst>
              <a:ext uri="{FF2B5EF4-FFF2-40B4-BE49-F238E27FC236}">
                <a16:creationId xmlns:a16="http://schemas.microsoft.com/office/drawing/2014/main" id="{32775C79-B9F5-4342-893F-9908419EFDB4}"/>
              </a:ext>
            </a:extLst>
          </p:cNvPr>
          <p:cNvSpPr txBox="1"/>
          <p:nvPr/>
        </p:nvSpPr>
        <p:spPr>
          <a:xfrm>
            <a:off x="8695496" y="2088652"/>
            <a:ext cx="2926080" cy="2960915"/>
          </a:xfrm>
          <a:prstGeom prst="rect">
            <a:avLst/>
          </a:prstGeom>
        </p:spPr>
        <p:txBody>
          <a:bodyPr vert="horz" lIns="91440" tIns="45720" rIns="91440" bIns="45720" rtlCol="0">
            <a:normAutofit/>
          </a:bodyPr>
          <a:lstStyle/>
          <a:p>
            <a:pPr>
              <a:lnSpc>
                <a:spcPct val="90000"/>
              </a:lnSpc>
              <a:spcAft>
                <a:spcPts val="600"/>
              </a:spcAft>
            </a:pPr>
            <a:r>
              <a:rPr lang="en-US" b="1" dirty="0"/>
              <a:t>Dataset Summary:</a:t>
            </a:r>
          </a:p>
          <a:p>
            <a:pPr marL="285750" indent="-228600">
              <a:lnSpc>
                <a:spcPct val="90000"/>
              </a:lnSpc>
              <a:spcAft>
                <a:spcPts val="600"/>
              </a:spcAft>
              <a:buFont typeface="Arial" panose="020B0604020202020204" pitchFamily="34" charset="0"/>
              <a:buChar char="•"/>
            </a:pPr>
            <a:r>
              <a:rPr lang="en-US" dirty="0"/>
              <a:t>~950 songs analyzed</a:t>
            </a:r>
          </a:p>
          <a:p>
            <a:pPr marL="285750" indent="-228600">
              <a:lnSpc>
                <a:spcPct val="90000"/>
              </a:lnSpc>
              <a:spcAft>
                <a:spcPts val="600"/>
              </a:spcAft>
              <a:buFont typeface="Arial" panose="020B0604020202020204" pitchFamily="34" charset="0"/>
              <a:buChar char="•"/>
            </a:pPr>
            <a:r>
              <a:rPr lang="en-US" dirty="0"/>
              <a:t> Multiple platforms considered for cross-platform comparison</a:t>
            </a:r>
          </a:p>
          <a:p>
            <a:pPr marL="285750" indent="-228600">
              <a:lnSpc>
                <a:spcPct val="90000"/>
              </a:lnSpc>
              <a:spcAft>
                <a:spcPts val="600"/>
              </a:spcAft>
              <a:buFont typeface="Arial" panose="020B0604020202020204" pitchFamily="34" charset="0"/>
              <a:buChar char="•"/>
            </a:pPr>
            <a:r>
              <a:rPr lang="en-US" dirty="0"/>
              <a:t> Combines both performance metrics and audio characteristics for deeper analysis</a:t>
            </a:r>
          </a:p>
        </p:txBody>
      </p:sp>
    </p:spTree>
    <p:extLst>
      <p:ext uri="{BB962C8B-B14F-4D97-AF65-F5344CB8AC3E}">
        <p14:creationId xmlns:p14="http://schemas.microsoft.com/office/powerpoint/2010/main" val="3766223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E9C4759-CD73-B20C-1C6A-6955FC335EFD}"/>
              </a:ext>
            </a:extLst>
          </p:cNvPr>
          <p:cNvSpPr>
            <a:spLocks noGrp="1"/>
          </p:cNvSpPr>
          <p:nvPr>
            <p:ph type="title"/>
          </p:nvPr>
        </p:nvSpPr>
        <p:spPr>
          <a:xfrm>
            <a:off x="542696" y="1412488"/>
            <a:ext cx="3194694" cy="4363844"/>
          </a:xfrm>
        </p:spPr>
        <p:txBody>
          <a:bodyPr vert="horz" lIns="91440" tIns="45720" rIns="91440" bIns="45720" rtlCol="0" anchor="t">
            <a:normAutofit/>
          </a:bodyPr>
          <a:lstStyle/>
          <a:p>
            <a:r>
              <a:rPr lang="en-US" sz="3700" kern="1200" dirty="0">
                <a:solidFill>
                  <a:srgbClr val="FFFFFF"/>
                </a:solidFill>
                <a:latin typeface="+mj-lt"/>
                <a:ea typeface="+mj-ea"/>
                <a:cs typeface="+mj-cs"/>
              </a:rPr>
              <a:t>Data Challenges &amp; Preprocessing</a:t>
            </a:r>
            <a:br>
              <a:rPr lang="en-US" sz="3700" kern="1200" dirty="0">
                <a:solidFill>
                  <a:srgbClr val="FFFFFF"/>
                </a:solidFill>
                <a:latin typeface="+mj-lt"/>
                <a:ea typeface="+mj-ea"/>
                <a:cs typeface="+mj-cs"/>
              </a:rPr>
            </a:br>
            <a:br>
              <a:rPr lang="en-US" sz="1700" kern="1200" dirty="0">
                <a:solidFill>
                  <a:srgbClr val="FFFFFF"/>
                </a:solidFill>
                <a:latin typeface="+mj-lt"/>
                <a:ea typeface="+mj-ea"/>
                <a:cs typeface="+mj-cs"/>
              </a:rPr>
            </a:br>
            <a:r>
              <a:rPr lang="en-GB" sz="1700" dirty="0">
                <a:solidFill>
                  <a:schemeClr val="bg1"/>
                </a:solidFill>
              </a:rPr>
              <a:t>During the data preparation phase, </a:t>
            </a:r>
            <a:r>
              <a:rPr lang="en-GB" sz="1700" b="1" dirty="0">
                <a:solidFill>
                  <a:schemeClr val="bg1"/>
                </a:solidFill>
              </a:rPr>
              <a:t>Python</a:t>
            </a:r>
            <a:r>
              <a:rPr lang="en-GB" sz="1700" dirty="0">
                <a:solidFill>
                  <a:schemeClr val="bg1"/>
                </a:solidFill>
              </a:rPr>
              <a:t> is used to clean, validate, and transform the dataset to ensure accuracy and consistency.</a:t>
            </a:r>
            <a:br>
              <a:rPr lang="en-US" sz="1700" dirty="0"/>
            </a:br>
            <a:endParaRPr lang="en-US" sz="1700" kern="1200" dirty="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6EBC36D5-C059-0617-DF40-BD218AE952EF}"/>
              </a:ext>
            </a:extLst>
          </p:cNvPr>
          <p:cNvSpPr>
            <a:spLocks noGrp="1"/>
          </p:cNvSpPr>
          <p:nvPr>
            <p:ph idx="1"/>
          </p:nvPr>
        </p:nvSpPr>
        <p:spPr>
          <a:xfrm>
            <a:off x="4380855" y="1412489"/>
            <a:ext cx="3427283" cy="4363844"/>
          </a:xfrm>
        </p:spPr>
        <p:txBody>
          <a:bodyPr vert="horz" lIns="91440" tIns="45720" rIns="91440" bIns="45720" rtlCol="0">
            <a:normAutofit/>
          </a:bodyPr>
          <a:lstStyle/>
          <a:p>
            <a:pPr marL="0"/>
            <a:endParaRPr lang="en-US" sz="1500" dirty="0"/>
          </a:p>
          <a:p>
            <a:pPr marL="0" indent="0">
              <a:buNone/>
            </a:pPr>
            <a:r>
              <a:rPr lang="en-US" sz="1500" b="1" dirty="0"/>
              <a:t>Key Challenges:</a:t>
            </a:r>
          </a:p>
          <a:p>
            <a:pPr marL="0"/>
            <a:r>
              <a:rPr lang="en-US" sz="1500" dirty="0"/>
              <a:t>Inconsistent </a:t>
            </a:r>
            <a:r>
              <a:rPr lang="en-US" sz="1500" dirty="0" err="1"/>
              <a:t>Song_IDs</a:t>
            </a:r>
            <a:r>
              <a:rPr lang="en-US" sz="1500" dirty="0"/>
              <a:t> across datasets (missing and extra keys)</a:t>
            </a:r>
          </a:p>
          <a:p>
            <a:pPr marL="0"/>
            <a:r>
              <a:rPr lang="en-US" sz="1500" dirty="0"/>
              <a:t>Presence of duplicate records with same </a:t>
            </a:r>
            <a:r>
              <a:rPr lang="en-US" sz="1500" dirty="0" err="1"/>
              <a:t>Song_ID</a:t>
            </a:r>
            <a:r>
              <a:rPr lang="en-US" sz="1500" dirty="0"/>
              <a:t> but different song details</a:t>
            </a:r>
          </a:p>
          <a:p>
            <a:pPr marL="0"/>
            <a:r>
              <a:rPr lang="en-US" sz="1500" dirty="0"/>
              <a:t>Missing values in audio features and chart-related columns</a:t>
            </a:r>
          </a:p>
          <a:p>
            <a:pPr marL="0"/>
            <a:r>
              <a:rPr lang="en-US" sz="1500" dirty="0"/>
              <a:t>Separate columns for release year, month, and day</a:t>
            </a:r>
          </a:p>
          <a:p>
            <a:pPr marL="0"/>
            <a:r>
              <a:rPr lang="en-US" sz="1500" dirty="0"/>
              <a:t>Handling incorrect datatype</a:t>
            </a:r>
          </a:p>
          <a:p>
            <a:pPr marL="0"/>
            <a:endParaRPr lang="en-US" sz="1500" dirty="0"/>
          </a:p>
        </p:txBody>
      </p:sp>
      <p:cxnSp>
        <p:nvCxnSpPr>
          <p:cNvPr id="12" name="Straight Connector 11">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C09AB2D-6065-421B-83AD-CBAAC8E897C0}"/>
              </a:ext>
            </a:extLst>
          </p:cNvPr>
          <p:cNvSpPr txBox="1"/>
          <p:nvPr/>
        </p:nvSpPr>
        <p:spPr>
          <a:xfrm>
            <a:off x="8451604" y="1412489"/>
            <a:ext cx="3197701" cy="4363844"/>
          </a:xfrm>
          <a:prstGeom prst="rect">
            <a:avLst/>
          </a:prstGeom>
        </p:spPr>
        <p:txBody>
          <a:bodyPr vert="horz" lIns="91440" tIns="45720" rIns="91440" bIns="45720" rtlCol="0">
            <a:normAutofit/>
          </a:bodyPr>
          <a:lstStyle/>
          <a:p>
            <a:pPr>
              <a:lnSpc>
                <a:spcPct val="90000"/>
              </a:lnSpc>
              <a:spcBef>
                <a:spcPts val="1000"/>
              </a:spcBef>
              <a:buFont typeface="Arial" panose="020B0604020202020204" pitchFamily="34" charset="0"/>
            </a:pPr>
            <a:r>
              <a:rPr lang="en-US" sz="1500" b="1" dirty="0"/>
              <a:t>Preprocessing Steps:</a:t>
            </a:r>
          </a:p>
          <a:p>
            <a:pPr indent="-228600">
              <a:lnSpc>
                <a:spcPct val="90000"/>
              </a:lnSpc>
              <a:spcBef>
                <a:spcPts val="1000"/>
              </a:spcBef>
              <a:buFont typeface="Arial" panose="020B0604020202020204" pitchFamily="34" charset="0"/>
              <a:buChar char="•"/>
            </a:pPr>
            <a:r>
              <a:rPr lang="en-US" sz="1500" dirty="0"/>
              <a:t>Performed data validation and resolved key mismatches before merging datasets</a:t>
            </a:r>
          </a:p>
          <a:p>
            <a:pPr indent="-228600">
              <a:lnSpc>
                <a:spcPct val="90000"/>
              </a:lnSpc>
              <a:spcBef>
                <a:spcPts val="1000"/>
              </a:spcBef>
              <a:buFont typeface="Arial" panose="020B0604020202020204" pitchFamily="34" charset="0"/>
              <a:buChar char="•"/>
            </a:pPr>
            <a:r>
              <a:rPr lang="en-US" sz="1500" dirty="0"/>
              <a:t>Handled duplicate records by identifying meaningful vs true duplicates</a:t>
            </a:r>
          </a:p>
          <a:p>
            <a:pPr indent="-228600">
              <a:lnSpc>
                <a:spcPct val="90000"/>
              </a:lnSpc>
              <a:spcBef>
                <a:spcPts val="1000"/>
              </a:spcBef>
              <a:buFont typeface="Arial" panose="020B0604020202020204" pitchFamily="34" charset="0"/>
              <a:buChar char="•"/>
            </a:pPr>
            <a:r>
              <a:rPr lang="en-US" sz="1500" dirty="0"/>
              <a:t>Managed missing values using appropriate strategies (imputation / retention based on relevance)</a:t>
            </a:r>
          </a:p>
          <a:p>
            <a:pPr indent="-228600">
              <a:lnSpc>
                <a:spcPct val="90000"/>
              </a:lnSpc>
              <a:spcBef>
                <a:spcPts val="1000"/>
              </a:spcBef>
              <a:buFont typeface="Arial" panose="020B0604020202020204" pitchFamily="34" charset="0"/>
              <a:buChar char="•"/>
            </a:pPr>
            <a:r>
              <a:rPr lang="en-US" sz="1500" dirty="0"/>
              <a:t>Combined year, month, and day into a single ‘</a:t>
            </a:r>
            <a:r>
              <a:rPr lang="en-US" sz="1500" dirty="0" err="1"/>
              <a:t>release_date</a:t>
            </a:r>
            <a:r>
              <a:rPr lang="en-US" sz="1500" dirty="0"/>
              <a:t>’ column</a:t>
            </a:r>
          </a:p>
          <a:p>
            <a:pPr indent="-228600">
              <a:lnSpc>
                <a:spcPct val="90000"/>
              </a:lnSpc>
              <a:spcBef>
                <a:spcPts val="1000"/>
              </a:spcBef>
              <a:buFont typeface="Arial" panose="020B0604020202020204" pitchFamily="34" charset="0"/>
              <a:buChar char="•"/>
            </a:pPr>
            <a:r>
              <a:rPr lang="en-US" sz="1500" dirty="0"/>
              <a:t>Ensured correct data types for analysis</a:t>
            </a:r>
          </a:p>
          <a:p>
            <a:pPr indent="-228600">
              <a:lnSpc>
                <a:spcPct val="90000"/>
              </a:lnSpc>
              <a:buFont typeface="Arial" panose="020B0604020202020204" pitchFamily="34" charset="0"/>
              <a:buChar char="•"/>
            </a:pPr>
            <a:endParaRPr lang="en-US" sz="1600" dirty="0"/>
          </a:p>
        </p:txBody>
      </p:sp>
    </p:spTree>
    <p:extLst>
      <p:ext uri="{BB962C8B-B14F-4D97-AF65-F5344CB8AC3E}">
        <p14:creationId xmlns:p14="http://schemas.microsoft.com/office/powerpoint/2010/main" val="2760436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E07BA5-AF46-1EAE-07C7-167711CBEDD6}"/>
              </a:ext>
            </a:extLst>
          </p:cNvPr>
          <p:cNvSpPr>
            <a:spLocks noGrp="1"/>
          </p:cNvSpPr>
          <p:nvPr>
            <p:ph idx="1"/>
          </p:nvPr>
        </p:nvSpPr>
        <p:spPr>
          <a:xfrm>
            <a:off x="674914" y="3175282"/>
            <a:ext cx="8392886" cy="2256518"/>
          </a:xfrm>
        </p:spPr>
        <p:txBody>
          <a:bodyPr>
            <a:normAutofit/>
          </a:bodyPr>
          <a:lstStyle/>
          <a:p>
            <a:pPr marL="0" indent="0">
              <a:lnSpc>
                <a:spcPct val="150000"/>
              </a:lnSpc>
              <a:buNone/>
            </a:pPr>
            <a:r>
              <a:rPr lang="en-GB" sz="1500" b="1" dirty="0"/>
              <a:t>Key Steps:</a:t>
            </a:r>
            <a:br>
              <a:rPr lang="en-GB" sz="1500" dirty="0"/>
            </a:br>
            <a:r>
              <a:rPr lang="en-GB" sz="1500" dirty="0"/>
              <a:t>• Merged Song Details and Audio Features datasets using </a:t>
            </a:r>
            <a:r>
              <a:rPr lang="en-GB" sz="1500" dirty="0" err="1"/>
              <a:t>Song_ID</a:t>
            </a:r>
            <a:r>
              <a:rPr lang="en-GB" sz="1500" dirty="0"/>
              <a:t>.</a:t>
            </a:r>
            <a:br>
              <a:rPr lang="en-GB" sz="1500" dirty="0"/>
            </a:br>
            <a:r>
              <a:rPr lang="en-GB" sz="1500" dirty="0"/>
              <a:t>• Created a unified </a:t>
            </a:r>
            <a:r>
              <a:rPr lang="en-GB" sz="1500" b="1" dirty="0"/>
              <a:t>'</a:t>
            </a:r>
            <a:r>
              <a:rPr lang="en-GB" sz="1500" b="1" dirty="0" err="1"/>
              <a:t>release_date</a:t>
            </a:r>
            <a:r>
              <a:rPr lang="en-GB" sz="1500" b="1" dirty="0"/>
              <a:t>' </a:t>
            </a:r>
            <a:r>
              <a:rPr lang="en-GB" sz="1500" dirty="0"/>
              <a:t>column for time-based analysis.</a:t>
            </a:r>
            <a:br>
              <a:rPr lang="en-GB" sz="1500" dirty="0"/>
            </a:br>
            <a:r>
              <a:rPr lang="en-GB" sz="1500" dirty="0"/>
              <a:t>• Applied log transformation on streams </a:t>
            </a:r>
            <a:r>
              <a:rPr lang="en-GB" sz="1500" b="1" dirty="0"/>
              <a:t>(</a:t>
            </a:r>
            <a:r>
              <a:rPr lang="en-GB" sz="1500" b="1" dirty="0" err="1"/>
              <a:t>log_streams</a:t>
            </a:r>
            <a:r>
              <a:rPr lang="en-GB" sz="1500" b="1" dirty="0"/>
              <a:t>) </a:t>
            </a:r>
            <a:r>
              <a:rPr lang="en-GB" sz="1500" dirty="0"/>
              <a:t>to handle skewed distribution.</a:t>
            </a:r>
            <a:br>
              <a:rPr lang="en-GB" sz="1500" dirty="0"/>
            </a:br>
            <a:r>
              <a:rPr lang="en-GB" sz="1500" dirty="0"/>
              <a:t>• Created a</a:t>
            </a:r>
            <a:r>
              <a:rPr lang="en-GB" sz="1500" b="1" dirty="0"/>
              <a:t> 'trending' </a:t>
            </a:r>
            <a:r>
              <a:rPr lang="en-GB" sz="1500" dirty="0"/>
              <a:t>flag to classify songs based on popularity.</a:t>
            </a:r>
            <a:br>
              <a:rPr lang="en-GB" sz="1500" dirty="0"/>
            </a:br>
            <a:r>
              <a:rPr lang="en-GB" sz="1500" dirty="0"/>
              <a:t>• Ensured final dataset was structured for analysis and visualization.</a:t>
            </a:r>
            <a:endParaRPr lang="en-US" sz="1500" dirty="0"/>
          </a:p>
        </p:txBody>
      </p:sp>
      <p:sp>
        <p:nvSpPr>
          <p:cNvPr id="6" name="Title 5">
            <a:extLst>
              <a:ext uri="{FF2B5EF4-FFF2-40B4-BE49-F238E27FC236}">
                <a16:creationId xmlns:a16="http://schemas.microsoft.com/office/drawing/2014/main" id="{FFBF9109-39CC-B5B1-4E47-58A8FA1BF314}"/>
              </a:ext>
            </a:extLst>
          </p:cNvPr>
          <p:cNvSpPr txBox="1">
            <a:spLocks noGrp="1"/>
          </p:cNvSpPr>
          <p:nvPr>
            <p:ph type="title"/>
          </p:nvPr>
        </p:nvSpPr>
        <p:spPr>
          <a:xfrm>
            <a:off x="838200" y="675085"/>
            <a:ext cx="10515600" cy="705642"/>
          </a:xfrm>
          <a:prstGeom prst="rect">
            <a:avLst/>
          </a:prstGeom>
          <a:noFill/>
        </p:spPr>
        <p:txBody>
          <a:bodyPr wrap="square" rtlCol="0">
            <a:spAutoFit/>
          </a:bodyPr>
          <a:lstStyle/>
          <a:p>
            <a:pPr algn="ctr"/>
            <a:r>
              <a:rPr lang="en-US" dirty="0"/>
              <a:t>Data Preparation &amp; Feature Engineering</a:t>
            </a:r>
          </a:p>
        </p:txBody>
      </p:sp>
      <p:sp>
        <p:nvSpPr>
          <p:cNvPr id="5" name="Content Placeholder 2">
            <a:extLst>
              <a:ext uri="{FF2B5EF4-FFF2-40B4-BE49-F238E27FC236}">
                <a16:creationId xmlns:a16="http://schemas.microsoft.com/office/drawing/2014/main" id="{B6DF99E5-455C-B2F0-73B2-414CE2014604}"/>
              </a:ext>
            </a:extLst>
          </p:cNvPr>
          <p:cNvSpPr txBox="1">
            <a:spLocks/>
          </p:cNvSpPr>
          <p:nvPr/>
        </p:nvSpPr>
        <p:spPr>
          <a:xfrm>
            <a:off x="555170" y="1803344"/>
            <a:ext cx="10874829" cy="112825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GB" sz="1600" dirty="0"/>
              <a:t>After cleaning the data, additional features were created to enhance analysis and extract deeper insights. These features enabled better trend analysis over time, improved interpretability of highly skewed data and allowed classification of songs into trending vs non-trending. It also help to prepared data for effective visualization in Power BI</a:t>
            </a:r>
            <a:endParaRPr lang="en-US" sz="1500" dirty="0"/>
          </a:p>
        </p:txBody>
      </p:sp>
    </p:spTree>
    <p:extLst>
      <p:ext uri="{BB962C8B-B14F-4D97-AF65-F5344CB8AC3E}">
        <p14:creationId xmlns:p14="http://schemas.microsoft.com/office/powerpoint/2010/main" val="522623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151F3819-4351-4730-8E02-40BF286E0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DAE5130-F148-4C5A-A6CB-48165DC767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12191996" cy="6858000"/>
          </a:xfrm>
          <a:prstGeom prst="rect">
            <a:avLst/>
          </a:pr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077DE5-E8BE-0E72-FA53-42C2EFF7A760}"/>
              </a:ext>
            </a:extLst>
          </p:cNvPr>
          <p:cNvSpPr>
            <a:spLocks noGrp="1"/>
          </p:cNvSpPr>
          <p:nvPr>
            <p:ph type="title"/>
          </p:nvPr>
        </p:nvSpPr>
        <p:spPr>
          <a:xfrm>
            <a:off x="4831687" y="279400"/>
            <a:ext cx="6382413" cy="482600"/>
          </a:xfrm>
        </p:spPr>
        <p:txBody>
          <a:bodyPr>
            <a:normAutofit fontScale="90000"/>
          </a:bodyPr>
          <a:lstStyle/>
          <a:p>
            <a:r>
              <a:rPr lang="en-GB" dirty="0"/>
              <a:t>Exploratory Data Analysis</a:t>
            </a:r>
            <a:endParaRPr lang="en-US" dirty="0"/>
          </a:p>
        </p:txBody>
      </p:sp>
      <p:pic>
        <p:nvPicPr>
          <p:cNvPr id="5" name="Picture 4">
            <a:extLst>
              <a:ext uri="{FF2B5EF4-FFF2-40B4-BE49-F238E27FC236}">
                <a16:creationId xmlns:a16="http://schemas.microsoft.com/office/drawing/2014/main" id="{7C3E8746-3317-05D8-2A72-89F5C89B3A1A}"/>
              </a:ext>
            </a:extLst>
          </p:cNvPr>
          <p:cNvPicPr>
            <a:picLocks noChangeAspect="1"/>
          </p:cNvPicPr>
          <p:nvPr/>
        </p:nvPicPr>
        <p:blipFill>
          <a:blip r:embed="rId2"/>
          <a:srcRect r="12510" b="-4"/>
          <a:stretch>
            <a:fillRect/>
          </a:stretch>
        </p:blipFill>
        <p:spPr>
          <a:xfrm>
            <a:off x="9" y="-7"/>
            <a:ext cx="4127491" cy="3493830"/>
          </a:xfrm>
          <a:custGeom>
            <a:avLst/>
            <a:gdLst/>
            <a:ahLst/>
            <a:cxnLst/>
            <a:rect l="l" t="t" r="r" b="b"/>
            <a:pathLst>
              <a:path w="3832765" h="3429000">
                <a:moveTo>
                  <a:pt x="0" y="0"/>
                </a:moveTo>
                <a:lnTo>
                  <a:pt x="3647227" y="0"/>
                </a:lnTo>
                <a:lnTo>
                  <a:pt x="3639550" y="38855"/>
                </a:lnTo>
                <a:cubicBezTo>
                  <a:pt x="3636650" y="54773"/>
                  <a:pt x="3634345" y="68219"/>
                  <a:pt x="3632595" y="77266"/>
                </a:cubicBezTo>
                <a:cubicBezTo>
                  <a:pt x="3626536" y="79781"/>
                  <a:pt x="3626501" y="84794"/>
                  <a:pt x="3629067" y="94172"/>
                </a:cubicBezTo>
                <a:cubicBezTo>
                  <a:pt x="3627578" y="163765"/>
                  <a:pt x="3557526" y="242917"/>
                  <a:pt x="3584106" y="259179"/>
                </a:cubicBezTo>
                <a:cubicBezTo>
                  <a:pt x="3583700" y="275569"/>
                  <a:pt x="3606846" y="331307"/>
                  <a:pt x="3599938" y="369872"/>
                </a:cubicBezTo>
                <a:cubicBezTo>
                  <a:pt x="3585388" y="383902"/>
                  <a:pt x="3596928" y="466732"/>
                  <a:pt x="3595032" y="485807"/>
                </a:cubicBezTo>
                <a:cubicBezTo>
                  <a:pt x="3585943" y="488250"/>
                  <a:pt x="3592517" y="521115"/>
                  <a:pt x="3579338" y="516547"/>
                </a:cubicBezTo>
                <a:cubicBezTo>
                  <a:pt x="3573622" y="519766"/>
                  <a:pt x="3573367" y="529229"/>
                  <a:pt x="3578241" y="534293"/>
                </a:cubicBezTo>
                <a:cubicBezTo>
                  <a:pt x="3576722" y="545474"/>
                  <a:pt x="3569890" y="551581"/>
                  <a:pt x="3577790" y="563888"/>
                </a:cubicBezTo>
                <a:cubicBezTo>
                  <a:pt x="3576008" y="579306"/>
                  <a:pt x="3555937" y="592508"/>
                  <a:pt x="3568362" y="606614"/>
                </a:cubicBezTo>
                <a:cubicBezTo>
                  <a:pt x="3548060" y="617296"/>
                  <a:pt x="3566748" y="665721"/>
                  <a:pt x="3562360" y="696544"/>
                </a:cubicBezTo>
                <a:cubicBezTo>
                  <a:pt x="3540870" y="749643"/>
                  <a:pt x="3563552" y="814684"/>
                  <a:pt x="3525923" y="839698"/>
                </a:cubicBezTo>
                <a:cubicBezTo>
                  <a:pt x="3535181" y="895191"/>
                  <a:pt x="3521523" y="937628"/>
                  <a:pt x="3518879" y="980382"/>
                </a:cubicBezTo>
                <a:cubicBezTo>
                  <a:pt x="3513995" y="999599"/>
                  <a:pt x="3527321" y="1012505"/>
                  <a:pt x="3515302" y="1028426"/>
                </a:cubicBezTo>
                <a:cubicBezTo>
                  <a:pt x="3518279" y="1066840"/>
                  <a:pt x="3496325" y="1148092"/>
                  <a:pt x="3536738" y="1210870"/>
                </a:cubicBezTo>
                <a:lnTo>
                  <a:pt x="3591526" y="1380154"/>
                </a:lnTo>
                <a:cubicBezTo>
                  <a:pt x="3610626" y="1430030"/>
                  <a:pt x="3618402" y="1446676"/>
                  <a:pt x="3627364" y="1475232"/>
                </a:cubicBezTo>
                <a:cubicBezTo>
                  <a:pt x="3630584" y="1500131"/>
                  <a:pt x="3621205" y="1517302"/>
                  <a:pt x="3629315" y="1551492"/>
                </a:cubicBezTo>
                <a:cubicBezTo>
                  <a:pt x="3627771" y="1569255"/>
                  <a:pt x="3642142" y="1604305"/>
                  <a:pt x="3642065" y="1616703"/>
                </a:cubicBezTo>
                <a:cubicBezTo>
                  <a:pt x="3644190" y="1615867"/>
                  <a:pt x="3646228" y="1622618"/>
                  <a:pt x="3644837" y="1625880"/>
                </a:cubicBezTo>
                <a:cubicBezTo>
                  <a:pt x="3644873" y="1682450"/>
                  <a:pt x="3660396" y="1644242"/>
                  <a:pt x="3653089" y="1681195"/>
                </a:cubicBezTo>
                <a:cubicBezTo>
                  <a:pt x="3653672" y="1703685"/>
                  <a:pt x="3678100" y="1693642"/>
                  <a:pt x="3669268" y="1720463"/>
                </a:cubicBezTo>
                <a:cubicBezTo>
                  <a:pt x="3672709" y="1747068"/>
                  <a:pt x="3683894" y="1760489"/>
                  <a:pt x="3680555" y="1787683"/>
                </a:cubicBezTo>
                <a:cubicBezTo>
                  <a:pt x="3683815" y="1812577"/>
                  <a:pt x="3690283" y="1832624"/>
                  <a:pt x="3690144" y="1854892"/>
                </a:cubicBezTo>
                <a:cubicBezTo>
                  <a:pt x="3694176" y="1862246"/>
                  <a:pt x="3696364" y="1869845"/>
                  <a:pt x="3692847" y="1879545"/>
                </a:cubicBezTo>
                <a:lnTo>
                  <a:pt x="3705899" y="1950159"/>
                </a:lnTo>
                <a:cubicBezTo>
                  <a:pt x="3705811" y="1963349"/>
                  <a:pt x="3696947" y="1944883"/>
                  <a:pt x="3698529" y="1956744"/>
                </a:cubicBezTo>
                <a:cubicBezTo>
                  <a:pt x="3704089" y="1967128"/>
                  <a:pt x="3694319" y="1972691"/>
                  <a:pt x="3700670" y="1983128"/>
                </a:cubicBezTo>
                <a:cubicBezTo>
                  <a:pt x="3707325" y="1975376"/>
                  <a:pt x="3704290" y="2019261"/>
                  <a:pt x="3710819" y="2016104"/>
                </a:cubicBezTo>
                <a:cubicBezTo>
                  <a:pt x="3703899" y="2032806"/>
                  <a:pt x="3716180" y="2041037"/>
                  <a:pt x="3716263" y="2057358"/>
                </a:cubicBezTo>
                <a:cubicBezTo>
                  <a:pt x="3714181" y="2066395"/>
                  <a:pt x="3708419" y="2088153"/>
                  <a:pt x="3713451" y="2092532"/>
                </a:cubicBezTo>
                <a:cubicBezTo>
                  <a:pt x="3702969" y="2134723"/>
                  <a:pt x="3713408" y="2112089"/>
                  <a:pt x="3712825" y="2145702"/>
                </a:cubicBezTo>
                <a:cubicBezTo>
                  <a:pt x="3711099" y="2175441"/>
                  <a:pt x="3721651" y="2170882"/>
                  <a:pt x="3710370" y="2205762"/>
                </a:cubicBezTo>
                <a:cubicBezTo>
                  <a:pt x="3706686" y="2213193"/>
                  <a:pt x="3707151" y="2225380"/>
                  <a:pt x="3711407" y="2232983"/>
                </a:cubicBezTo>
                <a:cubicBezTo>
                  <a:pt x="3712139" y="2234292"/>
                  <a:pt x="3712959" y="2235411"/>
                  <a:pt x="3713840" y="2236309"/>
                </a:cubicBezTo>
                <a:cubicBezTo>
                  <a:pt x="3705311" y="2258197"/>
                  <a:pt x="3712810" y="2264929"/>
                  <a:pt x="3706371" y="2276362"/>
                </a:cubicBezTo>
                <a:cubicBezTo>
                  <a:pt x="3707813" y="2303313"/>
                  <a:pt x="3719116" y="2319717"/>
                  <a:pt x="3713548" y="2330164"/>
                </a:cubicBezTo>
                <a:cubicBezTo>
                  <a:pt x="3716700" y="2349548"/>
                  <a:pt x="3722681" y="2379563"/>
                  <a:pt x="3725281" y="2392669"/>
                </a:cubicBezTo>
                <a:cubicBezTo>
                  <a:pt x="3729704" y="2396182"/>
                  <a:pt x="3728251" y="2402767"/>
                  <a:pt x="3729156" y="2408800"/>
                </a:cubicBezTo>
                <a:cubicBezTo>
                  <a:pt x="3733288" y="2414878"/>
                  <a:pt x="3733591" y="2443086"/>
                  <a:pt x="3731527" y="2451803"/>
                </a:cubicBezTo>
                <a:lnTo>
                  <a:pt x="3736702" y="2478754"/>
                </a:lnTo>
                <a:cubicBezTo>
                  <a:pt x="3728550" y="2525478"/>
                  <a:pt x="3760386" y="2545889"/>
                  <a:pt x="3730701" y="2582746"/>
                </a:cubicBezTo>
                <a:cubicBezTo>
                  <a:pt x="3730821" y="2599785"/>
                  <a:pt x="3740171" y="2587220"/>
                  <a:pt x="3740291" y="2604259"/>
                </a:cubicBezTo>
                <a:cubicBezTo>
                  <a:pt x="3743848" y="2626667"/>
                  <a:pt x="3731064" y="2615985"/>
                  <a:pt x="3745312" y="2636571"/>
                </a:cubicBezTo>
                <a:cubicBezTo>
                  <a:pt x="3741774" y="2677126"/>
                  <a:pt x="3756230" y="2698390"/>
                  <a:pt x="3745913" y="2734956"/>
                </a:cubicBezTo>
                <a:cubicBezTo>
                  <a:pt x="3751211" y="2727858"/>
                  <a:pt x="3750682" y="2814031"/>
                  <a:pt x="3749695" y="2825841"/>
                </a:cubicBezTo>
                <a:cubicBezTo>
                  <a:pt x="3749942" y="2850991"/>
                  <a:pt x="3747920" y="2877551"/>
                  <a:pt x="3747393" y="2915771"/>
                </a:cubicBezTo>
                <a:cubicBezTo>
                  <a:pt x="3750755" y="2949567"/>
                  <a:pt x="3739923" y="2933903"/>
                  <a:pt x="3751447" y="2964244"/>
                </a:cubicBezTo>
                <a:cubicBezTo>
                  <a:pt x="3751616" y="2982921"/>
                  <a:pt x="3749341" y="3024704"/>
                  <a:pt x="3748411" y="3027834"/>
                </a:cubicBezTo>
                <a:lnTo>
                  <a:pt x="3748938" y="3029071"/>
                </a:lnTo>
                <a:cubicBezTo>
                  <a:pt x="3750070" y="3034527"/>
                  <a:pt x="3749794" y="3037871"/>
                  <a:pt x="3748894" y="3040270"/>
                </a:cubicBezTo>
                <a:lnTo>
                  <a:pt x="3747334" y="3042558"/>
                </a:lnTo>
                <a:cubicBezTo>
                  <a:pt x="3747162" y="3045102"/>
                  <a:pt x="3746989" y="3047646"/>
                  <a:pt x="3746817" y="3050190"/>
                </a:cubicBezTo>
                <a:lnTo>
                  <a:pt x="3744491" y="3065086"/>
                </a:lnTo>
                <a:lnTo>
                  <a:pt x="3745283" y="3068003"/>
                </a:lnTo>
                <a:lnTo>
                  <a:pt x="3743686" y="3090671"/>
                </a:lnTo>
                <a:lnTo>
                  <a:pt x="3744246" y="3091046"/>
                </a:lnTo>
                <a:cubicBezTo>
                  <a:pt x="3745467" y="3092400"/>
                  <a:pt x="3746300" y="3094375"/>
                  <a:pt x="3746343" y="3097703"/>
                </a:cubicBezTo>
                <a:cubicBezTo>
                  <a:pt x="3754816" y="3093496"/>
                  <a:pt x="3749641" y="3100105"/>
                  <a:pt x="3749018" y="3110287"/>
                </a:cubicBezTo>
                <a:cubicBezTo>
                  <a:pt x="3762039" y="3106026"/>
                  <a:pt x="3755113" y="3134407"/>
                  <a:pt x="3762400" y="3140063"/>
                </a:cubicBezTo>
                <a:cubicBezTo>
                  <a:pt x="3761648" y="3147641"/>
                  <a:pt x="3761093" y="3155576"/>
                  <a:pt x="3760798" y="3163705"/>
                </a:cubicBezTo>
                <a:cubicBezTo>
                  <a:pt x="3760796" y="3165306"/>
                  <a:pt x="3760795" y="3166906"/>
                  <a:pt x="3760793" y="3168507"/>
                </a:cubicBezTo>
                <a:lnTo>
                  <a:pt x="3760925" y="3168621"/>
                </a:lnTo>
                <a:cubicBezTo>
                  <a:pt x="3761203" y="3169703"/>
                  <a:pt x="3761307" y="3171298"/>
                  <a:pt x="3761180" y="3173722"/>
                </a:cubicBezTo>
                <a:lnTo>
                  <a:pt x="3760784" y="3177263"/>
                </a:lnTo>
                <a:lnTo>
                  <a:pt x="3760776" y="3186578"/>
                </a:lnTo>
                <a:lnTo>
                  <a:pt x="3761644" y="3189908"/>
                </a:lnTo>
                <a:cubicBezTo>
                  <a:pt x="3767239" y="3200999"/>
                  <a:pt x="3784386" y="3192521"/>
                  <a:pt x="3778090" y="3215620"/>
                </a:cubicBezTo>
                <a:cubicBezTo>
                  <a:pt x="3782929" y="3238942"/>
                  <a:pt x="3794645" y="3248487"/>
                  <a:pt x="3792860" y="3273934"/>
                </a:cubicBezTo>
                <a:cubicBezTo>
                  <a:pt x="3797428" y="3295746"/>
                  <a:pt x="3804878" y="3312408"/>
                  <a:pt x="3805965" y="3332638"/>
                </a:cubicBezTo>
                <a:cubicBezTo>
                  <a:pt x="3810325" y="3338359"/>
                  <a:pt x="3812891" y="3344736"/>
                  <a:pt x="3809972" y="3354360"/>
                </a:cubicBezTo>
                <a:cubicBezTo>
                  <a:pt x="3815463" y="3373933"/>
                  <a:pt x="3822569" y="3374995"/>
                  <a:pt x="3820366" y="3391014"/>
                </a:cubicBezTo>
                <a:cubicBezTo>
                  <a:pt x="3832550" y="3396219"/>
                  <a:pt x="3828906" y="3399305"/>
                  <a:pt x="3827143" y="3406519"/>
                </a:cubicBezTo>
                <a:cubicBezTo>
                  <a:pt x="3827126" y="3406819"/>
                  <a:pt x="3827110" y="3407118"/>
                  <a:pt x="3827093" y="3407418"/>
                </a:cubicBezTo>
                <a:lnTo>
                  <a:pt x="3828820" y="3408091"/>
                </a:lnTo>
                <a:lnTo>
                  <a:pt x="3830121" y="3410929"/>
                </a:lnTo>
                <a:lnTo>
                  <a:pt x="3831461" y="3420084"/>
                </a:lnTo>
                <a:cubicBezTo>
                  <a:pt x="3831507" y="3421309"/>
                  <a:pt x="3831554" y="3422534"/>
                  <a:pt x="3831600" y="3423759"/>
                </a:cubicBezTo>
                <a:cubicBezTo>
                  <a:pt x="3831831" y="3426205"/>
                  <a:pt x="3832160" y="3427719"/>
                  <a:pt x="3832580" y="3428642"/>
                </a:cubicBezTo>
                <a:cubicBezTo>
                  <a:pt x="3832626" y="3428658"/>
                  <a:pt x="3832672" y="3428675"/>
                  <a:pt x="3832719" y="3428690"/>
                </a:cubicBezTo>
                <a:lnTo>
                  <a:pt x="3832765" y="3429000"/>
                </a:lnTo>
                <a:lnTo>
                  <a:pt x="0" y="3429000"/>
                </a:lnTo>
                <a:close/>
              </a:path>
            </a:pathLst>
          </a:custGeom>
        </p:spPr>
      </p:pic>
      <p:sp>
        <p:nvSpPr>
          <p:cNvPr id="3" name="Content Placeholder 2">
            <a:extLst>
              <a:ext uri="{FF2B5EF4-FFF2-40B4-BE49-F238E27FC236}">
                <a16:creationId xmlns:a16="http://schemas.microsoft.com/office/drawing/2014/main" id="{76B53B82-3D1F-EA0E-EDCE-EE261A3676AF}"/>
              </a:ext>
            </a:extLst>
          </p:cNvPr>
          <p:cNvSpPr>
            <a:spLocks noGrp="1"/>
          </p:cNvSpPr>
          <p:nvPr>
            <p:ph idx="1"/>
          </p:nvPr>
        </p:nvSpPr>
        <p:spPr>
          <a:xfrm>
            <a:off x="4517688" y="853568"/>
            <a:ext cx="7483812" cy="6004430"/>
          </a:xfrm>
        </p:spPr>
        <p:txBody>
          <a:bodyPr>
            <a:noAutofit/>
          </a:bodyPr>
          <a:lstStyle/>
          <a:p>
            <a:pPr marL="0" indent="0">
              <a:buNone/>
            </a:pPr>
            <a:r>
              <a:rPr lang="en-GB" sz="1500" dirty="0"/>
              <a:t>Exploratory Data Analysis was performed using Python to understand data distribution, identify patterns, and uncover initial insights.</a:t>
            </a:r>
          </a:p>
          <a:p>
            <a:pPr marL="0" indent="0">
              <a:buNone/>
            </a:pPr>
            <a:endParaRPr lang="en-GB" sz="1500" dirty="0"/>
          </a:p>
          <a:p>
            <a:pPr marL="0" indent="0">
              <a:buNone/>
            </a:pPr>
            <a:r>
              <a:rPr lang="en-GB" sz="1500" b="1" dirty="0"/>
              <a:t>Key Observations:</a:t>
            </a:r>
          </a:p>
          <a:p>
            <a:pPr marL="0" indent="0">
              <a:buNone/>
            </a:pPr>
            <a:r>
              <a:rPr lang="en-GB" sz="1500" dirty="0"/>
              <a:t>• Streams distribution was highly skewed, with a few songs having extremely high streams</a:t>
            </a:r>
          </a:p>
          <a:p>
            <a:pPr marL="0" indent="0">
              <a:buNone/>
            </a:pPr>
            <a:r>
              <a:rPr lang="en-GB" sz="1500" dirty="0"/>
              <a:t>• Most songs have relatively low to moderate popularity</a:t>
            </a:r>
          </a:p>
          <a:p>
            <a:pPr marL="0" indent="0">
              <a:buNone/>
            </a:pPr>
            <a:r>
              <a:rPr lang="en-GB" sz="1500" dirty="0"/>
              <a:t>• Playlist counts vary significantly across songs</a:t>
            </a:r>
          </a:p>
          <a:p>
            <a:pPr marL="0" indent="0">
              <a:buNone/>
            </a:pPr>
            <a:r>
              <a:rPr lang="en-GB" sz="1500" dirty="0"/>
              <a:t>• Audio features are distributed across a wide range, indicating diversity in music characteristics</a:t>
            </a:r>
          </a:p>
          <a:p>
            <a:pPr marL="0" indent="0">
              <a:buNone/>
            </a:pPr>
            <a:endParaRPr lang="en-GB" sz="1500" dirty="0"/>
          </a:p>
          <a:p>
            <a:pPr marL="0" indent="0">
              <a:buNone/>
            </a:pPr>
            <a:r>
              <a:rPr lang="en-GB" sz="1500" b="1" dirty="0"/>
              <a:t>Approach:</a:t>
            </a:r>
          </a:p>
          <a:p>
            <a:pPr marL="0" indent="0">
              <a:buNone/>
            </a:pPr>
            <a:r>
              <a:rPr lang="en-GB" sz="1500" dirty="0"/>
              <a:t>• Used </a:t>
            </a:r>
            <a:r>
              <a:rPr lang="en-GB" sz="1500" b="1" dirty="0"/>
              <a:t>visualizations (histograms, scatter plots) </a:t>
            </a:r>
            <a:r>
              <a:rPr lang="en-GB" sz="1500" dirty="0"/>
              <a:t>to </a:t>
            </a:r>
            <a:r>
              <a:rPr lang="en-GB" sz="1500" dirty="0" err="1"/>
              <a:t>analyze</a:t>
            </a:r>
            <a:r>
              <a:rPr lang="en-GB" sz="1500" dirty="0"/>
              <a:t> distributions</a:t>
            </a:r>
          </a:p>
          <a:p>
            <a:pPr marL="0" indent="0">
              <a:buNone/>
            </a:pPr>
            <a:r>
              <a:rPr lang="en-GB" sz="1500" dirty="0"/>
              <a:t>• Applied log transformation to normalize skewed data</a:t>
            </a:r>
          </a:p>
          <a:p>
            <a:pPr marL="0" indent="0">
              <a:buNone/>
            </a:pPr>
            <a:r>
              <a:rPr lang="en-GB" sz="1500" dirty="0"/>
              <a:t>• Explored relationships between key variables</a:t>
            </a:r>
          </a:p>
          <a:p>
            <a:pPr marL="0" indent="0">
              <a:buNone/>
            </a:pPr>
            <a:endParaRPr lang="en-GB" sz="1500" dirty="0"/>
          </a:p>
          <a:p>
            <a:pPr marL="0" indent="0">
              <a:buNone/>
            </a:pPr>
            <a:r>
              <a:rPr lang="en-GB" sz="1500" b="1" dirty="0"/>
              <a:t>Outcome:</a:t>
            </a:r>
          </a:p>
          <a:p>
            <a:pPr marL="0" indent="0">
              <a:buNone/>
            </a:pPr>
            <a:r>
              <a:rPr lang="en-GB" sz="1500" dirty="0"/>
              <a:t>• Identified imbalance in popularity distribution</a:t>
            </a:r>
          </a:p>
          <a:p>
            <a:pPr marL="0" indent="0">
              <a:buNone/>
            </a:pPr>
            <a:r>
              <a:rPr lang="en-GB" sz="1500" dirty="0"/>
              <a:t>• Prepared data for deeper analysis and visualization</a:t>
            </a:r>
            <a:endParaRPr lang="en-US" sz="1500" dirty="0"/>
          </a:p>
        </p:txBody>
      </p:sp>
      <p:pic>
        <p:nvPicPr>
          <p:cNvPr id="9" name="Picture 8">
            <a:extLst>
              <a:ext uri="{FF2B5EF4-FFF2-40B4-BE49-F238E27FC236}">
                <a16:creationId xmlns:a16="http://schemas.microsoft.com/office/drawing/2014/main" id="{ABD2CB10-ED7D-5E09-47D7-E0E3A98DD17E}"/>
              </a:ext>
            </a:extLst>
          </p:cNvPr>
          <p:cNvPicPr>
            <a:picLocks noChangeAspect="1"/>
          </p:cNvPicPr>
          <p:nvPr/>
        </p:nvPicPr>
        <p:blipFill>
          <a:blip r:embed="rId3"/>
          <a:stretch>
            <a:fillRect/>
          </a:stretch>
        </p:blipFill>
        <p:spPr>
          <a:xfrm>
            <a:off x="0" y="3493823"/>
            <a:ext cx="4317991" cy="3364175"/>
          </a:xfrm>
          <a:prstGeom prst="rect">
            <a:avLst/>
          </a:prstGeom>
        </p:spPr>
      </p:pic>
    </p:spTree>
    <p:extLst>
      <p:ext uri="{BB962C8B-B14F-4D97-AF65-F5344CB8AC3E}">
        <p14:creationId xmlns:p14="http://schemas.microsoft.com/office/powerpoint/2010/main" val="2960367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37B2035-1FCB-439A-B421-095E136C7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B39A1F5A-E57E-4178-8F57-A18DC747E5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91618" cy="5097980"/>
          </a:xfrm>
          <a:custGeom>
            <a:avLst/>
            <a:gdLst>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516105 w 6530408"/>
              <a:gd name="connsiteY8" fmla="*/ 476071 h 5753325"/>
              <a:gd name="connsiteX9" fmla="*/ 6488360 w 6530408"/>
              <a:gd name="connsiteY9" fmla="*/ 535865 h 5753325"/>
              <a:gd name="connsiteX10" fmla="*/ 6492864 w 6530408"/>
              <a:gd name="connsiteY10" fmla="*/ 615799 h 5753325"/>
              <a:gd name="connsiteX11" fmla="*/ 6459988 w 6530408"/>
              <a:gd name="connsiteY11" fmla="*/ 707628 h 5753325"/>
              <a:gd name="connsiteX12" fmla="*/ 6453989 w 6530408"/>
              <a:gd name="connsiteY12" fmla="*/ 711876 h 5753325"/>
              <a:gd name="connsiteX13" fmla="*/ 6453209 w 6530408"/>
              <a:gd name="connsiteY13" fmla="*/ 719127 h 5753325"/>
              <a:gd name="connsiteX14" fmla="*/ 6457662 w 6530408"/>
              <a:gd name="connsiteY14" fmla="*/ 723331 h 5753325"/>
              <a:gd name="connsiteX15" fmla="*/ 6447445 w 6530408"/>
              <a:gd name="connsiteY15" fmla="*/ 780003 h 5753325"/>
              <a:gd name="connsiteX16" fmla="*/ 6426552 w 6530408"/>
              <a:gd name="connsiteY16" fmla="*/ 845805 h 5753325"/>
              <a:gd name="connsiteX17" fmla="*/ 6434072 w 6530408"/>
              <a:gd name="connsiteY17" fmla="*/ 910733 h 5753325"/>
              <a:gd name="connsiteX18" fmla="*/ 6432570 w 6530408"/>
              <a:gd name="connsiteY18" fmla="*/ 983394 h 5753325"/>
              <a:gd name="connsiteX19" fmla="*/ 6431878 w 6530408"/>
              <a:gd name="connsiteY19" fmla="*/ 1026728 h 5753325"/>
              <a:gd name="connsiteX20" fmla="*/ 6414269 w 6530408"/>
              <a:gd name="connsiteY20" fmla="*/ 1151111 h 5753325"/>
              <a:gd name="connsiteX21" fmla="*/ 6371722 w 6530408"/>
              <a:gd name="connsiteY21" fmla="*/ 1318080 h 5753325"/>
              <a:gd name="connsiteX22" fmla="*/ 6356023 w 6530408"/>
              <a:gd name="connsiteY22" fmla="*/ 1356227 h 5753325"/>
              <a:gd name="connsiteX23" fmla="*/ 6356157 w 6530408"/>
              <a:gd name="connsiteY23" fmla="*/ 1361967 h 5753325"/>
              <a:gd name="connsiteX24" fmla="*/ 6350613 w 6530408"/>
              <a:gd name="connsiteY24" fmla="*/ 1393569 h 5753325"/>
              <a:gd name="connsiteX25" fmla="*/ 6357062 w 6530408"/>
              <a:gd name="connsiteY25" fmla="*/ 1444071 h 5753325"/>
              <a:gd name="connsiteX26" fmla="*/ 6364832 w 6530408"/>
              <a:gd name="connsiteY26" fmla="*/ 1478763 h 5753325"/>
              <a:gd name="connsiteX27" fmla="*/ 6369745 w 6530408"/>
              <a:gd name="connsiteY27" fmla="*/ 1495680 h 5753325"/>
              <a:gd name="connsiteX28" fmla="*/ 6370898 w 6530408"/>
              <a:gd name="connsiteY28" fmla="*/ 1513331 h 5753325"/>
              <a:gd name="connsiteX29" fmla="*/ 6368801 w 6530408"/>
              <a:gd name="connsiteY29" fmla="*/ 1527414 h 5753325"/>
              <a:gd name="connsiteX30" fmla="*/ 6359177 w 6530408"/>
              <a:gd name="connsiteY30" fmla="*/ 1639513 h 5753325"/>
              <a:gd name="connsiteX31" fmla="*/ 6299489 w 6530408"/>
              <a:gd name="connsiteY31" fmla="*/ 1784860 h 5753325"/>
              <a:gd name="connsiteX32" fmla="*/ 6267878 w 6530408"/>
              <a:gd name="connsiteY32" fmla="*/ 1858572 h 5753325"/>
              <a:gd name="connsiteX33" fmla="*/ 6251146 w 6530408"/>
              <a:gd name="connsiteY33" fmla="*/ 1926167 h 5753325"/>
              <a:gd name="connsiteX34" fmla="*/ 6210686 w 6530408"/>
              <a:gd name="connsiteY34" fmla="*/ 2014834 h 5753325"/>
              <a:gd name="connsiteX35" fmla="*/ 6106652 w 6530408"/>
              <a:gd name="connsiteY35" fmla="*/ 2150572 h 5753325"/>
              <a:gd name="connsiteX36" fmla="*/ 6097813 w 6530408"/>
              <a:gd name="connsiteY36" fmla="*/ 2172208 h 5753325"/>
              <a:gd name="connsiteX37" fmla="*/ 6095990 w 6530408"/>
              <a:gd name="connsiteY37" fmla="*/ 2181185 h 5753325"/>
              <a:gd name="connsiteX38" fmla="*/ 6090126 w 6530408"/>
              <a:gd name="connsiteY38" fmla="*/ 2192533 h 5753325"/>
              <a:gd name="connsiteX39" fmla="*/ 6089503 w 6530408"/>
              <a:gd name="connsiteY39" fmla="*/ 2192543 h 5753325"/>
              <a:gd name="connsiteX40" fmla="*/ 6084946 w 6530408"/>
              <a:gd name="connsiteY40" fmla="*/ 2203694 h 5753325"/>
              <a:gd name="connsiteX41" fmla="*/ 5987861 w 6530408"/>
              <a:gd name="connsiteY41" fmla="*/ 2304868 h 5753325"/>
              <a:gd name="connsiteX42" fmla="*/ 5973439 w 6530408"/>
              <a:gd name="connsiteY42" fmla="*/ 2385635 h 5753325"/>
              <a:gd name="connsiteX43" fmla="*/ 5916727 w 6530408"/>
              <a:gd name="connsiteY43" fmla="*/ 2458777 h 5753325"/>
              <a:gd name="connsiteX44" fmla="*/ 5856524 w 6530408"/>
              <a:gd name="connsiteY44" fmla="*/ 2583281 h 5753325"/>
              <a:gd name="connsiteX45" fmla="*/ 5838091 w 6530408"/>
              <a:gd name="connsiteY45" fmla="*/ 2753474 h 5753325"/>
              <a:gd name="connsiteX46" fmla="*/ 5777471 w 6530408"/>
              <a:gd name="connsiteY46" fmla="*/ 2901570 h 5753325"/>
              <a:gd name="connsiteX47" fmla="*/ 5723992 w 6530408"/>
              <a:gd name="connsiteY47" fmla="*/ 2998752 h 5753325"/>
              <a:gd name="connsiteX48" fmla="*/ 5557886 w 6530408"/>
              <a:gd name="connsiteY48" fmla="*/ 3329735 h 5753325"/>
              <a:gd name="connsiteX49" fmla="*/ 5471501 w 6530408"/>
              <a:gd name="connsiteY49" fmla="*/ 3462221 h 5753325"/>
              <a:gd name="connsiteX50" fmla="*/ 5465154 w 6530408"/>
              <a:gd name="connsiteY50" fmla="*/ 3541065 h 5753325"/>
              <a:gd name="connsiteX51" fmla="*/ 5437889 w 6530408"/>
              <a:gd name="connsiteY51" fmla="*/ 3559927 h 5753325"/>
              <a:gd name="connsiteX52" fmla="*/ 5432770 w 6530408"/>
              <a:gd name="connsiteY52" fmla="*/ 3562948 h 5753325"/>
              <a:gd name="connsiteX53" fmla="*/ 5406795 w 6530408"/>
              <a:gd name="connsiteY53" fmla="*/ 3578594 h 5753325"/>
              <a:gd name="connsiteX54" fmla="*/ 5381495 w 6530408"/>
              <a:gd name="connsiteY54" fmla="*/ 3599883 h 5753325"/>
              <a:gd name="connsiteX55" fmla="*/ 5363689 w 6530408"/>
              <a:gd name="connsiteY55" fmla="*/ 3633299 h 5753325"/>
              <a:gd name="connsiteX56" fmla="*/ 5291870 w 6530408"/>
              <a:gd name="connsiteY56" fmla="*/ 3799039 h 5753325"/>
              <a:gd name="connsiteX57" fmla="*/ 5241600 w 6530408"/>
              <a:gd name="connsiteY57" fmla="*/ 3894238 h 5753325"/>
              <a:gd name="connsiteX58" fmla="*/ 5211041 w 6530408"/>
              <a:gd name="connsiteY58" fmla="*/ 3924184 h 5753325"/>
              <a:gd name="connsiteX59" fmla="*/ 5176073 w 6530408"/>
              <a:gd name="connsiteY59" fmla="*/ 3970179 h 5753325"/>
              <a:gd name="connsiteX60" fmla="*/ 5172826 w 6530408"/>
              <a:gd name="connsiteY60" fmla="*/ 3991773 h 5753325"/>
              <a:gd name="connsiteX61" fmla="*/ 5157053 w 6530408"/>
              <a:gd name="connsiteY61" fmla="*/ 3997708 h 5753325"/>
              <a:gd name="connsiteX62" fmla="*/ 5127922 w 6530408"/>
              <a:gd name="connsiteY62" fmla="*/ 4022660 h 5753325"/>
              <a:gd name="connsiteX63" fmla="*/ 5020872 w 6530408"/>
              <a:gd name="connsiteY63" fmla="*/ 4075951 h 5753325"/>
              <a:gd name="connsiteX64" fmla="*/ 4991410 w 6530408"/>
              <a:gd name="connsiteY64" fmla="*/ 4087598 h 5753325"/>
              <a:gd name="connsiteX65" fmla="*/ 4930112 w 6530408"/>
              <a:gd name="connsiteY65" fmla="*/ 4138459 h 5753325"/>
              <a:gd name="connsiteX66" fmla="*/ 4834224 w 6530408"/>
              <a:gd name="connsiteY66" fmla="*/ 4231643 h 5753325"/>
              <a:gd name="connsiteX67" fmla="*/ 4812599 w 6530408"/>
              <a:gd name="connsiteY67" fmla="*/ 4249449 h 5753325"/>
              <a:gd name="connsiteX68" fmla="*/ 4789188 w 6530408"/>
              <a:gd name="connsiteY68" fmla="*/ 4256678 h 5753325"/>
              <a:gd name="connsiteX69" fmla="*/ 4779554 w 6530408"/>
              <a:gd name="connsiteY69" fmla="*/ 4251313 h 5753325"/>
              <a:gd name="connsiteX70" fmla="*/ 4766885 w 6530408"/>
              <a:gd name="connsiteY70" fmla="*/ 4259812 h 5753325"/>
              <a:gd name="connsiteX71" fmla="*/ 4762510 w 6530408"/>
              <a:gd name="connsiteY71" fmla="*/ 4260383 h 5753325"/>
              <a:gd name="connsiteX72" fmla="*/ 4738416 w 6530408"/>
              <a:gd name="connsiteY72" fmla="*/ 4265355 h 5753325"/>
              <a:gd name="connsiteX73" fmla="*/ 4712007 w 6530408"/>
              <a:gd name="connsiteY73" fmla="*/ 4317892 h 5753325"/>
              <a:gd name="connsiteX74" fmla="*/ 4658930 w 6530408"/>
              <a:gd name="connsiteY74" fmla="*/ 4348041 h 5753325"/>
              <a:gd name="connsiteX75" fmla="*/ 4443526 w 6530408"/>
              <a:gd name="connsiteY75" fmla="*/ 4507851 h 5753325"/>
              <a:gd name="connsiteX76" fmla="*/ 4289766 w 6530408"/>
              <a:gd name="connsiteY76" fmla="*/ 4711450 h 5753325"/>
              <a:gd name="connsiteX77" fmla="*/ 4150870 w 6530408"/>
              <a:gd name="connsiteY77" fmla="*/ 4818480 h 5753325"/>
              <a:gd name="connsiteX78" fmla="*/ 4006639 w 6530408"/>
              <a:gd name="connsiteY78" fmla="*/ 4933815 h 5753325"/>
              <a:gd name="connsiteX79" fmla="*/ 3298210 w 6530408"/>
              <a:gd name="connsiteY79" fmla="*/ 5070790 h 5753325"/>
              <a:gd name="connsiteX80" fmla="*/ 2947678 w 6530408"/>
              <a:gd name="connsiteY80" fmla="*/ 5117869 h 5753325"/>
              <a:gd name="connsiteX81" fmla="*/ 2822169 w 6530408"/>
              <a:gd name="connsiteY81" fmla="*/ 5129396 h 5753325"/>
              <a:gd name="connsiteX82" fmla="*/ 2538773 w 6530408"/>
              <a:gd name="connsiteY82" fmla="*/ 5313397 h 5753325"/>
              <a:gd name="connsiteX83" fmla="*/ 2014500 w 6530408"/>
              <a:gd name="connsiteY83" fmla="*/ 5519744 h 5753325"/>
              <a:gd name="connsiteX84" fmla="*/ 1934391 w 6530408"/>
              <a:gd name="connsiteY84" fmla="*/ 5591335 h 5753325"/>
              <a:gd name="connsiteX85" fmla="*/ 1892550 w 6530408"/>
              <a:gd name="connsiteY85" fmla="*/ 5649708 h 5753325"/>
              <a:gd name="connsiteX86" fmla="*/ 1854769 w 6530408"/>
              <a:gd name="connsiteY86" fmla="*/ 5647691 h 5753325"/>
              <a:gd name="connsiteX87" fmla="*/ 1809461 w 6530408"/>
              <a:gd name="connsiteY87" fmla="*/ 5648628 h 5753325"/>
              <a:gd name="connsiteX88" fmla="*/ 1745150 w 6530408"/>
              <a:gd name="connsiteY88" fmla="*/ 5693879 h 5753325"/>
              <a:gd name="connsiteX89" fmla="*/ 1713375 w 6530408"/>
              <a:gd name="connsiteY89" fmla="*/ 5684672 h 5753325"/>
              <a:gd name="connsiteX90" fmla="*/ 1707808 w 6530408"/>
              <a:gd name="connsiteY90" fmla="*/ 5682611 h 5753325"/>
              <a:gd name="connsiteX91" fmla="*/ 1679313 w 6530408"/>
              <a:gd name="connsiteY91" fmla="*/ 5672360 h 5753325"/>
              <a:gd name="connsiteX92" fmla="*/ 1646933 w 6530408"/>
              <a:gd name="connsiteY92" fmla="*/ 5666227 h 5753325"/>
              <a:gd name="connsiteX93" fmla="*/ 1610055 w 6530408"/>
              <a:gd name="connsiteY93" fmla="*/ 5673643 h 5753325"/>
              <a:gd name="connsiteX94" fmla="*/ 1437641 w 6530408"/>
              <a:gd name="connsiteY94" fmla="*/ 5723266 h 5753325"/>
              <a:gd name="connsiteX95" fmla="*/ 1332869 w 6530408"/>
              <a:gd name="connsiteY95" fmla="*/ 5744752 h 5753325"/>
              <a:gd name="connsiteX96" fmla="*/ 1290525 w 6530408"/>
              <a:gd name="connsiteY96" fmla="*/ 5740036 h 5753325"/>
              <a:gd name="connsiteX97" fmla="*/ 1233107 w 6530408"/>
              <a:gd name="connsiteY97" fmla="*/ 5742106 h 5753325"/>
              <a:gd name="connsiteX98" fmla="*/ 1214532 w 6530408"/>
              <a:gd name="connsiteY98" fmla="*/ 5753325 h 5753325"/>
              <a:gd name="connsiteX99" fmla="*/ 1199955 w 6530408"/>
              <a:gd name="connsiteY99" fmla="*/ 5744831 h 5753325"/>
              <a:gd name="connsiteX100" fmla="*/ 1162337 w 6530408"/>
              <a:gd name="connsiteY100" fmla="*/ 5738048 h 5753325"/>
              <a:gd name="connsiteX101" fmla="*/ 1053457 w 6530408"/>
              <a:gd name="connsiteY101" fmla="*/ 5688676 h 5753325"/>
              <a:gd name="connsiteX102" fmla="*/ 1025798 w 6530408"/>
              <a:gd name="connsiteY102" fmla="*/ 5673166 h 5753325"/>
              <a:gd name="connsiteX103" fmla="*/ 947900 w 6530408"/>
              <a:gd name="connsiteY103" fmla="*/ 5657848 h 5753325"/>
              <a:gd name="connsiteX104" fmla="*/ 815627 w 6530408"/>
              <a:gd name="connsiteY104" fmla="*/ 5642557 h 5753325"/>
              <a:gd name="connsiteX105" fmla="*/ 788251 w 6530408"/>
              <a:gd name="connsiteY105" fmla="*/ 5637065 h 5753325"/>
              <a:gd name="connsiteX106" fmla="*/ 767822 w 6530408"/>
              <a:gd name="connsiteY106" fmla="*/ 5623450 h 5753325"/>
              <a:gd name="connsiteX107" fmla="*/ 765791 w 6530408"/>
              <a:gd name="connsiteY107" fmla="*/ 5612539 h 5753325"/>
              <a:gd name="connsiteX108" fmla="*/ 751230 w 6530408"/>
              <a:gd name="connsiteY108" fmla="*/ 5608092 h 5753325"/>
              <a:gd name="connsiteX109" fmla="*/ 748008 w 6530408"/>
              <a:gd name="connsiteY109" fmla="*/ 5605052 h 5753325"/>
              <a:gd name="connsiteX110" fmla="*/ 728871 w 6530408"/>
              <a:gd name="connsiteY110" fmla="*/ 5589469 h 5753325"/>
              <a:gd name="connsiteX111" fmla="*/ 671898 w 6530408"/>
              <a:gd name="connsiteY111" fmla="*/ 5602363 h 5753325"/>
              <a:gd name="connsiteX112" fmla="*/ 615065 w 6530408"/>
              <a:gd name="connsiteY112" fmla="*/ 5580257 h 5753325"/>
              <a:gd name="connsiteX113" fmla="*/ 355785 w 6530408"/>
              <a:gd name="connsiteY113" fmla="*/ 5514383 h 5753325"/>
              <a:gd name="connsiteX114" fmla="*/ 102269 w 6530408"/>
              <a:gd name="connsiteY114" fmla="*/ 5524347 h 5753325"/>
              <a:gd name="connsiteX115" fmla="*/ 13160 w 6530408"/>
              <a:gd name="connsiteY115" fmla="*/ 5514159 h 5753325"/>
              <a:gd name="connsiteX116" fmla="*/ 0 w 6530408"/>
              <a:gd name="connsiteY116" fmla="*/ 5511735 h 5753325"/>
              <a:gd name="connsiteX0" fmla="*/ 0 w 6530408"/>
              <a:gd name="connsiteY0" fmla="*/ 0 h 5753325"/>
              <a:gd name="connsiteX1" fmla="*/ 6438980 w 6530408"/>
              <a:gd name="connsiteY1" fmla="*/ 0 h 5753325"/>
              <a:gd name="connsiteX2" fmla="*/ 6439047 w 6530408"/>
              <a:gd name="connsiteY2" fmla="*/ 147 h 5753325"/>
              <a:gd name="connsiteX3" fmla="*/ 6443456 w 6530408"/>
              <a:gd name="connsiteY3" fmla="*/ 130105 h 5753325"/>
              <a:gd name="connsiteX4" fmla="*/ 6447632 w 6530408"/>
              <a:gd name="connsiteY4" fmla="*/ 170016 h 5753325"/>
              <a:gd name="connsiteX5" fmla="*/ 6465936 w 6530408"/>
              <a:gd name="connsiteY5" fmla="*/ 274847 h 5753325"/>
              <a:gd name="connsiteX6" fmla="*/ 6506836 w 6530408"/>
              <a:gd name="connsiteY6" fmla="*/ 331778 h 5753325"/>
              <a:gd name="connsiteX7" fmla="*/ 6530408 w 6530408"/>
              <a:gd name="connsiteY7" fmla="*/ 427517 h 5753325"/>
              <a:gd name="connsiteX8" fmla="*/ 6488360 w 6530408"/>
              <a:gd name="connsiteY8" fmla="*/ 535865 h 5753325"/>
              <a:gd name="connsiteX9" fmla="*/ 6492864 w 6530408"/>
              <a:gd name="connsiteY9" fmla="*/ 615799 h 5753325"/>
              <a:gd name="connsiteX10" fmla="*/ 6459988 w 6530408"/>
              <a:gd name="connsiteY10" fmla="*/ 707628 h 5753325"/>
              <a:gd name="connsiteX11" fmla="*/ 6453989 w 6530408"/>
              <a:gd name="connsiteY11" fmla="*/ 711876 h 5753325"/>
              <a:gd name="connsiteX12" fmla="*/ 6453209 w 6530408"/>
              <a:gd name="connsiteY12" fmla="*/ 719127 h 5753325"/>
              <a:gd name="connsiteX13" fmla="*/ 6457662 w 6530408"/>
              <a:gd name="connsiteY13" fmla="*/ 723331 h 5753325"/>
              <a:gd name="connsiteX14" fmla="*/ 6447445 w 6530408"/>
              <a:gd name="connsiteY14" fmla="*/ 780003 h 5753325"/>
              <a:gd name="connsiteX15" fmla="*/ 6426552 w 6530408"/>
              <a:gd name="connsiteY15" fmla="*/ 845805 h 5753325"/>
              <a:gd name="connsiteX16" fmla="*/ 6434072 w 6530408"/>
              <a:gd name="connsiteY16" fmla="*/ 910733 h 5753325"/>
              <a:gd name="connsiteX17" fmla="*/ 6432570 w 6530408"/>
              <a:gd name="connsiteY17" fmla="*/ 983394 h 5753325"/>
              <a:gd name="connsiteX18" fmla="*/ 6431878 w 6530408"/>
              <a:gd name="connsiteY18" fmla="*/ 1026728 h 5753325"/>
              <a:gd name="connsiteX19" fmla="*/ 6414269 w 6530408"/>
              <a:gd name="connsiteY19" fmla="*/ 1151111 h 5753325"/>
              <a:gd name="connsiteX20" fmla="*/ 6371722 w 6530408"/>
              <a:gd name="connsiteY20" fmla="*/ 1318080 h 5753325"/>
              <a:gd name="connsiteX21" fmla="*/ 6356023 w 6530408"/>
              <a:gd name="connsiteY21" fmla="*/ 1356227 h 5753325"/>
              <a:gd name="connsiteX22" fmla="*/ 6356157 w 6530408"/>
              <a:gd name="connsiteY22" fmla="*/ 1361967 h 5753325"/>
              <a:gd name="connsiteX23" fmla="*/ 6350613 w 6530408"/>
              <a:gd name="connsiteY23" fmla="*/ 1393569 h 5753325"/>
              <a:gd name="connsiteX24" fmla="*/ 6357062 w 6530408"/>
              <a:gd name="connsiteY24" fmla="*/ 1444071 h 5753325"/>
              <a:gd name="connsiteX25" fmla="*/ 6364832 w 6530408"/>
              <a:gd name="connsiteY25" fmla="*/ 1478763 h 5753325"/>
              <a:gd name="connsiteX26" fmla="*/ 6369745 w 6530408"/>
              <a:gd name="connsiteY26" fmla="*/ 1495680 h 5753325"/>
              <a:gd name="connsiteX27" fmla="*/ 6370898 w 6530408"/>
              <a:gd name="connsiteY27" fmla="*/ 1513331 h 5753325"/>
              <a:gd name="connsiteX28" fmla="*/ 6368801 w 6530408"/>
              <a:gd name="connsiteY28" fmla="*/ 1527414 h 5753325"/>
              <a:gd name="connsiteX29" fmla="*/ 6359177 w 6530408"/>
              <a:gd name="connsiteY29" fmla="*/ 1639513 h 5753325"/>
              <a:gd name="connsiteX30" fmla="*/ 6299489 w 6530408"/>
              <a:gd name="connsiteY30" fmla="*/ 1784860 h 5753325"/>
              <a:gd name="connsiteX31" fmla="*/ 6267878 w 6530408"/>
              <a:gd name="connsiteY31" fmla="*/ 1858572 h 5753325"/>
              <a:gd name="connsiteX32" fmla="*/ 6251146 w 6530408"/>
              <a:gd name="connsiteY32" fmla="*/ 1926167 h 5753325"/>
              <a:gd name="connsiteX33" fmla="*/ 6210686 w 6530408"/>
              <a:gd name="connsiteY33" fmla="*/ 2014834 h 5753325"/>
              <a:gd name="connsiteX34" fmla="*/ 6106652 w 6530408"/>
              <a:gd name="connsiteY34" fmla="*/ 2150572 h 5753325"/>
              <a:gd name="connsiteX35" fmla="*/ 6097813 w 6530408"/>
              <a:gd name="connsiteY35" fmla="*/ 2172208 h 5753325"/>
              <a:gd name="connsiteX36" fmla="*/ 6095990 w 6530408"/>
              <a:gd name="connsiteY36" fmla="*/ 2181185 h 5753325"/>
              <a:gd name="connsiteX37" fmla="*/ 6090126 w 6530408"/>
              <a:gd name="connsiteY37" fmla="*/ 2192533 h 5753325"/>
              <a:gd name="connsiteX38" fmla="*/ 6089503 w 6530408"/>
              <a:gd name="connsiteY38" fmla="*/ 2192543 h 5753325"/>
              <a:gd name="connsiteX39" fmla="*/ 6084946 w 6530408"/>
              <a:gd name="connsiteY39" fmla="*/ 2203694 h 5753325"/>
              <a:gd name="connsiteX40" fmla="*/ 5987861 w 6530408"/>
              <a:gd name="connsiteY40" fmla="*/ 2304868 h 5753325"/>
              <a:gd name="connsiteX41" fmla="*/ 5973439 w 6530408"/>
              <a:gd name="connsiteY41" fmla="*/ 2385635 h 5753325"/>
              <a:gd name="connsiteX42" fmla="*/ 5916727 w 6530408"/>
              <a:gd name="connsiteY42" fmla="*/ 2458777 h 5753325"/>
              <a:gd name="connsiteX43" fmla="*/ 5856524 w 6530408"/>
              <a:gd name="connsiteY43" fmla="*/ 2583281 h 5753325"/>
              <a:gd name="connsiteX44" fmla="*/ 5838091 w 6530408"/>
              <a:gd name="connsiteY44" fmla="*/ 2753474 h 5753325"/>
              <a:gd name="connsiteX45" fmla="*/ 5777471 w 6530408"/>
              <a:gd name="connsiteY45" fmla="*/ 2901570 h 5753325"/>
              <a:gd name="connsiteX46" fmla="*/ 5723992 w 6530408"/>
              <a:gd name="connsiteY46" fmla="*/ 2998752 h 5753325"/>
              <a:gd name="connsiteX47" fmla="*/ 5557886 w 6530408"/>
              <a:gd name="connsiteY47" fmla="*/ 3329735 h 5753325"/>
              <a:gd name="connsiteX48" fmla="*/ 5471501 w 6530408"/>
              <a:gd name="connsiteY48" fmla="*/ 3462221 h 5753325"/>
              <a:gd name="connsiteX49" fmla="*/ 5465154 w 6530408"/>
              <a:gd name="connsiteY49" fmla="*/ 3541065 h 5753325"/>
              <a:gd name="connsiteX50" fmla="*/ 5437889 w 6530408"/>
              <a:gd name="connsiteY50" fmla="*/ 3559927 h 5753325"/>
              <a:gd name="connsiteX51" fmla="*/ 5432770 w 6530408"/>
              <a:gd name="connsiteY51" fmla="*/ 3562948 h 5753325"/>
              <a:gd name="connsiteX52" fmla="*/ 5406795 w 6530408"/>
              <a:gd name="connsiteY52" fmla="*/ 3578594 h 5753325"/>
              <a:gd name="connsiteX53" fmla="*/ 5381495 w 6530408"/>
              <a:gd name="connsiteY53" fmla="*/ 3599883 h 5753325"/>
              <a:gd name="connsiteX54" fmla="*/ 5363689 w 6530408"/>
              <a:gd name="connsiteY54" fmla="*/ 3633299 h 5753325"/>
              <a:gd name="connsiteX55" fmla="*/ 5291870 w 6530408"/>
              <a:gd name="connsiteY55" fmla="*/ 3799039 h 5753325"/>
              <a:gd name="connsiteX56" fmla="*/ 5241600 w 6530408"/>
              <a:gd name="connsiteY56" fmla="*/ 3894238 h 5753325"/>
              <a:gd name="connsiteX57" fmla="*/ 5211041 w 6530408"/>
              <a:gd name="connsiteY57" fmla="*/ 3924184 h 5753325"/>
              <a:gd name="connsiteX58" fmla="*/ 5176073 w 6530408"/>
              <a:gd name="connsiteY58" fmla="*/ 3970179 h 5753325"/>
              <a:gd name="connsiteX59" fmla="*/ 5172826 w 6530408"/>
              <a:gd name="connsiteY59" fmla="*/ 3991773 h 5753325"/>
              <a:gd name="connsiteX60" fmla="*/ 5157053 w 6530408"/>
              <a:gd name="connsiteY60" fmla="*/ 3997708 h 5753325"/>
              <a:gd name="connsiteX61" fmla="*/ 5127922 w 6530408"/>
              <a:gd name="connsiteY61" fmla="*/ 4022660 h 5753325"/>
              <a:gd name="connsiteX62" fmla="*/ 5020872 w 6530408"/>
              <a:gd name="connsiteY62" fmla="*/ 4075951 h 5753325"/>
              <a:gd name="connsiteX63" fmla="*/ 4991410 w 6530408"/>
              <a:gd name="connsiteY63" fmla="*/ 4087598 h 5753325"/>
              <a:gd name="connsiteX64" fmla="*/ 4930112 w 6530408"/>
              <a:gd name="connsiteY64" fmla="*/ 4138459 h 5753325"/>
              <a:gd name="connsiteX65" fmla="*/ 4834224 w 6530408"/>
              <a:gd name="connsiteY65" fmla="*/ 4231643 h 5753325"/>
              <a:gd name="connsiteX66" fmla="*/ 4812599 w 6530408"/>
              <a:gd name="connsiteY66" fmla="*/ 4249449 h 5753325"/>
              <a:gd name="connsiteX67" fmla="*/ 4789188 w 6530408"/>
              <a:gd name="connsiteY67" fmla="*/ 4256678 h 5753325"/>
              <a:gd name="connsiteX68" fmla="*/ 4779554 w 6530408"/>
              <a:gd name="connsiteY68" fmla="*/ 4251313 h 5753325"/>
              <a:gd name="connsiteX69" fmla="*/ 4766885 w 6530408"/>
              <a:gd name="connsiteY69" fmla="*/ 4259812 h 5753325"/>
              <a:gd name="connsiteX70" fmla="*/ 4762510 w 6530408"/>
              <a:gd name="connsiteY70" fmla="*/ 4260383 h 5753325"/>
              <a:gd name="connsiteX71" fmla="*/ 4738416 w 6530408"/>
              <a:gd name="connsiteY71" fmla="*/ 4265355 h 5753325"/>
              <a:gd name="connsiteX72" fmla="*/ 4712007 w 6530408"/>
              <a:gd name="connsiteY72" fmla="*/ 4317892 h 5753325"/>
              <a:gd name="connsiteX73" fmla="*/ 4658930 w 6530408"/>
              <a:gd name="connsiteY73" fmla="*/ 4348041 h 5753325"/>
              <a:gd name="connsiteX74" fmla="*/ 4443526 w 6530408"/>
              <a:gd name="connsiteY74" fmla="*/ 4507851 h 5753325"/>
              <a:gd name="connsiteX75" fmla="*/ 4289766 w 6530408"/>
              <a:gd name="connsiteY75" fmla="*/ 4711450 h 5753325"/>
              <a:gd name="connsiteX76" fmla="*/ 4150870 w 6530408"/>
              <a:gd name="connsiteY76" fmla="*/ 4818480 h 5753325"/>
              <a:gd name="connsiteX77" fmla="*/ 4006639 w 6530408"/>
              <a:gd name="connsiteY77" fmla="*/ 4933815 h 5753325"/>
              <a:gd name="connsiteX78" fmla="*/ 3298210 w 6530408"/>
              <a:gd name="connsiteY78" fmla="*/ 5070790 h 5753325"/>
              <a:gd name="connsiteX79" fmla="*/ 2947678 w 6530408"/>
              <a:gd name="connsiteY79" fmla="*/ 5117869 h 5753325"/>
              <a:gd name="connsiteX80" fmla="*/ 2822169 w 6530408"/>
              <a:gd name="connsiteY80" fmla="*/ 5129396 h 5753325"/>
              <a:gd name="connsiteX81" fmla="*/ 2538773 w 6530408"/>
              <a:gd name="connsiteY81" fmla="*/ 5313397 h 5753325"/>
              <a:gd name="connsiteX82" fmla="*/ 2014500 w 6530408"/>
              <a:gd name="connsiteY82" fmla="*/ 5519744 h 5753325"/>
              <a:gd name="connsiteX83" fmla="*/ 1934391 w 6530408"/>
              <a:gd name="connsiteY83" fmla="*/ 5591335 h 5753325"/>
              <a:gd name="connsiteX84" fmla="*/ 1892550 w 6530408"/>
              <a:gd name="connsiteY84" fmla="*/ 5649708 h 5753325"/>
              <a:gd name="connsiteX85" fmla="*/ 1854769 w 6530408"/>
              <a:gd name="connsiteY85" fmla="*/ 5647691 h 5753325"/>
              <a:gd name="connsiteX86" fmla="*/ 1809461 w 6530408"/>
              <a:gd name="connsiteY86" fmla="*/ 5648628 h 5753325"/>
              <a:gd name="connsiteX87" fmla="*/ 1745150 w 6530408"/>
              <a:gd name="connsiteY87" fmla="*/ 5693879 h 5753325"/>
              <a:gd name="connsiteX88" fmla="*/ 1713375 w 6530408"/>
              <a:gd name="connsiteY88" fmla="*/ 5684672 h 5753325"/>
              <a:gd name="connsiteX89" fmla="*/ 1707808 w 6530408"/>
              <a:gd name="connsiteY89" fmla="*/ 5682611 h 5753325"/>
              <a:gd name="connsiteX90" fmla="*/ 1679313 w 6530408"/>
              <a:gd name="connsiteY90" fmla="*/ 5672360 h 5753325"/>
              <a:gd name="connsiteX91" fmla="*/ 1646933 w 6530408"/>
              <a:gd name="connsiteY91" fmla="*/ 5666227 h 5753325"/>
              <a:gd name="connsiteX92" fmla="*/ 1610055 w 6530408"/>
              <a:gd name="connsiteY92" fmla="*/ 5673643 h 5753325"/>
              <a:gd name="connsiteX93" fmla="*/ 1437641 w 6530408"/>
              <a:gd name="connsiteY93" fmla="*/ 5723266 h 5753325"/>
              <a:gd name="connsiteX94" fmla="*/ 1332869 w 6530408"/>
              <a:gd name="connsiteY94" fmla="*/ 5744752 h 5753325"/>
              <a:gd name="connsiteX95" fmla="*/ 1290525 w 6530408"/>
              <a:gd name="connsiteY95" fmla="*/ 5740036 h 5753325"/>
              <a:gd name="connsiteX96" fmla="*/ 1233107 w 6530408"/>
              <a:gd name="connsiteY96" fmla="*/ 5742106 h 5753325"/>
              <a:gd name="connsiteX97" fmla="*/ 1214532 w 6530408"/>
              <a:gd name="connsiteY97" fmla="*/ 5753325 h 5753325"/>
              <a:gd name="connsiteX98" fmla="*/ 1199955 w 6530408"/>
              <a:gd name="connsiteY98" fmla="*/ 5744831 h 5753325"/>
              <a:gd name="connsiteX99" fmla="*/ 1162337 w 6530408"/>
              <a:gd name="connsiteY99" fmla="*/ 5738048 h 5753325"/>
              <a:gd name="connsiteX100" fmla="*/ 1053457 w 6530408"/>
              <a:gd name="connsiteY100" fmla="*/ 5688676 h 5753325"/>
              <a:gd name="connsiteX101" fmla="*/ 1025798 w 6530408"/>
              <a:gd name="connsiteY101" fmla="*/ 5673166 h 5753325"/>
              <a:gd name="connsiteX102" fmla="*/ 947900 w 6530408"/>
              <a:gd name="connsiteY102" fmla="*/ 5657848 h 5753325"/>
              <a:gd name="connsiteX103" fmla="*/ 815627 w 6530408"/>
              <a:gd name="connsiteY103" fmla="*/ 5642557 h 5753325"/>
              <a:gd name="connsiteX104" fmla="*/ 788251 w 6530408"/>
              <a:gd name="connsiteY104" fmla="*/ 5637065 h 5753325"/>
              <a:gd name="connsiteX105" fmla="*/ 767822 w 6530408"/>
              <a:gd name="connsiteY105" fmla="*/ 5623450 h 5753325"/>
              <a:gd name="connsiteX106" fmla="*/ 765791 w 6530408"/>
              <a:gd name="connsiteY106" fmla="*/ 5612539 h 5753325"/>
              <a:gd name="connsiteX107" fmla="*/ 751230 w 6530408"/>
              <a:gd name="connsiteY107" fmla="*/ 5608092 h 5753325"/>
              <a:gd name="connsiteX108" fmla="*/ 748008 w 6530408"/>
              <a:gd name="connsiteY108" fmla="*/ 5605052 h 5753325"/>
              <a:gd name="connsiteX109" fmla="*/ 728871 w 6530408"/>
              <a:gd name="connsiteY109" fmla="*/ 5589469 h 5753325"/>
              <a:gd name="connsiteX110" fmla="*/ 671898 w 6530408"/>
              <a:gd name="connsiteY110" fmla="*/ 5602363 h 5753325"/>
              <a:gd name="connsiteX111" fmla="*/ 615065 w 6530408"/>
              <a:gd name="connsiteY111" fmla="*/ 5580257 h 5753325"/>
              <a:gd name="connsiteX112" fmla="*/ 355785 w 6530408"/>
              <a:gd name="connsiteY112" fmla="*/ 5514383 h 5753325"/>
              <a:gd name="connsiteX113" fmla="*/ 102269 w 6530408"/>
              <a:gd name="connsiteY113" fmla="*/ 5524347 h 5753325"/>
              <a:gd name="connsiteX114" fmla="*/ 13160 w 6530408"/>
              <a:gd name="connsiteY114" fmla="*/ 5514159 h 5753325"/>
              <a:gd name="connsiteX115" fmla="*/ 0 w 6530408"/>
              <a:gd name="connsiteY115" fmla="*/ 5511735 h 5753325"/>
              <a:gd name="connsiteX116" fmla="*/ 0 w 6530408"/>
              <a:gd name="connsiteY116" fmla="*/ 0 h 5753325"/>
              <a:gd name="connsiteX0" fmla="*/ 0 w 6506836"/>
              <a:gd name="connsiteY0" fmla="*/ 0 h 5753325"/>
              <a:gd name="connsiteX1" fmla="*/ 6438980 w 6506836"/>
              <a:gd name="connsiteY1" fmla="*/ 0 h 5753325"/>
              <a:gd name="connsiteX2" fmla="*/ 6439047 w 6506836"/>
              <a:gd name="connsiteY2" fmla="*/ 147 h 5753325"/>
              <a:gd name="connsiteX3" fmla="*/ 6443456 w 6506836"/>
              <a:gd name="connsiteY3" fmla="*/ 130105 h 5753325"/>
              <a:gd name="connsiteX4" fmla="*/ 6447632 w 6506836"/>
              <a:gd name="connsiteY4" fmla="*/ 170016 h 5753325"/>
              <a:gd name="connsiteX5" fmla="*/ 6465936 w 6506836"/>
              <a:gd name="connsiteY5" fmla="*/ 274847 h 5753325"/>
              <a:gd name="connsiteX6" fmla="*/ 6506836 w 6506836"/>
              <a:gd name="connsiteY6" fmla="*/ 331778 h 5753325"/>
              <a:gd name="connsiteX7" fmla="*/ 6488360 w 6506836"/>
              <a:gd name="connsiteY7" fmla="*/ 535865 h 5753325"/>
              <a:gd name="connsiteX8" fmla="*/ 6492864 w 6506836"/>
              <a:gd name="connsiteY8" fmla="*/ 615799 h 5753325"/>
              <a:gd name="connsiteX9" fmla="*/ 6459988 w 6506836"/>
              <a:gd name="connsiteY9" fmla="*/ 707628 h 5753325"/>
              <a:gd name="connsiteX10" fmla="*/ 6453989 w 6506836"/>
              <a:gd name="connsiteY10" fmla="*/ 711876 h 5753325"/>
              <a:gd name="connsiteX11" fmla="*/ 6453209 w 6506836"/>
              <a:gd name="connsiteY11" fmla="*/ 719127 h 5753325"/>
              <a:gd name="connsiteX12" fmla="*/ 6457662 w 6506836"/>
              <a:gd name="connsiteY12" fmla="*/ 723331 h 5753325"/>
              <a:gd name="connsiteX13" fmla="*/ 6447445 w 6506836"/>
              <a:gd name="connsiteY13" fmla="*/ 780003 h 5753325"/>
              <a:gd name="connsiteX14" fmla="*/ 6426552 w 6506836"/>
              <a:gd name="connsiteY14" fmla="*/ 845805 h 5753325"/>
              <a:gd name="connsiteX15" fmla="*/ 6434072 w 6506836"/>
              <a:gd name="connsiteY15" fmla="*/ 910733 h 5753325"/>
              <a:gd name="connsiteX16" fmla="*/ 6432570 w 6506836"/>
              <a:gd name="connsiteY16" fmla="*/ 983394 h 5753325"/>
              <a:gd name="connsiteX17" fmla="*/ 6431878 w 6506836"/>
              <a:gd name="connsiteY17" fmla="*/ 1026728 h 5753325"/>
              <a:gd name="connsiteX18" fmla="*/ 6414269 w 6506836"/>
              <a:gd name="connsiteY18" fmla="*/ 1151111 h 5753325"/>
              <a:gd name="connsiteX19" fmla="*/ 6371722 w 6506836"/>
              <a:gd name="connsiteY19" fmla="*/ 1318080 h 5753325"/>
              <a:gd name="connsiteX20" fmla="*/ 6356023 w 6506836"/>
              <a:gd name="connsiteY20" fmla="*/ 1356227 h 5753325"/>
              <a:gd name="connsiteX21" fmla="*/ 6356157 w 6506836"/>
              <a:gd name="connsiteY21" fmla="*/ 1361967 h 5753325"/>
              <a:gd name="connsiteX22" fmla="*/ 6350613 w 6506836"/>
              <a:gd name="connsiteY22" fmla="*/ 1393569 h 5753325"/>
              <a:gd name="connsiteX23" fmla="*/ 6357062 w 6506836"/>
              <a:gd name="connsiteY23" fmla="*/ 1444071 h 5753325"/>
              <a:gd name="connsiteX24" fmla="*/ 6364832 w 6506836"/>
              <a:gd name="connsiteY24" fmla="*/ 1478763 h 5753325"/>
              <a:gd name="connsiteX25" fmla="*/ 6369745 w 6506836"/>
              <a:gd name="connsiteY25" fmla="*/ 1495680 h 5753325"/>
              <a:gd name="connsiteX26" fmla="*/ 6370898 w 6506836"/>
              <a:gd name="connsiteY26" fmla="*/ 1513331 h 5753325"/>
              <a:gd name="connsiteX27" fmla="*/ 6368801 w 6506836"/>
              <a:gd name="connsiteY27" fmla="*/ 1527414 h 5753325"/>
              <a:gd name="connsiteX28" fmla="*/ 6359177 w 6506836"/>
              <a:gd name="connsiteY28" fmla="*/ 1639513 h 5753325"/>
              <a:gd name="connsiteX29" fmla="*/ 6299489 w 6506836"/>
              <a:gd name="connsiteY29" fmla="*/ 1784860 h 5753325"/>
              <a:gd name="connsiteX30" fmla="*/ 6267878 w 6506836"/>
              <a:gd name="connsiteY30" fmla="*/ 1858572 h 5753325"/>
              <a:gd name="connsiteX31" fmla="*/ 6251146 w 6506836"/>
              <a:gd name="connsiteY31" fmla="*/ 1926167 h 5753325"/>
              <a:gd name="connsiteX32" fmla="*/ 6210686 w 6506836"/>
              <a:gd name="connsiteY32" fmla="*/ 2014834 h 5753325"/>
              <a:gd name="connsiteX33" fmla="*/ 6106652 w 6506836"/>
              <a:gd name="connsiteY33" fmla="*/ 2150572 h 5753325"/>
              <a:gd name="connsiteX34" fmla="*/ 6097813 w 6506836"/>
              <a:gd name="connsiteY34" fmla="*/ 2172208 h 5753325"/>
              <a:gd name="connsiteX35" fmla="*/ 6095990 w 6506836"/>
              <a:gd name="connsiteY35" fmla="*/ 2181185 h 5753325"/>
              <a:gd name="connsiteX36" fmla="*/ 6090126 w 6506836"/>
              <a:gd name="connsiteY36" fmla="*/ 2192533 h 5753325"/>
              <a:gd name="connsiteX37" fmla="*/ 6089503 w 6506836"/>
              <a:gd name="connsiteY37" fmla="*/ 2192543 h 5753325"/>
              <a:gd name="connsiteX38" fmla="*/ 6084946 w 6506836"/>
              <a:gd name="connsiteY38" fmla="*/ 2203694 h 5753325"/>
              <a:gd name="connsiteX39" fmla="*/ 5987861 w 6506836"/>
              <a:gd name="connsiteY39" fmla="*/ 2304868 h 5753325"/>
              <a:gd name="connsiteX40" fmla="*/ 5973439 w 6506836"/>
              <a:gd name="connsiteY40" fmla="*/ 2385635 h 5753325"/>
              <a:gd name="connsiteX41" fmla="*/ 5916727 w 6506836"/>
              <a:gd name="connsiteY41" fmla="*/ 2458777 h 5753325"/>
              <a:gd name="connsiteX42" fmla="*/ 5856524 w 6506836"/>
              <a:gd name="connsiteY42" fmla="*/ 2583281 h 5753325"/>
              <a:gd name="connsiteX43" fmla="*/ 5838091 w 6506836"/>
              <a:gd name="connsiteY43" fmla="*/ 2753474 h 5753325"/>
              <a:gd name="connsiteX44" fmla="*/ 5777471 w 6506836"/>
              <a:gd name="connsiteY44" fmla="*/ 2901570 h 5753325"/>
              <a:gd name="connsiteX45" fmla="*/ 5723992 w 6506836"/>
              <a:gd name="connsiteY45" fmla="*/ 2998752 h 5753325"/>
              <a:gd name="connsiteX46" fmla="*/ 5557886 w 6506836"/>
              <a:gd name="connsiteY46" fmla="*/ 3329735 h 5753325"/>
              <a:gd name="connsiteX47" fmla="*/ 5471501 w 6506836"/>
              <a:gd name="connsiteY47" fmla="*/ 3462221 h 5753325"/>
              <a:gd name="connsiteX48" fmla="*/ 5465154 w 6506836"/>
              <a:gd name="connsiteY48" fmla="*/ 3541065 h 5753325"/>
              <a:gd name="connsiteX49" fmla="*/ 5437889 w 6506836"/>
              <a:gd name="connsiteY49" fmla="*/ 3559927 h 5753325"/>
              <a:gd name="connsiteX50" fmla="*/ 5432770 w 6506836"/>
              <a:gd name="connsiteY50" fmla="*/ 3562948 h 5753325"/>
              <a:gd name="connsiteX51" fmla="*/ 5406795 w 6506836"/>
              <a:gd name="connsiteY51" fmla="*/ 3578594 h 5753325"/>
              <a:gd name="connsiteX52" fmla="*/ 5381495 w 6506836"/>
              <a:gd name="connsiteY52" fmla="*/ 3599883 h 5753325"/>
              <a:gd name="connsiteX53" fmla="*/ 5363689 w 6506836"/>
              <a:gd name="connsiteY53" fmla="*/ 3633299 h 5753325"/>
              <a:gd name="connsiteX54" fmla="*/ 5291870 w 6506836"/>
              <a:gd name="connsiteY54" fmla="*/ 3799039 h 5753325"/>
              <a:gd name="connsiteX55" fmla="*/ 5241600 w 6506836"/>
              <a:gd name="connsiteY55" fmla="*/ 3894238 h 5753325"/>
              <a:gd name="connsiteX56" fmla="*/ 5211041 w 6506836"/>
              <a:gd name="connsiteY56" fmla="*/ 3924184 h 5753325"/>
              <a:gd name="connsiteX57" fmla="*/ 5176073 w 6506836"/>
              <a:gd name="connsiteY57" fmla="*/ 3970179 h 5753325"/>
              <a:gd name="connsiteX58" fmla="*/ 5172826 w 6506836"/>
              <a:gd name="connsiteY58" fmla="*/ 3991773 h 5753325"/>
              <a:gd name="connsiteX59" fmla="*/ 5157053 w 6506836"/>
              <a:gd name="connsiteY59" fmla="*/ 3997708 h 5753325"/>
              <a:gd name="connsiteX60" fmla="*/ 5127922 w 6506836"/>
              <a:gd name="connsiteY60" fmla="*/ 4022660 h 5753325"/>
              <a:gd name="connsiteX61" fmla="*/ 5020872 w 6506836"/>
              <a:gd name="connsiteY61" fmla="*/ 4075951 h 5753325"/>
              <a:gd name="connsiteX62" fmla="*/ 4991410 w 6506836"/>
              <a:gd name="connsiteY62" fmla="*/ 4087598 h 5753325"/>
              <a:gd name="connsiteX63" fmla="*/ 4930112 w 6506836"/>
              <a:gd name="connsiteY63" fmla="*/ 4138459 h 5753325"/>
              <a:gd name="connsiteX64" fmla="*/ 4834224 w 6506836"/>
              <a:gd name="connsiteY64" fmla="*/ 4231643 h 5753325"/>
              <a:gd name="connsiteX65" fmla="*/ 4812599 w 6506836"/>
              <a:gd name="connsiteY65" fmla="*/ 4249449 h 5753325"/>
              <a:gd name="connsiteX66" fmla="*/ 4789188 w 6506836"/>
              <a:gd name="connsiteY66" fmla="*/ 4256678 h 5753325"/>
              <a:gd name="connsiteX67" fmla="*/ 4779554 w 6506836"/>
              <a:gd name="connsiteY67" fmla="*/ 4251313 h 5753325"/>
              <a:gd name="connsiteX68" fmla="*/ 4766885 w 6506836"/>
              <a:gd name="connsiteY68" fmla="*/ 4259812 h 5753325"/>
              <a:gd name="connsiteX69" fmla="*/ 4762510 w 6506836"/>
              <a:gd name="connsiteY69" fmla="*/ 4260383 h 5753325"/>
              <a:gd name="connsiteX70" fmla="*/ 4738416 w 6506836"/>
              <a:gd name="connsiteY70" fmla="*/ 4265355 h 5753325"/>
              <a:gd name="connsiteX71" fmla="*/ 4712007 w 6506836"/>
              <a:gd name="connsiteY71" fmla="*/ 4317892 h 5753325"/>
              <a:gd name="connsiteX72" fmla="*/ 4658930 w 6506836"/>
              <a:gd name="connsiteY72" fmla="*/ 4348041 h 5753325"/>
              <a:gd name="connsiteX73" fmla="*/ 4443526 w 6506836"/>
              <a:gd name="connsiteY73" fmla="*/ 4507851 h 5753325"/>
              <a:gd name="connsiteX74" fmla="*/ 4289766 w 6506836"/>
              <a:gd name="connsiteY74" fmla="*/ 4711450 h 5753325"/>
              <a:gd name="connsiteX75" fmla="*/ 4150870 w 6506836"/>
              <a:gd name="connsiteY75" fmla="*/ 4818480 h 5753325"/>
              <a:gd name="connsiteX76" fmla="*/ 4006639 w 6506836"/>
              <a:gd name="connsiteY76" fmla="*/ 4933815 h 5753325"/>
              <a:gd name="connsiteX77" fmla="*/ 3298210 w 6506836"/>
              <a:gd name="connsiteY77" fmla="*/ 5070790 h 5753325"/>
              <a:gd name="connsiteX78" fmla="*/ 2947678 w 6506836"/>
              <a:gd name="connsiteY78" fmla="*/ 5117869 h 5753325"/>
              <a:gd name="connsiteX79" fmla="*/ 2822169 w 6506836"/>
              <a:gd name="connsiteY79" fmla="*/ 5129396 h 5753325"/>
              <a:gd name="connsiteX80" fmla="*/ 2538773 w 6506836"/>
              <a:gd name="connsiteY80" fmla="*/ 5313397 h 5753325"/>
              <a:gd name="connsiteX81" fmla="*/ 2014500 w 6506836"/>
              <a:gd name="connsiteY81" fmla="*/ 5519744 h 5753325"/>
              <a:gd name="connsiteX82" fmla="*/ 1934391 w 6506836"/>
              <a:gd name="connsiteY82" fmla="*/ 5591335 h 5753325"/>
              <a:gd name="connsiteX83" fmla="*/ 1892550 w 6506836"/>
              <a:gd name="connsiteY83" fmla="*/ 5649708 h 5753325"/>
              <a:gd name="connsiteX84" fmla="*/ 1854769 w 6506836"/>
              <a:gd name="connsiteY84" fmla="*/ 5647691 h 5753325"/>
              <a:gd name="connsiteX85" fmla="*/ 1809461 w 6506836"/>
              <a:gd name="connsiteY85" fmla="*/ 5648628 h 5753325"/>
              <a:gd name="connsiteX86" fmla="*/ 1745150 w 6506836"/>
              <a:gd name="connsiteY86" fmla="*/ 5693879 h 5753325"/>
              <a:gd name="connsiteX87" fmla="*/ 1713375 w 6506836"/>
              <a:gd name="connsiteY87" fmla="*/ 5684672 h 5753325"/>
              <a:gd name="connsiteX88" fmla="*/ 1707808 w 6506836"/>
              <a:gd name="connsiteY88" fmla="*/ 5682611 h 5753325"/>
              <a:gd name="connsiteX89" fmla="*/ 1679313 w 6506836"/>
              <a:gd name="connsiteY89" fmla="*/ 5672360 h 5753325"/>
              <a:gd name="connsiteX90" fmla="*/ 1646933 w 6506836"/>
              <a:gd name="connsiteY90" fmla="*/ 5666227 h 5753325"/>
              <a:gd name="connsiteX91" fmla="*/ 1610055 w 6506836"/>
              <a:gd name="connsiteY91" fmla="*/ 5673643 h 5753325"/>
              <a:gd name="connsiteX92" fmla="*/ 1437641 w 6506836"/>
              <a:gd name="connsiteY92" fmla="*/ 5723266 h 5753325"/>
              <a:gd name="connsiteX93" fmla="*/ 1332869 w 6506836"/>
              <a:gd name="connsiteY93" fmla="*/ 5744752 h 5753325"/>
              <a:gd name="connsiteX94" fmla="*/ 1290525 w 6506836"/>
              <a:gd name="connsiteY94" fmla="*/ 5740036 h 5753325"/>
              <a:gd name="connsiteX95" fmla="*/ 1233107 w 6506836"/>
              <a:gd name="connsiteY95" fmla="*/ 5742106 h 5753325"/>
              <a:gd name="connsiteX96" fmla="*/ 1214532 w 6506836"/>
              <a:gd name="connsiteY96" fmla="*/ 5753325 h 5753325"/>
              <a:gd name="connsiteX97" fmla="*/ 1199955 w 6506836"/>
              <a:gd name="connsiteY97" fmla="*/ 5744831 h 5753325"/>
              <a:gd name="connsiteX98" fmla="*/ 1162337 w 6506836"/>
              <a:gd name="connsiteY98" fmla="*/ 5738048 h 5753325"/>
              <a:gd name="connsiteX99" fmla="*/ 1053457 w 6506836"/>
              <a:gd name="connsiteY99" fmla="*/ 5688676 h 5753325"/>
              <a:gd name="connsiteX100" fmla="*/ 1025798 w 6506836"/>
              <a:gd name="connsiteY100" fmla="*/ 5673166 h 5753325"/>
              <a:gd name="connsiteX101" fmla="*/ 947900 w 6506836"/>
              <a:gd name="connsiteY101" fmla="*/ 5657848 h 5753325"/>
              <a:gd name="connsiteX102" fmla="*/ 815627 w 6506836"/>
              <a:gd name="connsiteY102" fmla="*/ 5642557 h 5753325"/>
              <a:gd name="connsiteX103" fmla="*/ 788251 w 6506836"/>
              <a:gd name="connsiteY103" fmla="*/ 5637065 h 5753325"/>
              <a:gd name="connsiteX104" fmla="*/ 767822 w 6506836"/>
              <a:gd name="connsiteY104" fmla="*/ 5623450 h 5753325"/>
              <a:gd name="connsiteX105" fmla="*/ 765791 w 6506836"/>
              <a:gd name="connsiteY105" fmla="*/ 5612539 h 5753325"/>
              <a:gd name="connsiteX106" fmla="*/ 751230 w 6506836"/>
              <a:gd name="connsiteY106" fmla="*/ 5608092 h 5753325"/>
              <a:gd name="connsiteX107" fmla="*/ 748008 w 6506836"/>
              <a:gd name="connsiteY107" fmla="*/ 5605052 h 5753325"/>
              <a:gd name="connsiteX108" fmla="*/ 728871 w 6506836"/>
              <a:gd name="connsiteY108" fmla="*/ 5589469 h 5753325"/>
              <a:gd name="connsiteX109" fmla="*/ 671898 w 6506836"/>
              <a:gd name="connsiteY109" fmla="*/ 5602363 h 5753325"/>
              <a:gd name="connsiteX110" fmla="*/ 615065 w 6506836"/>
              <a:gd name="connsiteY110" fmla="*/ 5580257 h 5753325"/>
              <a:gd name="connsiteX111" fmla="*/ 355785 w 6506836"/>
              <a:gd name="connsiteY111" fmla="*/ 5514383 h 5753325"/>
              <a:gd name="connsiteX112" fmla="*/ 102269 w 6506836"/>
              <a:gd name="connsiteY112" fmla="*/ 5524347 h 5753325"/>
              <a:gd name="connsiteX113" fmla="*/ 13160 w 6506836"/>
              <a:gd name="connsiteY113" fmla="*/ 5514159 h 5753325"/>
              <a:gd name="connsiteX114" fmla="*/ 0 w 6506836"/>
              <a:gd name="connsiteY114" fmla="*/ 5511735 h 5753325"/>
              <a:gd name="connsiteX115" fmla="*/ 0 w 6506836"/>
              <a:gd name="connsiteY115"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465936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488360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92864"/>
              <a:gd name="connsiteY0" fmla="*/ 0 h 5753325"/>
              <a:gd name="connsiteX1" fmla="*/ 6438980 w 6492864"/>
              <a:gd name="connsiteY1" fmla="*/ 0 h 5753325"/>
              <a:gd name="connsiteX2" fmla="*/ 6439047 w 6492864"/>
              <a:gd name="connsiteY2" fmla="*/ 147 h 5753325"/>
              <a:gd name="connsiteX3" fmla="*/ 6443456 w 6492864"/>
              <a:gd name="connsiteY3" fmla="*/ 130105 h 5753325"/>
              <a:gd name="connsiteX4" fmla="*/ 6447632 w 6492864"/>
              <a:gd name="connsiteY4" fmla="*/ 170016 h 5753325"/>
              <a:gd name="connsiteX5" fmla="*/ 6396598 w 6492864"/>
              <a:gd name="connsiteY5" fmla="*/ 274847 h 5753325"/>
              <a:gd name="connsiteX6" fmla="*/ 6375685 w 6492864"/>
              <a:gd name="connsiteY6" fmla="*/ 535865 h 5753325"/>
              <a:gd name="connsiteX7" fmla="*/ 6492864 w 6492864"/>
              <a:gd name="connsiteY7" fmla="*/ 615799 h 5753325"/>
              <a:gd name="connsiteX8" fmla="*/ 6459988 w 6492864"/>
              <a:gd name="connsiteY8" fmla="*/ 707628 h 5753325"/>
              <a:gd name="connsiteX9" fmla="*/ 6453989 w 6492864"/>
              <a:gd name="connsiteY9" fmla="*/ 711876 h 5753325"/>
              <a:gd name="connsiteX10" fmla="*/ 6453209 w 6492864"/>
              <a:gd name="connsiteY10" fmla="*/ 719127 h 5753325"/>
              <a:gd name="connsiteX11" fmla="*/ 6457662 w 6492864"/>
              <a:gd name="connsiteY11" fmla="*/ 723331 h 5753325"/>
              <a:gd name="connsiteX12" fmla="*/ 6447445 w 6492864"/>
              <a:gd name="connsiteY12" fmla="*/ 780003 h 5753325"/>
              <a:gd name="connsiteX13" fmla="*/ 6426552 w 6492864"/>
              <a:gd name="connsiteY13" fmla="*/ 845805 h 5753325"/>
              <a:gd name="connsiteX14" fmla="*/ 6434072 w 6492864"/>
              <a:gd name="connsiteY14" fmla="*/ 910733 h 5753325"/>
              <a:gd name="connsiteX15" fmla="*/ 6432570 w 6492864"/>
              <a:gd name="connsiteY15" fmla="*/ 983394 h 5753325"/>
              <a:gd name="connsiteX16" fmla="*/ 6431878 w 6492864"/>
              <a:gd name="connsiteY16" fmla="*/ 1026728 h 5753325"/>
              <a:gd name="connsiteX17" fmla="*/ 6414269 w 6492864"/>
              <a:gd name="connsiteY17" fmla="*/ 1151111 h 5753325"/>
              <a:gd name="connsiteX18" fmla="*/ 6371722 w 6492864"/>
              <a:gd name="connsiteY18" fmla="*/ 1318080 h 5753325"/>
              <a:gd name="connsiteX19" fmla="*/ 6356023 w 6492864"/>
              <a:gd name="connsiteY19" fmla="*/ 1356227 h 5753325"/>
              <a:gd name="connsiteX20" fmla="*/ 6356157 w 6492864"/>
              <a:gd name="connsiteY20" fmla="*/ 1361967 h 5753325"/>
              <a:gd name="connsiteX21" fmla="*/ 6350613 w 6492864"/>
              <a:gd name="connsiteY21" fmla="*/ 1393569 h 5753325"/>
              <a:gd name="connsiteX22" fmla="*/ 6357062 w 6492864"/>
              <a:gd name="connsiteY22" fmla="*/ 1444071 h 5753325"/>
              <a:gd name="connsiteX23" fmla="*/ 6364832 w 6492864"/>
              <a:gd name="connsiteY23" fmla="*/ 1478763 h 5753325"/>
              <a:gd name="connsiteX24" fmla="*/ 6369745 w 6492864"/>
              <a:gd name="connsiteY24" fmla="*/ 1495680 h 5753325"/>
              <a:gd name="connsiteX25" fmla="*/ 6370898 w 6492864"/>
              <a:gd name="connsiteY25" fmla="*/ 1513331 h 5753325"/>
              <a:gd name="connsiteX26" fmla="*/ 6368801 w 6492864"/>
              <a:gd name="connsiteY26" fmla="*/ 1527414 h 5753325"/>
              <a:gd name="connsiteX27" fmla="*/ 6359177 w 6492864"/>
              <a:gd name="connsiteY27" fmla="*/ 1639513 h 5753325"/>
              <a:gd name="connsiteX28" fmla="*/ 6299489 w 6492864"/>
              <a:gd name="connsiteY28" fmla="*/ 1784860 h 5753325"/>
              <a:gd name="connsiteX29" fmla="*/ 6267878 w 6492864"/>
              <a:gd name="connsiteY29" fmla="*/ 1858572 h 5753325"/>
              <a:gd name="connsiteX30" fmla="*/ 6251146 w 6492864"/>
              <a:gd name="connsiteY30" fmla="*/ 1926167 h 5753325"/>
              <a:gd name="connsiteX31" fmla="*/ 6210686 w 6492864"/>
              <a:gd name="connsiteY31" fmla="*/ 2014834 h 5753325"/>
              <a:gd name="connsiteX32" fmla="*/ 6106652 w 6492864"/>
              <a:gd name="connsiteY32" fmla="*/ 2150572 h 5753325"/>
              <a:gd name="connsiteX33" fmla="*/ 6097813 w 6492864"/>
              <a:gd name="connsiteY33" fmla="*/ 2172208 h 5753325"/>
              <a:gd name="connsiteX34" fmla="*/ 6095990 w 6492864"/>
              <a:gd name="connsiteY34" fmla="*/ 2181185 h 5753325"/>
              <a:gd name="connsiteX35" fmla="*/ 6090126 w 6492864"/>
              <a:gd name="connsiteY35" fmla="*/ 2192533 h 5753325"/>
              <a:gd name="connsiteX36" fmla="*/ 6089503 w 6492864"/>
              <a:gd name="connsiteY36" fmla="*/ 2192543 h 5753325"/>
              <a:gd name="connsiteX37" fmla="*/ 6084946 w 6492864"/>
              <a:gd name="connsiteY37" fmla="*/ 2203694 h 5753325"/>
              <a:gd name="connsiteX38" fmla="*/ 5987861 w 6492864"/>
              <a:gd name="connsiteY38" fmla="*/ 2304868 h 5753325"/>
              <a:gd name="connsiteX39" fmla="*/ 5973439 w 6492864"/>
              <a:gd name="connsiteY39" fmla="*/ 2385635 h 5753325"/>
              <a:gd name="connsiteX40" fmla="*/ 5916727 w 6492864"/>
              <a:gd name="connsiteY40" fmla="*/ 2458777 h 5753325"/>
              <a:gd name="connsiteX41" fmla="*/ 5856524 w 6492864"/>
              <a:gd name="connsiteY41" fmla="*/ 2583281 h 5753325"/>
              <a:gd name="connsiteX42" fmla="*/ 5838091 w 6492864"/>
              <a:gd name="connsiteY42" fmla="*/ 2753474 h 5753325"/>
              <a:gd name="connsiteX43" fmla="*/ 5777471 w 6492864"/>
              <a:gd name="connsiteY43" fmla="*/ 2901570 h 5753325"/>
              <a:gd name="connsiteX44" fmla="*/ 5723992 w 6492864"/>
              <a:gd name="connsiteY44" fmla="*/ 2998752 h 5753325"/>
              <a:gd name="connsiteX45" fmla="*/ 5557886 w 6492864"/>
              <a:gd name="connsiteY45" fmla="*/ 3329735 h 5753325"/>
              <a:gd name="connsiteX46" fmla="*/ 5471501 w 6492864"/>
              <a:gd name="connsiteY46" fmla="*/ 3462221 h 5753325"/>
              <a:gd name="connsiteX47" fmla="*/ 5465154 w 6492864"/>
              <a:gd name="connsiteY47" fmla="*/ 3541065 h 5753325"/>
              <a:gd name="connsiteX48" fmla="*/ 5437889 w 6492864"/>
              <a:gd name="connsiteY48" fmla="*/ 3559927 h 5753325"/>
              <a:gd name="connsiteX49" fmla="*/ 5432770 w 6492864"/>
              <a:gd name="connsiteY49" fmla="*/ 3562948 h 5753325"/>
              <a:gd name="connsiteX50" fmla="*/ 5406795 w 6492864"/>
              <a:gd name="connsiteY50" fmla="*/ 3578594 h 5753325"/>
              <a:gd name="connsiteX51" fmla="*/ 5381495 w 6492864"/>
              <a:gd name="connsiteY51" fmla="*/ 3599883 h 5753325"/>
              <a:gd name="connsiteX52" fmla="*/ 5363689 w 6492864"/>
              <a:gd name="connsiteY52" fmla="*/ 3633299 h 5753325"/>
              <a:gd name="connsiteX53" fmla="*/ 5291870 w 6492864"/>
              <a:gd name="connsiteY53" fmla="*/ 3799039 h 5753325"/>
              <a:gd name="connsiteX54" fmla="*/ 5241600 w 6492864"/>
              <a:gd name="connsiteY54" fmla="*/ 3894238 h 5753325"/>
              <a:gd name="connsiteX55" fmla="*/ 5211041 w 6492864"/>
              <a:gd name="connsiteY55" fmla="*/ 3924184 h 5753325"/>
              <a:gd name="connsiteX56" fmla="*/ 5176073 w 6492864"/>
              <a:gd name="connsiteY56" fmla="*/ 3970179 h 5753325"/>
              <a:gd name="connsiteX57" fmla="*/ 5172826 w 6492864"/>
              <a:gd name="connsiteY57" fmla="*/ 3991773 h 5753325"/>
              <a:gd name="connsiteX58" fmla="*/ 5157053 w 6492864"/>
              <a:gd name="connsiteY58" fmla="*/ 3997708 h 5753325"/>
              <a:gd name="connsiteX59" fmla="*/ 5127922 w 6492864"/>
              <a:gd name="connsiteY59" fmla="*/ 4022660 h 5753325"/>
              <a:gd name="connsiteX60" fmla="*/ 5020872 w 6492864"/>
              <a:gd name="connsiteY60" fmla="*/ 4075951 h 5753325"/>
              <a:gd name="connsiteX61" fmla="*/ 4991410 w 6492864"/>
              <a:gd name="connsiteY61" fmla="*/ 4087598 h 5753325"/>
              <a:gd name="connsiteX62" fmla="*/ 4930112 w 6492864"/>
              <a:gd name="connsiteY62" fmla="*/ 4138459 h 5753325"/>
              <a:gd name="connsiteX63" fmla="*/ 4834224 w 6492864"/>
              <a:gd name="connsiteY63" fmla="*/ 4231643 h 5753325"/>
              <a:gd name="connsiteX64" fmla="*/ 4812599 w 6492864"/>
              <a:gd name="connsiteY64" fmla="*/ 4249449 h 5753325"/>
              <a:gd name="connsiteX65" fmla="*/ 4789188 w 6492864"/>
              <a:gd name="connsiteY65" fmla="*/ 4256678 h 5753325"/>
              <a:gd name="connsiteX66" fmla="*/ 4779554 w 6492864"/>
              <a:gd name="connsiteY66" fmla="*/ 4251313 h 5753325"/>
              <a:gd name="connsiteX67" fmla="*/ 4766885 w 6492864"/>
              <a:gd name="connsiteY67" fmla="*/ 4259812 h 5753325"/>
              <a:gd name="connsiteX68" fmla="*/ 4762510 w 6492864"/>
              <a:gd name="connsiteY68" fmla="*/ 4260383 h 5753325"/>
              <a:gd name="connsiteX69" fmla="*/ 4738416 w 6492864"/>
              <a:gd name="connsiteY69" fmla="*/ 4265355 h 5753325"/>
              <a:gd name="connsiteX70" fmla="*/ 4712007 w 6492864"/>
              <a:gd name="connsiteY70" fmla="*/ 4317892 h 5753325"/>
              <a:gd name="connsiteX71" fmla="*/ 4658930 w 6492864"/>
              <a:gd name="connsiteY71" fmla="*/ 4348041 h 5753325"/>
              <a:gd name="connsiteX72" fmla="*/ 4443526 w 6492864"/>
              <a:gd name="connsiteY72" fmla="*/ 4507851 h 5753325"/>
              <a:gd name="connsiteX73" fmla="*/ 4289766 w 6492864"/>
              <a:gd name="connsiteY73" fmla="*/ 4711450 h 5753325"/>
              <a:gd name="connsiteX74" fmla="*/ 4150870 w 6492864"/>
              <a:gd name="connsiteY74" fmla="*/ 4818480 h 5753325"/>
              <a:gd name="connsiteX75" fmla="*/ 4006639 w 6492864"/>
              <a:gd name="connsiteY75" fmla="*/ 4933815 h 5753325"/>
              <a:gd name="connsiteX76" fmla="*/ 3298210 w 6492864"/>
              <a:gd name="connsiteY76" fmla="*/ 5070790 h 5753325"/>
              <a:gd name="connsiteX77" fmla="*/ 2947678 w 6492864"/>
              <a:gd name="connsiteY77" fmla="*/ 5117869 h 5753325"/>
              <a:gd name="connsiteX78" fmla="*/ 2822169 w 6492864"/>
              <a:gd name="connsiteY78" fmla="*/ 5129396 h 5753325"/>
              <a:gd name="connsiteX79" fmla="*/ 2538773 w 6492864"/>
              <a:gd name="connsiteY79" fmla="*/ 5313397 h 5753325"/>
              <a:gd name="connsiteX80" fmla="*/ 2014500 w 6492864"/>
              <a:gd name="connsiteY80" fmla="*/ 5519744 h 5753325"/>
              <a:gd name="connsiteX81" fmla="*/ 1934391 w 6492864"/>
              <a:gd name="connsiteY81" fmla="*/ 5591335 h 5753325"/>
              <a:gd name="connsiteX82" fmla="*/ 1892550 w 6492864"/>
              <a:gd name="connsiteY82" fmla="*/ 5649708 h 5753325"/>
              <a:gd name="connsiteX83" fmla="*/ 1854769 w 6492864"/>
              <a:gd name="connsiteY83" fmla="*/ 5647691 h 5753325"/>
              <a:gd name="connsiteX84" fmla="*/ 1809461 w 6492864"/>
              <a:gd name="connsiteY84" fmla="*/ 5648628 h 5753325"/>
              <a:gd name="connsiteX85" fmla="*/ 1745150 w 6492864"/>
              <a:gd name="connsiteY85" fmla="*/ 5693879 h 5753325"/>
              <a:gd name="connsiteX86" fmla="*/ 1713375 w 6492864"/>
              <a:gd name="connsiteY86" fmla="*/ 5684672 h 5753325"/>
              <a:gd name="connsiteX87" fmla="*/ 1707808 w 6492864"/>
              <a:gd name="connsiteY87" fmla="*/ 5682611 h 5753325"/>
              <a:gd name="connsiteX88" fmla="*/ 1679313 w 6492864"/>
              <a:gd name="connsiteY88" fmla="*/ 5672360 h 5753325"/>
              <a:gd name="connsiteX89" fmla="*/ 1646933 w 6492864"/>
              <a:gd name="connsiteY89" fmla="*/ 5666227 h 5753325"/>
              <a:gd name="connsiteX90" fmla="*/ 1610055 w 6492864"/>
              <a:gd name="connsiteY90" fmla="*/ 5673643 h 5753325"/>
              <a:gd name="connsiteX91" fmla="*/ 1437641 w 6492864"/>
              <a:gd name="connsiteY91" fmla="*/ 5723266 h 5753325"/>
              <a:gd name="connsiteX92" fmla="*/ 1332869 w 6492864"/>
              <a:gd name="connsiteY92" fmla="*/ 5744752 h 5753325"/>
              <a:gd name="connsiteX93" fmla="*/ 1290525 w 6492864"/>
              <a:gd name="connsiteY93" fmla="*/ 5740036 h 5753325"/>
              <a:gd name="connsiteX94" fmla="*/ 1233107 w 6492864"/>
              <a:gd name="connsiteY94" fmla="*/ 5742106 h 5753325"/>
              <a:gd name="connsiteX95" fmla="*/ 1214532 w 6492864"/>
              <a:gd name="connsiteY95" fmla="*/ 5753325 h 5753325"/>
              <a:gd name="connsiteX96" fmla="*/ 1199955 w 6492864"/>
              <a:gd name="connsiteY96" fmla="*/ 5744831 h 5753325"/>
              <a:gd name="connsiteX97" fmla="*/ 1162337 w 6492864"/>
              <a:gd name="connsiteY97" fmla="*/ 5738048 h 5753325"/>
              <a:gd name="connsiteX98" fmla="*/ 1053457 w 6492864"/>
              <a:gd name="connsiteY98" fmla="*/ 5688676 h 5753325"/>
              <a:gd name="connsiteX99" fmla="*/ 1025798 w 6492864"/>
              <a:gd name="connsiteY99" fmla="*/ 5673166 h 5753325"/>
              <a:gd name="connsiteX100" fmla="*/ 947900 w 6492864"/>
              <a:gd name="connsiteY100" fmla="*/ 5657848 h 5753325"/>
              <a:gd name="connsiteX101" fmla="*/ 815627 w 6492864"/>
              <a:gd name="connsiteY101" fmla="*/ 5642557 h 5753325"/>
              <a:gd name="connsiteX102" fmla="*/ 788251 w 6492864"/>
              <a:gd name="connsiteY102" fmla="*/ 5637065 h 5753325"/>
              <a:gd name="connsiteX103" fmla="*/ 767822 w 6492864"/>
              <a:gd name="connsiteY103" fmla="*/ 5623450 h 5753325"/>
              <a:gd name="connsiteX104" fmla="*/ 765791 w 6492864"/>
              <a:gd name="connsiteY104" fmla="*/ 5612539 h 5753325"/>
              <a:gd name="connsiteX105" fmla="*/ 751230 w 6492864"/>
              <a:gd name="connsiteY105" fmla="*/ 5608092 h 5753325"/>
              <a:gd name="connsiteX106" fmla="*/ 748008 w 6492864"/>
              <a:gd name="connsiteY106" fmla="*/ 5605052 h 5753325"/>
              <a:gd name="connsiteX107" fmla="*/ 728871 w 6492864"/>
              <a:gd name="connsiteY107" fmla="*/ 5589469 h 5753325"/>
              <a:gd name="connsiteX108" fmla="*/ 671898 w 6492864"/>
              <a:gd name="connsiteY108" fmla="*/ 5602363 h 5753325"/>
              <a:gd name="connsiteX109" fmla="*/ 615065 w 6492864"/>
              <a:gd name="connsiteY109" fmla="*/ 5580257 h 5753325"/>
              <a:gd name="connsiteX110" fmla="*/ 355785 w 6492864"/>
              <a:gd name="connsiteY110" fmla="*/ 5514383 h 5753325"/>
              <a:gd name="connsiteX111" fmla="*/ 102269 w 6492864"/>
              <a:gd name="connsiteY111" fmla="*/ 5524347 h 5753325"/>
              <a:gd name="connsiteX112" fmla="*/ 13160 w 6492864"/>
              <a:gd name="connsiteY112" fmla="*/ 5514159 h 5753325"/>
              <a:gd name="connsiteX113" fmla="*/ 0 w 6492864"/>
              <a:gd name="connsiteY113" fmla="*/ 5511735 h 5753325"/>
              <a:gd name="connsiteX114" fmla="*/ 0 w 6492864"/>
              <a:gd name="connsiteY114" fmla="*/ 0 h 5753325"/>
              <a:gd name="connsiteX0" fmla="*/ 0 w 6462955"/>
              <a:gd name="connsiteY0" fmla="*/ 0 h 5753325"/>
              <a:gd name="connsiteX1" fmla="*/ 6438980 w 6462955"/>
              <a:gd name="connsiteY1" fmla="*/ 0 h 5753325"/>
              <a:gd name="connsiteX2" fmla="*/ 6439047 w 6462955"/>
              <a:gd name="connsiteY2" fmla="*/ 147 h 5753325"/>
              <a:gd name="connsiteX3" fmla="*/ 6443456 w 6462955"/>
              <a:gd name="connsiteY3" fmla="*/ 130105 h 5753325"/>
              <a:gd name="connsiteX4" fmla="*/ 6447632 w 6462955"/>
              <a:gd name="connsiteY4" fmla="*/ 170016 h 5753325"/>
              <a:gd name="connsiteX5" fmla="*/ 6396598 w 6462955"/>
              <a:gd name="connsiteY5" fmla="*/ 274847 h 5753325"/>
              <a:gd name="connsiteX6" fmla="*/ 6375685 w 6462955"/>
              <a:gd name="connsiteY6" fmla="*/ 535865 h 5753325"/>
              <a:gd name="connsiteX7" fmla="*/ 6354187 w 6462955"/>
              <a:gd name="connsiteY7" fmla="*/ 615799 h 5753325"/>
              <a:gd name="connsiteX8" fmla="*/ 6459988 w 6462955"/>
              <a:gd name="connsiteY8" fmla="*/ 707628 h 5753325"/>
              <a:gd name="connsiteX9" fmla="*/ 6453989 w 6462955"/>
              <a:gd name="connsiteY9" fmla="*/ 711876 h 5753325"/>
              <a:gd name="connsiteX10" fmla="*/ 6453209 w 6462955"/>
              <a:gd name="connsiteY10" fmla="*/ 719127 h 5753325"/>
              <a:gd name="connsiteX11" fmla="*/ 6457662 w 6462955"/>
              <a:gd name="connsiteY11" fmla="*/ 723331 h 5753325"/>
              <a:gd name="connsiteX12" fmla="*/ 6447445 w 6462955"/>
              <a:gd name="connsiteY12" fmla="*/ 780003 h 5753325"/>
              <a:gd name="connsiteX13" fmla="*/ 6426552 w 6462955"/>
              <a:gd name="connsiteY13" fmla="*/ 845805 h 5753325"/>
              <a:gd name="connsiteX14" fmla="*/ 6434072 w 6462955"/>
              <a:gd name="connsiteY14" fmla="*/ 910733 h 5753325"/>
              <a:gd name="connsiteX15" fmla="*/ 6432570 w 6462955"/>
              <a:gd name="connsiteY15" fmla="*/ 983394 h 5753325"/>
              <a:gd name="connsiteX16" fmla="*/ 6431878 w 6462955"/>
              <a:gd name="connsiteY16" fmla="*/ 1026728 h 5753325"/>
              <a:gd name="connsiteX17" fmla="*/ 6414269 w 6462955"/>
              <a:gd name="connsiteY17" fmla="*/ 1151111 h 5753325"/>
              <a:gd name="connsiteX18" fmla="*/ 6371722 w 6462955"/>
              <a:gd name="connsiteY18" fmla="*/ 1318080 h 5753325"/>
              <a:gd name="connsiteX19" fmla="*/ 6356023 w 6462955"/>
              <a:gd name="connsiteY19" fmla="*/ 1356227 h 5753325"/>
              <a:gd name="connsiteX20" fmla="*/ 6356157 w 6462955"/>
              <a:gd name="connsiteY20" fmla="*/ 1361967 h 5753325"/>
              <a:gd name="connsiteX21" fmla="*/ 6350613 w 6462955"/>
              <a:gd name="connsiteY21" fmla="*/ 1393569 h 5753325"/>
              <a:gd name="connsiteX22" fmla="*/ 6357062 w 6462955"/>
              <a:gd name="connsiteY22" fmla="*/ 1444071 h 5753325"/>
              <a:gd name="connsiteX23" fmla="*/ 6364832 w 6462955"/>
              <a:gd name="connsiteY23" fmla="*/ 1478763 h 5753325"/>
              <a:gd name="connsiteX24" fmla="*/ 6369745 w 6462955"/>
              <a:gd name="connsiteY24" fmla="*/ 1495680 h 5753325"/>
              <a:gd name="connsiteX25" fmla="*/ 6370898 w 6462955"/>
              <a:gd name="connsiteY25" fmla="*/ 1513331 h 5753325"/>
              <a:gd name="connsiteX26" fmla="*/ 6368801 w 6462955"/>
              <a:gd name="connsiteY26" fmla="*/ 1527414 h 5753325"/>
              <a:gd name="connsiteX27" fmla="*/ 6359177 w 6462955"/>
              <a:gd name="connsiteY27" fmla="*/ 1639513 h 5753325"/>
              <a:gd name="connsiteX28" fmla="*/ 6299489 w 6462955"/>
              <a:gd name="connsiteY28" fmla="*/ 1784860 h 5753325"/>
              <a:gd name="connsiteX29" fmla="*/ 6267878 w 6462955"/>
              <a:gd name="connsiteY29" fmla="*/ 1858572 h 5753325"/>
              <a:gd name="connsiteX30" fmla="*/ 6251146 w 6462955"/>
              <a:gd name="connsiteY30" fmla="*/ 1926167 h 5753325"/>
              <a:gd name="connsiteX31" fmla="*/ 6210686 w 6462955"/>
              <a:gd name="connsiteY31" fmla="*/ 2014834 h 5753325"/>
              <a:gd name="connsiteX32" fmla="*/ 6106652 w 6462955"/>
              <a:gd name="connsiteY32" fmla="*/ 2150572 h 5753325"/>
              <a:gd name="connsiteX33" fmla="*/ 6097813 w 6462955"/>
              <a:gd name="connsiteY33" fmla="*/ 2172208 h 5753325"/>
              <a:gd name="connsiteX34" fmla="*/ 6095990 w 6462955"/>
              <a:gd name="connsiteY34" fmla="*/ 2181185 h 5753325"/>
              <a:gd name="connsiteX35" fmla="*/ 6090126 w 6462955"/>
              <a:gd name="connsiteY35" fmla="*/ 2192533 h 5753325"/>
              <a:gd name="connsiteX36" fmla="*/ 6089503 w 6462955"/>
              <a:gd name="connsiteY36" fmla="*/ 2192543 h 5753325"/>
              <a:gd name="connsiteX37" fmla="*/ 6084946 w 6462955"/>
              <a:gd name="connsiteY37" fmla="*/ 2203694 h 5753325"/>
              <a:gd name="connsiteX38" fmla="*/ 5987861 w 6462955"/>
              <a:gd name="connsiteY38" fmla="*/ 2304868 h 5753325"/>
              <a:gd name="connsiteX39" fmla="*/ 5973439 w 6462955"/>
              <a:gd name="connsiteY39" fmla="*/ 2385635 h 5753325"/>
              <a:gd name="connsiteX40" fmla="*/ 5916727 w 6462955"/>
              <a:gd name="connsiteY40" fmla="*/ 2458777 h 5753325"/>
              <a:gd name="connsiteX41" fmla="*/ 5856524 w 6462955"/>
              <a:gd name="connsiteY41" fmla="*/ 2583281 h 5753325"/>
              <a:gd name="connsiteX42" fmla="*/ 5838091 w 6462955"/>
              <a:gd name="connsiteY42" fmla="*/ 2753474 h 5753325"/>
              <a:gd name="connsiteX43" fmla="*/ 5777471 w 6462955"/>
              <a:gd name="connsiteY43" fmla="*/ 2901570 h 5753325"/>
              <a:gd name="connsiteX44" fmla="*/ 5723992 w 6462955"/>
              <a:gd name="connsiteY44" fmla="*/ 2998752 h 5753325"/>
              <a:gd name="connsiteX45" fmla="*/ 5557886 w 6462955"/>
              <a:gd name="connsiteY45" fmla="*/ 3329735 h 5753325"/>
              <a:gd name="connsiteX46" fmla="*/ 5471501 w 6462955"/>
              <a:gd name="connsiteY46" fmla="*/ 3462221 h 5753325"/>
              <a:gd name="connsiteX47" fmla="*/ 5465154 w 6462955"/>
              <a:gd name="connsiteY47" fmla="*/ 3541065 h 5753325"/>
              <a:gd name="connsiteX48" fmla="*/ 5437889 w 6462955"/>
              <a:gd name="connsiteY48" fmla="*/ 3559927 h 5753325"/>
              <a:gd name="connsiteX49" fmla="*/ 5432770 w 6462955"/>
              <a:gd name="connsiteY49" fmla="*/ 3562948 h 5753325"/>
              <a:gd name="connsiteX50" fmla="*/ 5406795 w 6462955"/>
              <a:gd name="connsiteY50" fmla="*/ 3578594 h 5753325"/>
              <a:gd name="connsiteX51" fmla="*/ 5381495 w 6462955"/>
              <a:gd name="connsiteY51" fmla="*/ 3599883 h 5753325"/>
              <a:gd name="connsiteX52" fmla="*/ 5363689 w 6462955"/>
              <a:gd name="connsiteY52" fmla="*/ 3633299 h 5753325"/>
              <a:gd name="connsiteX53" fmla="*/ 5291870 w 6462955"/>
              <a:gd name="connsiteY53" fmla="*/ 3799039 h 5753325"/>
              <a:gd name="connsiteX54" fmla="*/ 5241600 w 6462955"/>
              <a:gd name="connsiteY54" fmla="*/ 3894238 h 5753325"/>
              <a:gd name="connsiteX55" fmla="*/ 5211041 w 6462955"/>
              <a:gd name="connsiteY55" fmla="*/ 3924184 h 5753325"/>
              <a:gd name="connsiteX56" fmla="*/ 5176073 w 6462955"/>
              <a:gd name="connsiteY56" fmla="*/ 3970179 h 5753325"/>
              <a:gd name="connsiteX57" fmla="*/ 5172826 w 6462955"/>
              <a:gd name="connsiteY57" fmla="*/ 3991773 h 5753325"/>
              <a:gd name="connsiteX58" fmla="*/ 5157053 w 6462955"/>
              <a:gd name="connsiteY58" fmla="*/ 3997708 h 5753325"/>
              <a:gd name="connsiteX59" fmla="*/ 5127922 w 6462955"/>
              <a:gd name="connsiteY59" fmla="*/ 4022660 h 5753325"/>
              <a:gd name="connsiteX60" fmla="*/ 5020872 w 6462955"/>
              <a:gd name="connsiteY60" fmla="*/ 4075951 h 5753325"/>
              <a:gd name="connsiteX61" fmla="*/ 4991410 w 6462955"/>
              <a:gd name="connsiteY61" fmla="*/ 4087598 h 5753325"/>
              <a:gd name="connsiteX62" fmla="*/ 4930112 w 6462955"/>
              <a:gd name="connsiteY62" fmla="*/ 4138459 h 5753325"/>
              <a:gd name="connsiteX63" fmla="*/ 4834224 w 6462955"/>
              <a:gd name="connsiteY63" fmla="*/ 4231643 h 5753325"/>
              <a:gd name="connsiteX64" fmla="*/ 4812599 w 6462955"/>
              <a:gd name="connsiteY64" fmla="*/ 4249449 h 5753325"/>
              <a:gd name="connsiteX65" fmla="*/ 4789188 w 6462955"/>
              <a:gd name="connsiteY65" fmla="*/ 4256678 h 5753325"/>
              <a:gd name="connsiteX66" fmla="*/ 4779554 w 6462955"/>
              <a:gd name="connsiteY66" fmla="*/ 4251313 h 5753325"/>
              <a:gd name="connsiteX67" fmla="*/ 4766885 w 6462955"/>
              <a:gd name="connsiteY67" fmla="*/ 4259812 h 5753325"/>
              <a:gd name="connsiteX68" fmla="*/ 4762510 w 6462955"/>
              <a:gd name="connsiteY68" fmla="*/ 4260383 h 5753325"/>
              <a:gd name="connsiteX69" fmla="*/ 4738416 w 6462955"/>
              <a:gd name="connsiteY69" fmla="*/ 4265355 h 5753325"/>
              <a:gd name="connsiteX70" fmla="*/ 4712007 w 6462955"/>
              <a:gd name="connsiteY70" fmla="*/ 4317892 h 5753325"/>
              <a:gd name="connsiteX71" fmla="*/ 4658930 w 6462955"/>
              <a:gd name="connsiteY71" fmla="*/ 4348041 h 5753325"/>
              <a:gd name="connsiteX72" fmla="*/ 4443526 w 6462955"/>
              <a:gd name="connsiteY72" fmla="*/ 4507851 h 5753325"/>
              <a:gd name="connsiteX73" fmla="*/ 4289766 w 6462955"/>
              <a:gd name="connsiteY73" fmla="*/ 4711450 h 5753325"/>
              <a:gd name="connsiteX74" fmla="*/ 4150870 w 6462955"/>
              <a:gd name="connsiteY74" fmla="*/ 4818480 h 5753325"/>
              <a:gd name="connsiteX75" fmla="*/ 4006639 w 6462955"/>
              <a:gd name="connsiteY75" fmla="*/ 4933815 h 5753325"/>
              <a:gd name="connsiteX76" fmla="*/ 3298210 w 6462955"/>
              <a:gd name="connsiteY76" fmla="*/ 5070790 h 5753325"/>
              <a:gd name="connsiteX77" fmla="*/ 2947678 w 6462955"/>
              <a:gd name="connsiteY77" fmla="*/ 5117869 h 5753325"/>
              <a:gd name="connsiteX78" fmla="*/ 2822169 w 6462955"/>
              <a:gd name="connsiteY78" fmla="*/ 5129396 h 5753325"/>
              <a:gd name="connsiteX79" fmla="*/ 2538773 w 6462955"/>
              <a:gd name="connsiteY79" fmla="*/ 5313397 h 5753325"/>
              <a:gd name="connsiteX80" fmla="*/ 2014500 w 6462955"/>
              <a:gd name="connsiteY80" fmla="*/ 5519744 h 5753325"/>
              <a:gd name="connsiteX81" fmla="*/ 1934391 w 6462955"/>
              <a:gd name="connsiteY81" fmla="*/ 5591335 h 5753325"/>
              <a:gd name="connsiteX82" fmla="*/ 1892550 w 6462955"/>
              <a:gd name="connsiteY82" fmla="*/ 5649708 h 5753325"/>
              <a:gd name="connsiteX83" fmla="*/ 1854769 w 6462955"/>
              <a:gd name="connsiteY83" fmla="*/ 5647691 h 5753325"/>
              <a:gd name="connsiteX84" fmla="*/ 1809461 w 6462955"/>
              <a:gd name="connsiteY84" fmla="*/ 5648628 h 5753325"/>
              <a:gd name="connsiteX85" fmla="*/ 1745150 w 6462955"/>
              <a:gd name="connsiteY85" fmla="*/ 5693879 h 5753325"/>
              <a:gd name="connsiteX86" fmla="*/ 1713375 w 6462955"/>
              <a:gd name="connsiteY86" fmla="*/ 5684672 h 5753325"/>
              <a:gd name="connsiteX87" fmla="*/ 1707808 w 6462955"/>
              <a:gd name="connsiteY87" fmla="*/ 5682611 h 5753325"/>
              <a:gd name="connsiteX88" fmla="*/ 1679313 w 6462955"/>
              <a:gd name="connsiteY88" fmla="*/ 5672360 h 5753325"/>
              <a:gd name="connsiteX89" fmla="*/ 1646933 w 6462955"/>
              <a:gd name="connsiteY89" fmla="*/ 5666227 h 5753325"/>
              <a:gd name="connsiteX90" fmla="*/ 1610055 w 6462955"/>
              <a:gd name="connsiteY90" fmla="*/ 5673643 h 5753325"/>
              <a:gd name="connsiteX91" fmla="*/ 1437641 w 6462955"/>
              <a:gd name="connsiteY91" fmla="*/ 5723266 h 5753325"/>
              <a:gd name="connsiteX92" fmla="*/ 1332869 w 6462955"/>
              <a:gd name="connsiteY92" fmla="*/ 5744752 h 5753325"/>
              <a:gd name="connsiteX93" fmla="*/ 1290525 w 6462955"/>
              <a:gd name="connsiteY93" fmla="*/ 5740036 h 5753325"/>
              <a:gd name="connsiteX94" fmla="*/ 1233107 w 6462955"/>
              <a:gd name="connsiteY94" fmla="*/ 5742106 h 5753325"/>
              <a:gd name="connsiteX95" fmla="*/ 1214532 w 6462955"/>
              <a:gd name="connsiteY95" fmla="*/ 5753325 h 5753325"/>
              <a:gd name="connsiteX96" fmla="*/ 1199955 w 6462955"/>
              <a:gd name="connsiteY96" fmla="*/ 5744831 h 5753325"/>
              <a:gd name="connsiteX97" fmla="*/ 1162337 w 6462955"/>
              <a:gd name="connsiteY97" fmla="*/ 5738048 h 5753325"/>
              <a:gd name="connsiteX98" fmla="*/ 1053457 w 6462955"/>
              <a:gd name="connsiteY98" fmla="*/ 5688676 h 5753325"/>
              <a:gd name="connsiteX99" fmla="*/ 1025798 w 6462955"/>
              <a:gd name="connsiteY99" fmla="*/ 5673166 h 5753325"/>
              <a:gd name="connsiteX100" fmla="*/ 947900 w 6462955"/>
              <a:gd name="connsiteY100" fmla="*/ 5657848 h 5753325"/>
              <a:gd name="connsiteX101" fmla="*/ 815627 w 6462955"/>
              <a:gd name="connsiteY101" fmla="*/ 5642557 h 5753325"/>
              <a:gd name="connsiteX102" fmla="*/ 788251 w 6462955"/>
              <a:gd name="connsiteY102" fmla="*/ 5637065 h 5753325"/>
              <a:gd name="connsiteX103" fmla="*/ 767822 w 6462955"/>
              <a:gd name="connsiteY103" fmla="*/ 5623450 h 5753325"/>
              <a:gd name="connsiteX104" fmla="*/ 765791 w 6462955"/>
              <a:gd name="connsiteY104" fmla="*/ 5612539 h 5753325"/>
              <a:gd name="connsiteX105" fmla="*/ 751230 w 6462955"/>
              <a:gd name="connsiteY105" fmla="*/ 5608092 h 5753325"/>
              <a:gd name="connsiteX106" fmla="*/ 748008 w 6462955"/>
              <a:gd name="connsiteY106" fmla="*/ 5605052 h 5753325"/>
              <a:gd name="connsiteX107" fmla="*/ 728871 w 6462955"/>
              <a:gd name="connsiteY107" fmla="*/ 5589469 h 5753325"/>
              <a:gd name="connsiteX108" fmla="*/ 671898 w 6462955"/>
              <a:gd name="connsiteY108" fmla="*/ 5602363 h 5753325"/>
              <a:gd name="connsiteX109" fmla="*/ 615065 w 6462955"/>
              <a:gd name="connsiteY109" fmla="*/ 5580257 h 5753325"/>
              <a:gd name="connsiteX110" fmla="*/ 355785 w 6462955"/>
              <a:gd name="connsiteY110" fmla="*/ 5514383 h 5753325"/>
              <a:gd name="connsiteX111" fmla="*/ 102269 w 6462955"/>
              <a:gd name="connsiteY111" fmla="*/ 5524347 h 5753325"/>
              <a:gd name="connsiteX112" fmla="*/ 13160 w 6462955"/>
              <a:gd name="connsiteY112" fmla="*/ 5514159 h 5753325"/>
              <a:gd name="connsiteX113" fmla="*/ 0 w 6462955"/>
              <a:gd name="connsiteY113" fmla="*/ 5511735 h 5753325"/>
              <a:gd name="connsiteX114" fmla="*/ 0 w 6462955"/>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453209 w 6459988"/>
              <a:gd name="connsiteY10" fmla="*/ 719127 h 5753325"/>
              <a:gd name="connsiteX11" fmla="*/ 6344988 w 6459988"/>
              <a:gd name="connsiteY11" fmla="*/ 697330 h 5753325"/>
              <a:gd name="connsiteX12" fmla="*/ 6447445 w 6459988"/>
              <a:gd name="connsiteY12" fmla="*/ 780003 h 5753325"/>
              <a:gd name="connsiteX13" fmla="*/ 6426552 w 6459988"/>
              <a:gd name="connsiteY13" fmla="*/ 845805 h 5753325"/>
              <a:gd name="connsiteX14" fmla="*/ 6434072 w 6459988"/>
              <a:gd name="connsiteY14" fmla="*/ 910733 h 5753325"/>
              <a:gd name="connsiteX15" fmla="*/ 6432570 w 6459988"/>
              <a:gd name="connsiteY15" fmla="*/ 983394 h 5753325"/>
              <a:gd name="connsiteX16" fmla="*/ 6431878 w 6459988"/>
              <a:gd name="connsiteY16" fmla="*/ 1026728 h 5753325"/>
              <a:gd name="connsiteX17" fmla="*/ 6414269 w 6459988"/>
              <a:gd name="connsiteY17" fmla="*/ 1151111 h 5753325"/>
              <a:gd name="connsiteX18" fmla="*/ 6371722 w 6459988"/>
              <a:gd name="connsiteY18" fmla="*/ 1318080 h 5753325"/>
              <a:gd name="connsiteX19" fmla="*/ 6356023 w 6459988"/>
              <a:gd name="connsiteY19" fmla="*/ 1356227 h 5753325"/>
              <a:gd name="connsiteX20" fmla="*/ 6356157 w 6459988"/>
              <a:gd name="connsiteY20" fmla="*/ 1361967 h 5753325"/>
              <a:gd name="connsiteX21" fmla="*/ 6350613 w 6459988"/>
              <a:gd name="connsiteY21" fmla="*/ 1393569 h 5753325"/>
              <a:gd name="connsiteX22" fmla="*/ 6357062 w 6459988"/>
              <a:gd name="connsiteY22" fmla="*/ 1444071 h 5753325"/>
              <a:gd name="connsiteX23" fmla="*/ 6364832 w 6459988"/>
              <a:gd name="connsiteY23" fmla="*/ 1478763 h 5753325"/>
              <a:gd name="connsiteX24" fmla="*/ 6369745 w 6459988"/>
              <a:gd name="connsiteY24" fmla="*/ 1495680 h 5753325"/>
              <a:gd name="connsiteX25" fmla="*/ 6370898 w 6459988"/>
              <a:gd name="connsiteY25" fmla="*/ 1513331 h 5753325"/>
              <a:gd name="connsiteX26" fmla="*/ 6368801 w 6459988"/>
              <a:gd name="connsiteY26" fmla="*/ 1527414 h 5753325"/>
              <a:gd name="connsiteX27" fmla="*/ 6359177 w 6459988"/>
              <a:gd name="connsiteY27" fmla="*/ 1639513 h 5753325"/>
              <a:gd name="connsiteX28" fmla="*/ 6299489 w 6459988"/>
              <a:gd name="connsiteY28" fmla="*/ 1784860 h 5753325"/>
              <a:gd name="connsiteX29" fmla="*/ 6267878 w 6459988"/>
              <a:gd name="connsiteY29" fmla="*/ 1858572 h 5753325"/>
              <a:gd name="connsiteX30" fmla="*/ 6251146 w 6459988"/>
              <a:gd name="connsiteY30" fmla="*/ 1926167 h 5753325"/>
              <a:gd name="connsiteX31" fmla="*/ 6210686 w 6459988"/>
              <a:gd name="connsiteY31" fmla="*/ 2014834 h 5753325"/>
              <a:gd name="connsiteX32" fmla="*/ 6106652 w 6459988"/>
              <a:gd name="connsiteY32" fmla="*/ 2150572 h 5753325"/>
              <a:gd name="connsiteX33" fmla="*/ 6097813 w 6459988"/>
              <a:gd name="connsiteY33" fmla="*/ 2172208 h 5753325"/>
              <a:gd name="connsiteX34" fmla="*/ 6095990 w 6459988"/>
              <a:gd name="connsiteY34" fmla="*/ 2181185 h 5753325"/>
              <a:gd name="connsiteX35" fmla="*/ 6090126 w 6459988"/>
              <a:gd name="connsiteY35" fmla="*/ 2192533 h 5753325"/>
              <a:gd name="connsiteX36" fmla="*/ 6089503 w 6459988"/>
              <a:gd name="connsiteY36" fmla="*/ 2192543 h 5753325"/>
              <a:gd name="connsiteX37" fmla="*/ 6084946 w 6459988"/>
              <a:gd name="connsiteY37" fmla="*/ 2203694 h 5753325"/>
              <a:gd name="connsiteX38" fmla="*/ 5987861 w 6459988"/>
              <a:gd name="connsiteY38" fmla="*/ 2304868 h 5753325"/>
              <a:gd name="connsiteX39" fmla="*/ 5973439 w 6459988"/>
              <a:gd name="connsiteY39" fmla="*/ 2385635 h 5753325"/>
              <a:gd name="connsiteX40" fmla="*/ 5916727 w 6459988"/>
              <a:gd name="connsiteY40" fmla="*/ 2458777 h 5753325"/>
              <a:gd name="connsiteX41" fmla="*/ 5856524 w 6459988"/>
              <a:gd name="connsiteY41" fmla="*/ 2583281 h 5753325"/>
              <a:gd name="connsiteX42" fmla="*/ 5838091 w 6459988"/>
              <a:gd name="connsiteY42" fmla="*/ 2753474 h 5753325"/>
              <a:gd name="connsiteX43" fmla="*/ 5777471 w 6459988"/>
              <a:gd name="connsiteY43" fmla="*/ 2901570 h 5753325"/>
              <a:gd name="connsiteX44" fmla="*/ 5723992 w 6459988"/>
              <a:gd name="connsiteY44" fmla="*/ 2998752 h 5753325"/>
              <a:gd name="connsiteX45" fmla="*/ 5557886 w 6459988"/>
              <a:gd name="connsiteY45" fmla="*/ 3329735 h 5753325"/>
              <a:gd name="connsiteX46" fmla="*/ 5471501 w 6459988"/>
              <a:gd name="connsiteY46" fmla="*/ 3462221 h 5753325"/>
              <a:gd name="connsiteX47" fmla="*/ 5465154 w 6459988"/>
              <a:gd name="connsiteY47" fmla="*/ 3541065 h 5753325"/>
              <a:gd name="connsiteX48" fmla="*/ 5437889 w 6459988"/>
              <a:gd name="connsiteY48" fmla="*/ 3559927 h 5753325"/>
              <a:gd name="connsiteX49" fmla="*/ 5432770 w 6459988"/>
              <a:gd name="connsiteY49" fmla="*/ 3562948 h 5753325"/>
              <a:gd name="connsiteX50" fmla="*/ 5406795 w 6459988"/>
              <a:gd name="connsiteY50" fmla="*/ 3578594 h 5753325"/>
              <a:gd name="connsiteX51" fmla="*/ 5381495 w 6459988"/>
              <a:gd name="connsiteY51" fmla="*/ 3599883 h 5753325"/>
              <a:gd name="connsiteX52" fmla="*/ 5363689 w 6459988"/>
              <a:gd name="connsiteY52" fmla="*/ 3633299 h 5753325"/>
              <a:gd name="connsiteX53" fmla="*/ 5291870 w 6459988"/>
              <a:gd name="connsiteY53" fmla="*/ 3799039 h 5753325"/>
              <a:gd name="connsiteX54" fmla="*/ 5241600 w 6459988"/>
              <a:gd name="connsiteY54" fmla="*/ 3894238 h 5753325"/>
              <a:gd name="connsiteX55" fmla="*/ 5211041 w 6459988"/>
              <a:gd name="connsiteY55" fmla="*/ 3924184 h 5753325"/>
              <a:gd name="connsiteX56" fmla="*/ 5176073 w 6459988"/>
              <a:gd name="connsiteY56" fmla="*/ 3970179 h 5753325"/>
              <a:gd name="connsiteX57" fmla="*/ 5172826 w 6459988"/>
              <a:gd name="connsiteY57" fmla="*/ 3991773 h 5753325"/>
              <a:gd name="connsiteX58" fmla="*/ 5157053 w 6459988"/>
              <a:gd name="connsiteY58" fmla="*/ 3997708 h 5753325"/>
              <a:gd name="connsiteX59" fmla="*/ 5127922 w 6459988"/>
              <a:gd name="connsiteY59" fmla="*/ 4022660 h 5753325"/>
              <a:gd name="connsiteX60" fmla="*/ 5020872 w 6459988"/>
              <a:gd name="connsiteY60" fmla="*/ 4075951 h 5753325"/>
              <a:gd name="connsiteX61" fmla="*/ 4991410 w 6459988"/>
              <a:gd name="connsiteY61" fmla="*/ 4087598 h 5753325"/>
              <a:gd name="connsiteX62" fmla="*/ 4930112 w 6459988"/>
              <a:gd name="connsiteY62" fmla="*/ 4138459 h 5753325"/>
              <a:gd name="connsiteX63" fmla="*/ 4834224 w 6459988"/>
              <a:gd name="connsiteY63" fmla="*/ 4231643 h 5753325"/>
              <a:gd name="connsiteX64" fmla="*/ 4812599 w 6459988"/>
              <a:gd name="connsiteY64" fmla="*/ 4249449 h 5753325"/>
              <a:gd name="connsiteX65" fmla="*/ 4789188 w 6459988"/>
              <a:gd name="connsiteY65" fmla="*/ 4256678 h 5753325"/>
              <a:gd name="connsiteX66" fmla="*/ 4779554 w 6459988"/>
              <a:gd name="connsiteY66" fmla="*/ 4251313 h 5753325"/>
              <a:gd name="connsiteX67" fmla="*/ 4766885 w 6459988"/>
              <a:gd name="connsiteY67" fmla="*/ 4259812 h 5753325"/>
              <a:gd name="connsiteX68" fmla="*/ 4762510 w 6459988"/>
              <a:gd name="connsiteY68" fmla="*/ 4260383 h 5753325"/>
              <a:gd name="connsiteX69" fmla="*/ 4738416 w 6459988"/>
              <a:gd name="connsiteY69" fmla="*/ 4265355 h 5753325"/>
              <a:gd name="connsiteX70" fmla="*/ 4712007 w 6459988"/>
              <a:gd name="connsiteY70" fmla="*/ 4317892 h 5753325"/>
              <a:gd name="connsiteX71" fmla="*/ 4658930 w 6459988"/>
              <a:gd name="connsiteY71" fmla="*/ 4348041 h 5753325"/>
              <a:gd name="connsiteX72" fmla="*/ 4443526 w 6459988"/>
              <a:gd name="connsiteY72" fmla="*/ 4507851 h 5753325"/>
              <a:gd name="connsiteX73" fmla="*/ 4289766 w 6459988"/>
              <a:gd name="connsiteY73" fmla="*/ 4711450 h 5753325"/>
              <a:gd name="connsiteX74" fmla="*/ 4150870 w 6459988"/>
              <a:gd name="connsiteY74" fmla="*/ 4818480 h 5753325"/>
              <a:gd name="connsiteX75" fmla="*/ 4006639 w 6459988"/>
              <a:gd name="connsiteY75" fmla="*/ 4933815 h 5753325"/>
              <a:gd name="connsiteX76" fmla="*/ 3298210 w 6459988"/>
              <a:gd name="connsiteY76" fmla="*/ 5070790 h 5753325"/>
              <a:gd name="connsiteX77" fmla="*/ 2947678 w 6459988"/>
              <a:gd name="connsiteY77" fmla="*/ 5117869 h 5753325"/>
              <a:gd name="connsiteX78" fmla="*/ 2822169 w 6459988"/>
              <a:gd name="connsiteY78" fmla="*/ 5129396 h 5753325"/>
              <a:gd name="connsiteX79" fmla="*/ 2538773 w 6459988"/>
              <a:gd name="connsiteY79" fmla="*/ 5313397 h 5753325"/>
              <a:gd name="connsiteX80" fmla="*/ 2014500 w 6459988"/>
              <a:gd name="connsiteY80" fmla="*/ 5519744 h 5753325"/>
              <a:gd name="connsiteX81" fmla="*/ 1934391 w 6459988"/>
              <a:gd name="connsiteY81" fmla="*/ 5591335 h 5753325"/>
              <a:gd name="connsiteX82" fmla="*/ 1892550 w 6459988"/>
              <a:gd name="connsiteY82" fmla="*/ 5649708 h 5753325"/>
              <a:gd name="connsiteX83" fmla="*/ 1854769 w 6459988"/>
              <a:gd name="connsiteY83" fmla="*/ 5647691 h 5753325"/>
              <a:gd name="connsiteX84" fmla="*/ 1809461 w 6459988"/>
              <a:gd name="connsiteY84" fmla="*/ 5648628 h 5753325"/>
              <a:gd name="connsiteX85" fmla="*/ 1745150 w 6459988"/>
              <a:gd name="connsiteY85" fmla="*/ 5693879 h 5753325"/>
              <a:gd name="connsiteX86" fmla="*/ 1713375 w 6459988"/>
              <a:gd name="connsiteY86" fmla="*/ 5684672 h 5753325"/>
              <a:gd name="connsiteX87" fmla="*/ 1707808 w 6459988"/>
              <a:gd name="connsiteY87" fmla="*/ 5682611 h 5753325"/>
              <a:gd name="connsiteX88" fmla="*/ 1679313 w 6459988"/>
              <a:gd name="connsiteY88" fmla="*/ 5672360 h 5753325"/>
              <a:gd name="connsiteX89" fmla="*/ 1646933 w 6459988"/>
              <a:gd name="connsiteY89" fmla="*/ 5666227 h 5753325"/>
              <a:gd name="connsiteX90" fmla="*/ 1610055 w 6459988"/>
              <a:gd name="connsiteY90" fmla="*/ 5673643 h 5753325"/>
              <a:gd name="connsiteX91" fmla="*/ 1437641 w 6459988"/>
              <a:gd name="connsiteY91" fmla="*/ 5723266 h 5753325"/>
              <a:gd name="connsiteX92" fmla="*/ 1332869 w 6459988"/>
              <a:gd name="connsiteY92" fmla="*/ 5744752 h 5753325"/>
              <a:gd name="connsiteX93" fmla="*/ 1290525 w 6459988"/>
              <a:gd name="connsiteY93" fmla="*/ 5740036 h 5753325"/>
              <a:gd name="connsiteX94" fmla="*/ 1233107 w 6459988"/>
              <a:gd name="connsiteY94" fmla="*/ 5742106 h 5753325"/>
              <a:gd name="connsiteX95" fmla="*/ 1214532 w 6459988"/>
              <a:gd name="connsiteY95" fmla="*/ 5753325 h 5753325"/>
              <a:gd name="connsiteX96" fmla="*/ 1199955 w 6459988"/>
              <a:gd name="connsiteY96" fmla="*/ 5744831 h 5753325"/>
              <a:gd name="connsiteX97" fmla="*/ 1162337 w 6459988"/>
              <a:gd name="connsiteY97" fmla="*/ 5738048 h 5753325"/>
              <a:gd name="connsiteX98" fmla="*/ 1053457 w 6459988"/>
              <a:gd name="connsiteY98" fmla="*/ 5688676 h 5753325"/>
              <a:gd name="connsiteX99" fmla="*/ 1025798 w 6459988"/>
              <a:gd name="connsiteY99" fmla="*/ 5673166 h 5753325"/>
              <a:gd name="connsiteX100" fmla="*/ 947900 w 6459988"/>
              <a:gd name="connsiteY100" fmla="*/ 5657848 h 5753325"/>
              <a:gd name="connsiteX101" fmla="*/ 815627 w 6459988"/>
              <a:gd name="connsiteY101" fmla="*/ 5642557 h 5753325"/>
              <a:gd name="connsiteX102" fmla="*/ 788251 w 6459988"/>
              <a:gd name="connsiteY102" fmla="*/ 5637065 h 5753325"/>
              <a:gd name="connsiteX103" fmla="*/ 767822 w 6459988"/>
              <a:gd name="connsiteY103" fmla="*/ 5623450 h 5753325"/>
              <a:gd name="connsiteX104" fmla="*/ 765791 w 6459988"/>
              <a:gd name="connsiteY104" fmla="*/ 5612539 h 5753325"/>
              <a:gd name="connsiteX105" fmla="*/ 751230 w 6459988"/>
              <a:gd name="connsiteY105" fmla="*/ 5608092 h 5753325"/>
              <a:gd name="connsiteX106" fmla="*/ 748008 w 6459988"/>
              <a:gd name="connsiteY106" fmla="*/ 5605052 h 5753325"/>
              <a:gd name="connsiteX107" fmla="*/ 728871 w 6459988"/>
              <a:gd name="connsiteY107" fmla="*/ 5589469 h 5753325"/>
              <a:gd name="connsiteX108" fmla="*/ 671898 w 6459988"/>
              <a:gd name="connsiteY108" fmla="*/ 5602363 h 5753325"/>
              <a:gd name="connsiteX109" fmla="*/ 615065 w 6459988"/>
              <a:gd name="connsiteY109" fmla="*/ 5580257 h 5753325"/>
              <a:gd name="connsiteX110" fmla="*/ 355785 w 6459988"/>
              <a:gd name="connsiteY110" fmla="*/ 5514383 h 5753325"/>
              <a:gd name="connsiteX111" fmla="*/ 102269 w 6459988"/>
              <a:gd name="connsiteY111" fmla="*/ 5524347 h 5753325"/>
              <a:gd name="connsiteX112" fmla="*/ 13160 w 6459988"/>
              <a:gd name="connsiteY112" fmla="*/ 5514159 h 5753325"/>
              <a:gd name="connsiteX113" fmla="*/ 0 w 6459988"/>
              <a:gd name="connsiteY113" fmla="*/ 5511735 h 5753325"/>
              <a:gd name="connsiteX114" fmla="*/ 0 w 6459988"/>
              <a:gd name="connsiteY114"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453989 w 6459988"/>
              <a:gd name="connsiteY9" fmla="*/ 711876 h 5753325"/>
              <a:gd name="connsiteX10" fmla="*/ 6344988 w 6459988"/>
              <a:gd name="connsiteY10" fmla="*/ 697330 h 5753325"/>
              <a:gd name="connsiteX11" fmla="*/ 6447445 w 6459988"/>
              <a:gd name="connsiteY11" fmla="*/ 780003 h 5753325"/>
              <a:gd name="connsiteX12" fmla="*/ 6426552 w 6459988"/>
              <a:gd name="connsiteY12" fmla="*/ 845805 h 5753325"/>
              <a:gd name="connsiteX13" fmla="*/ 6434072 w 6459988"/>
              <a:gd name="connsiteY13" fmla="*/ 910733 h 5753325"/>
              <a:gd name="connsiteX14" fmla="*/ 6432570 w 6459988"/>
              <a:gd name="connsiteY14" fmla="*/ 983394 h 5753325"/>
              <a:gd name="connsiteX15" fmla="*/ 6431878 w 6459988"/>
              <a:gd name="connsiteY15" fmla="*/ 1026728 h 5753325"/>
              <a:gd name="connsiteX16" fmla="*/ 6414269 w 6459988"/>
              <a:gd name="connsiteY16" fmla="*/ 1151111 h 5753325"/>
              <a:gd name="connsiteX17" fmla="*/ 6371722 w 6459988"/>
              <a:gd name="connsiteY17" fmla="*/ 1318080 h 5753325"/>
              <a:gd name="connsiteX18" fmla="*/ 6356023 w 6459988"/>
              <a:gd name="connsiteY18" fmla="*/ 1356227 h 5753325"/>
              <a:gd name="connsiteX19" fmla="*/ 6356157 w 6459988"/>
              <a:gd name="connsiteY19" fmla="*/ 1361967 h 5753325"/>
              <a:gd name="connsiteX20" fmla="*/ 6350613 w 6459988"/>
              <a:gd name="connsiteY20" fmla="*/ 1393569 h 5753325"/>
              <a:gd name="connsiteX21" fmla="*/ 6357062 w 6459988"/>
              <a:gd name="connsiteY21" fmla="*/ 1444071 h 5753325"/>
              <a:gd name="connsiteX22" fmla="*/ 6364832 w 6459988"/>
              <a:gd name="connsiteY22" fmla="*/ 1478763 h 5753325"/>
              <a:gd name="connsiteX23" fmla="*/ 6369745 w 6459988"/>
              <a:gd name="connsiteY23" fmla="*/ 1495680 h 5753325"/>
              <a:gd name="connsiteX24" fmla="*/ 6370898 w 6459988"/>
              <a:gd name="connsiteY24" fmla="*/ 1513331 h 5753325"/>
              <a:gd name="connsiteX25" fmla="*/ 6368801 w 6459988"/>
              <a:gd name="connsiteY25" fmla="*/ 1527414 h 5753325"/>
              <a:gd name="connsiteX26" fmla="*/ 6359177 w 6459988"/>
              <a:gd name="connsiteY26" fmla="*/ 1639513 h 5753325"/>
              <a:gd name="connsiteX27" fmla="*/ 6299489 w 6459988"/>
              <a:gd name="connsiteY27" fmla="*/ 1784860 h 5753325"/>
              <a:gd name="connsiteX28" fmla="*/ 6267878 w 6459988"/>
              <a:gd name="connsiteY28" fmla="*/ 1858572 h 5753325"/>
              <a:gd name="connsiteX29" fmla="*/ 6251146 w 6459988"/>
              <a:gd name="connsiteY29" fmla="*/ 1926167 h 5753325"/>
              <a:gd name="connsiteX30" fmla="*/ 6210686 w 6459988"/>
              <a:gd name="connsiteY30" fmla="*/ 2014834 h 5753325"/>
              <a:gd name="connsiteX31" fmla="*/ 6106652 w 6459988"/>
              <a:gd name="connsiteY31" fmla="*/ 2150572 h 5753325"/>
              <a:gd name="connsiteX32" fmla="*/ 6097813 w 6459988"/>
              <a:gd name="connsiteY32" fmla="*/ 2172208 h 5753325"/>
              <a:gd name="connsiteX33" fmla="*/ 6095990 w 6459988"/>
              <a:gd name="connsiteY33" fmla="*/ 2181185 h 5753325"/>
              <a:gd name="connsiteX34" fmla="*/ 6090126 w 6459988"/>
              <a:gd name="connsiteY34" fmla="*/ 2192533 h 5753325"/>
              <a:gd name="connsiteX35" fmla="*/ 6089503 w 6459988"/>
              <a:gd name="connsiteY35" fmla="*/ 2192543 h 5753325"/>
              <a:gd name="connsiteX36" fmla="*/ 6084946 w 6459988"/>
              <a:gd name="connsiteY36" fmla="*/ 2203694 h 5753325"/>
              <a:gd name="connsiteX37" fmla="*/ 5987861 w 6459988"/>
              <a:gd name="connsiteY37" fmla="*/ 2304868 h 5753325"/>
              <a:gd name="connsiteX38" fmla="*/ 5973439 w 6459988"/>
              <a:gd name="connsiteY38" fmla="*/ 2385635 h 5753325"/>
              <a:gd name="connsiteX39" fmla="*/ 5916727 w 6459988"/>
              <a:gd name="connsiteY39" fmla="*/ 2458777 h 5753325"/>
              <a:gd name="connsiteX40" fmla="*/ 5856524 w 6459988"/>
              <a:gd name="connsiteY40" fmla="*/ 2583281 h 5753325"/>
              <a:gd name="connsiteX41" fmla="*/ 5838091 w 6459988"/>
              <a:gd name="connsiteY41" fmla="*/ 2753474 h 5753325"/>
              <a:gd name="connsiteX42" fmla="*/ 5777471 w 6459988"/>
              <a:gd name="connsiteY42" fmla="*/ 2901570 h 5753325"/>
              <a:gd name="connsiteX43" fmla="*/ 5723992 w 6459988"/>
              <a:gd name="connsiteY43" fmla="*/ 2998752 h 5753325"/>
              <a:gd name="connsiteX44" fmla="*/ 5557886 w 6459988"/>
              <a:gd name="connsiteY44" fmla="*/ 3329735 h 5753325"/>
              <a:gd name="connsiteX45" fmla="*/ 5471501 w 6459988"/>
              <a:gd name="connsiteY45" fmla="*/ 3462221 h 5753325"/>
              <a:gd name="connsiteX46" fmla="*/ 5465154 w 6459988"/>
              <a:gd name="connsiteY46" fmla="*/ 3541065 h 5753325"/>
              <a:gd name="connsiteX47" fmla="*/ 5437889 w 6459988"/>
              <a:gd name="connsiteY47" fmla="*/ 3559927 h 5753325"/>
              <a:gd name="connsiteX48" fmla="*/ 5432770 w 6459988"/>
              <a:gd name="connsiteY48" fmla="*/ 3562948 h 5753325"/>
              <a:gd name="connsiteX49" fmla="*/ 5406795 w 6459988"/>
              <a:gd name="connsiteY49" fmla="*/ 3578594 h 5753325"/>
              <a:gd name="connsiteX50" fmla="*/ 5381495 w 6459988"/>
              <a:gd name="connsiteY50" fmla="*/ 3599883 h 5753325"/>
              <a:gd name="connsiteX51" fmla="*/ 5363689 w 6459988"/>
              <a:gd name="connsiteY51" fmla="*/ 3633299 h 5753325"/>
              <a:gd name="connsiteX52" fmla="*/ 5291870 w 6459988"/>
              <a:gd name="connsiteY52" fmla="*/ 3799039 h 5753325"/>
              <a:gd name="connsiteX53" fmla="*/ 5241600 w 6459988"/>
              <a:gd name="connsiteY53" fmla="*/ 3894238 h 5753325"/>
              <a:gd name="connsiteX54" fmla="*/ 5211041 w 6459988"/>
              <a:gd name="connsiteY54" fmla="*/ 3924184 h 5753325"/>
              <a:gd name="connsiteX55" fmla="*/ 5176073 w 6459988"/>
              <a:gd name="connsiteY55" fmla="*/ 3970179 h 5753325"/>
              <a:gd name="connsiteX56" fmla="*/ 5172826 w 6459988"/>
              <a:gd name="connsiteY56" fmla="*/ 3991773 h 5753325"/>
              <a:gd name="connsiteX57" fmla="*/ 5157053 w 6459988"/>
              <a:gd name="connsiteY57" fmla="*/ 3997708 h 5753325"/>
              <a:gd name="connsiteX58" fmla="*/ 5127922 w 6459988"/>
              <a:gd name="connsiteY58" fmla="*/ 4022660 h 5753325"/>
              <a:gd name="connsiteX59" fmla="*/ 5020872 w 6459988"/>
              <a:gd name="connsiteY59" fmla="*/ 4075951 h 5753325"/>
              <a:gd name="connsiteX60" fmla="*/ 4991410 w 6459988"/>
              <a:gd name="connsiteY60" fmla="*/ 4087598 h 5753325"/>
              <a:gd name="connsiteX61" fmla="*/ 4930112 w 6459988"/>
              <a:gd name="connsiteY61" fmla="*/ 4138459 h 5753325"/>
              <a:gd name="connsiteX62" fmla="*/ 4834224 w 6459988"/>
              <a:gd name="connsiteY62" fmla="*/ 4231643 h 5753325"/>
              <a:gd name="connsiteX63" fmla="*/ 4812599 w 6459988"/>
              <a:gd name="connsiteY63" fmla="*/ 4249449 h 5753325"/>
              <a:gd name="connsiteX64" fmla="*/ 4789188 w 6459988"/>
              <a:gd name="connsiteY64" fmla="*/ 4256678 h 5753325"/>
              <a:gd name="connsiteX65" fmla="*/ 4779554 w 6459988"/>
              <a:gd name="connsiteY65" fmla="*/ 4251313 h 5753325"/>
              <a:gd name="connsiteX66" fmla="*/ 4766885 w 6459988"/>
              <a:gd name="connsiteY66" fmla="*/ 4259812 h 5753325"/>
              <a:gd name="connsiteX67" fmla="*/ 4762510 w 6459988"/>
              <a:gd name="connsiteY67" fmla="*/ 4260383 h 5753325"/>
              <a:gd name="connsiteX68" fmla="*/ 4738416 w 6459988"/>
              <a:gd name="connsiteY68" fmla="*/ 4265355 h 5753325"/>
              <a:gd name="connsiteX69" fmla="*/ 4712007 w 6459988"/>
              <a:gd name="connsiteY69" fmla="*/ 4317892 h 5753325"/>
              <a:gd name="connsiteX70" fmla="*/ 4658930 w 6459988"/>
              <a:gd name="connsiteY70" fmla="*/ 4348041 h 5753325"/>
              <a:gd name="connsiteX71" fmla="*/ 4443526 w 6459988"/>
              <a:gd name="connsiteY71" fmla="*/ 4507851 h 5753325"/>
              <a:gd name="connsiteX72" fmla="*/ 4289766 w 6459988"/>
              <a:gd name="connsiteY72" fmla="*/ 4711450 h 5753325"/>
              <a:gd name="connsiteX73" fmla="*/ 4150870 w 6459988"/>
              <a:gd name="connsiteY73" fmla="*/ 4818480 h 5753325"/>
              <a:gd name="connsiteX74" fmla="*/ 4006639 w 6459988"/>
              <a:gd name="connsiteY74" fmla="*/ 4933815 h 5753325"/>
              <a:gd name="connsiteX75" fmla="*/ 3298210 w 6459988"/>
              <a:gd name="connsiteY75" fmla="*/ 5070790 h 5753325"/>
              <a:gd name="connsiteX76" fmla="*/ 2947678 w 6459988"/>
              <a:gd name="connsiteY76" fmla="*/ 5117869 h 5753325"/>
              <a:gd name="connsiteX77" fmla="*/ 2822169 w 6459988"/>
              <a:gd name="connsiteY77" fmla="*/ 5129396 h 5753325"/>
              <a:gd name="connsiteX78" fmla="*/ 2538773 w 6459988"/>
              <a:gd name="connsiteY78" fmla="*/ 5313397 h 5753325"/>
              <a:gd name="connsiteX79" fmla="*/ 2014500 w 6459988"/>
              <a:gd name="connsiteY79" fmla="*/ 5519744 h 5753325"/>
              <a:gd name="connsiteX80" fmla="*/ 1934391 w 6459988"/>
              <a:gd name="connsiteY80" fmla="*/ 5591335 h 5753325"/>
              <a:gd name="connsiteX81" fmla="*/ 1892550 w 6459988"/>
              <a:gd name="connsiteY81" fmla="*/ 5649708 h 5753325"/>
              <a:gd name="connsiteX82" fmla="*/ 1854769 w 6459988"/>
              <a:gd name="connsiteY82" fmla="*/ 5647691 h 5753325"/>
              <a:gd name="connsiteX83" fmla="*/ 1809461 w 6459988"/>
              <a:gd name="connsiteY83" fmla="*/ 5648628 h 5753325"/>
              <a:gd name="connsiteX84" fmla="*/ 1745150 w 6459988"/>
              <a:gd name="connsiteY84" fmla="*/ 5693879 h 5753325"/>
              <a:gd name="connsiteX85" fmla="*/ 1713375 w 6459988"/>
              <a:gd name="connsiteY85" fmla="*/ 5684672 h 5753325"/>
              <a:gd name="connsiteX86" fmla="*/ 1707808 w 6459988"/>
              <a:gd name="connsiteY86" fmla="*/ 5682611 h 5753325"/>
              <a:gd name="connsiteX87" fmla="*/ 1679313 w 6459988"/>
              <a:gd name="connsiteY87" fmla="*/ 5672360 h 5753325"/>
              <a:gd name="connsiteX88" fmla="*/ 1646933 w 6459988"/>
              <a:gd name="connsiteY88" fmla="*/ 5666227 h 5753325"/>
              <a:gd name="connsiteX89" fmla="*/ 1610055 w 6459988"/>
              <a:gd name="connsiteY89" fmla="*/ 5673643 h 5753325"/>
              <a:gd name="connsiteX90" fmla="*/ 1437641 w 6459988"/>
              <a:gd name="connsiteY90" fmla="*/ 5723266 h 5753325"/>
              <a:gd name="connsiteX91" fmla="*/ 1332869 w 6459988"/>
              <a:gd name="connsiteY91" fmla="*/ 5744752 h 5753325"/>
              <a:gd name="connsiteX92" fmla="*/ 1290525 w 6459988"/>
              <a:gd name="connsiteY92" fmla="*/ 5740036 h 5753325"/>
              <a:gd name="connsiteX93" fmla="*/ 1233107 w 6459988"/>
              <a:gd name="connsiteY93" fmla="*/ 5742106 h 5753325"/>
              <a:gd name="connsiteX94" fmla="*/ 1214532 w 6459988"/>
              <a:gd name="connsiteY94" fmla="*/ 5753325 h 5753325"/>
              <a:gd name="connsiteX95" fmla="*/ 1199955 w 6459988"/>
              <a:gd name="connsiteY95" fmla="*/ 5744831 h 5753325"/>
              <a:gd name="connsiteX96" fmla="*/ 1162337 w 6459988"/>
              <a:gd name="connsiteY96" fmla="*/ 5738048 h 5753325"/>
              <a:gd name="connsiteX97" fmla="*/ 1053457 w 6459988"/>
              <a:gd name="connsiteY97" fmla="*/ 5688676 h 5753325"/>
              <a:gd name="connsiteX98" fmla="*/ 1025798 w 6459988"/>
              <a:gd name="connsiteY98" fmla="*/ 5673166 h 5753325"/>
              <a:gd name="connsiteX99" fmla="*/ 947900 w 6459988"/>
              <a:gd name="connsiteY99" fmla="*/ 5657848 h 5753325"/>
              <a:gd name="connsiteX100" fmla="*/ 815627 w 6459988"/>
              <a:gd name="connsiteY100" fmla="*/ 5642557 h 5753325"/>
              <a:gd name="connsiteX101" fmla="*/ 788251 w 6459988"/>
              <a:gd name="connsiteY101" fmla="*/ 5637065 h 5753325"/>
              <a:gd name="connsiteX102" fmla="*/ 767822 w 6459988"/>
              <a:gd name="connsiteY102" fmla="*/ 5623450 h 5753325"/>
              <a:gd name="connsiteX103" fmla="*/ 765791 w 6459988"/>
              <a:gd name="connsiteY103" fmla="*/ 5612539 h 5753325"/>
              <a:gd name="connsiteX104" fmla="*/ 751230 w 6459988"/>
              <a:gd name="connsiteY104" fmla="*/ 5608092 h 5753325"/>
              <a:gd name="connsiteX105" fmla="*/ 748008 w 6459988"/>
              <a:gd name="connsiteY105" fmla="*/ 5605052 h 5753325"/>
              <a:gd name="connsiteX106" fmla="*/ 728871 w 6459988"/>
              <a:gd name="connsiteY106" fmla="*/ 5589469 h 5753325"/>
              <a:gd name="connsiteX107" fmla="*/ 671898 w 6459988"/>
              <a:gd name="connsiteY107" fmla="*/ 5602363 h 5753325"/>
              <a:gd name="connsiteX108" fmla="*/ 615065 w 6459988"/>
              <a:gd name="connsiteY108" fmla="*/ 5580257 h 5753325"/>
              <a:gd name="connsiteX109" fmla="*/ 355785 w 6459988"/>
              <a:gd name="connsiteY109" fmla="*/ 5514383 h 5753325"/>
              <a:gd name="connsiteX110" fmla="*/ 102269 w 6459988"/>
              <a:gd name="connsiteY110" fmla="*/ 5524347 h 5753325"/>
              <a:gd name="connsiteX111" fmla="*/ 13160 w 6459988"/>
              <a:gd name="connsiteY111" fmla="*/ 5514159 h 5753325"/>
              <a:gd name="connsiteX112" fmla="*/ 0 w 6459988"/>
              <a:gd name="connsiteY112" fmla="*/ 5511735 h 5753325"/>
              <a:gd name="connsiteX113" fmla="*/ 0 w 6459988"/>
              <a:gd name="connsiteY113" fmla="*/ 0 h 5753325"/>
              <a:gd name="connsiteX0" fmla="*/ 0 w 6459988"/>
              <a:gd name="connsiteY0" fmla="*/ 0 h 5753325"/>
              <a:gd name="connsiteX1" fmla="*/ 6438980 w 6459988"/>
              <a:gd name="connsiteY1" fmla="*/ 0 h 5753325"/>
              <a:gd name="connsiteX2" fmla="*/ 6439047 w 6459988"/>
              <a:gd name="connsiteY2" fmla="*/ 147 h 5753325"/>
              <a:gd name="connsiteX3" fmla="*/ 6443456 w 6459988"/>
              <a:gd name="connsiteY3" fmla="*/ 130105 h 5753325"/>
              <a:gd name="connsiteX4" fmla="*/ 6447632 w 6459988"/>
              <a:gd name="connsiteY4" fmla="*/ 170016 h 5753325"/>
              <a:gd name="connsiteX5" fmla="*/ 6396598 w 6459988"/>
              <a:gd name="connsiteY5" fmla="*/ 274847 h 5753325"/>
              <a:gd name="connsiteX6" fmla="*/ 6375685 w 6459988"/>
              <a:gd name="connsiteY6" fmla="*/ 535865 h 5753325"/>
              <a:gd name="connsiteX7" fmla="*/ 6354187 w 6459988"/>
              <a:gd name="connsiteY7" fmla="*/ 615799 h 5753325"/>
              <a:gd name="connsiteX8" fmla="*/ 6459988 w 6459988"/>
              <a:gd name="connsiteY8" fmla="*/ 707628 h 5753325"/>
              <a:gd name="connsiteX9" fmla="*/ 6344988 w 6459988"/>
              <a:gd name="connsiteY9" fmla="*/ 697330 h 5753325"/>
              <a:gd name="connsiteX10" fmla="*/ 6447445 w 6459988"/>
              <a:gd name="connsiteY10" fmla="*/ 780003 h 5753325"/>
              <a:gd name="connsiteX11" fmla="*/ 6426552 w 6459988"/>
              <a:gd name="connsiteY11" fmla="*/ 845805 h 5753325"/>
              <a:gd name="connsiteX12" fmla="*/ 6434072 w 6459988"/>
              <a:gd name="connsiteY12" fmla="*/ 910733 h 5753325"/>
              <a:gd name="connsiteX13" fmla="*/ 6432570 w 6459988"/>
              <a:gd name="connsiteY13" fmla="*/ 983394 h 5753325"/>
              <a:gd name="connsiteX14" fmla="*/ 6431878 w 6459988"/>
              <a:gd name="connsiteY14" fmla="*/ 1026728 h 5753325"/>
              <a:gd name="connsiteX15" fmla="*/ 6414269 w 6459988"/>
              <a:gd name="connsiteY15" fmla="*/ 1151111 h 5753325"/>
              <a:gd name="connsiteX16" fmla="*/ 6371722 w 6459988"/>
              <a:gd name="connsiteY16" fmla="*/ 1318080 h 5753325"/>
              <a:gd name="connsiteX17" fmla="*/ 6356023 w 6459988"/>
              <a:gd name="connsiteY17" fmla="*/ 1356227 h 5753325"/>
              <a:gd name="connsiteX18" fmla="*/ 6356157 w 6459988"/>
              <a:gd name="connsiteY18" fmla="*/ 1361967 h 5753325"/>
              <a:gd name="connsiteX19" fmla="*/ 6350613 w 6459988"/>
              <a:gd name="connsiteY19" fmla="*/ 1393569 h 5753325"/>
              <a:gd name="connsiteX20" fmla="*/ 6357062 w 6459988"/>
              <a:gd name="connsiteY20" fmla="*/ 1444071 h 5753325"/>
              <a:gd name="connsiteX21" fmla="*/ 6364832 w 6459988"/>
              <a:gd name="connsiteY21" fmla="*/ 1478763 h 5753325"/>
              <a:gd name="connsiteX22" fmla="*/ 6369745 w 6459988"/>
              <a:gd name="connsiteY22" fmla="*/ 1495680 h 5753325"/>
              <a:gd name="connsiteX23" fmla="*/ 6370898 w 6459988"/>
              <a:gd name="connsiteY23" fmla="*/ 1513331 h 5753325"/>
              <a:gd name="connsiteX24" fmla="*/ 6368801 w 6459988"/>
              <a:gd name="connsiteY24" fmla="*/ 1527414 h 5753325"/>
              <a:gd name="connsiteX25" fmla="*/ 6359177 w 6459988"/>
              <a:gd name="connsiteY25" fmla="*/ 1639513 h 5753325"/>
              <a:gd name="connsiteX26" fmla="*/ 6299489 w 6459988"/>
              <a:gd name="connsiteY26" fmla="*/ 1784860 h 5753325"/>
              <a:gd name="connsiteX27" fmla="*/ 6267878 w 6459988"/>
              <a:gd name="connsiteY27" fmla="*/ 1858572 h 5753325"/>
              <a:gd name="connsiteX28" fmla="*/ 6251146 w 6459988"/>
              <a:gd name="connsiteY28" fmla="*/ 1926167 h 5753325"/>
              <a:gd name="connsiteX29" fmla="*/ 6210686 w 6459988"/>
              <a:gd name="connsiteY29" fmla="*/ 2014834 h 5753325"/>
              <a:gd name="connsiteX30" fmla="*/ 6106652 w 6459988"/>
              <a:gd name="connsiteY30" fmla="*/ 2150572 h 5753325"/>
              <a:gd name="connsiteX31" fmla="*/ 6097813 w 6459988"/>
              <a:gd name="connsiteY31" fmla="*/ 2172208 h 5753325"/>
              <a:gd name="connsiteX32" fmla="*/ 6095990 w 6459988"/>
              <a:gd name="connsiteY32" fmla="*/ 2181185 h 5753325"/>
              <a:gd name="connsiteX33" fmla="*/ 6090126 w 6459988"/>
              <a:gd name="connsiteY33" fmla="*/ 2192533 h 5753325"/>
              <a:gd name="connsiteX34" fmla="*/ 6089503 w 6459988"/>
              <a:gd name="connsiteY34" fmla="*/ 2192543 h 5753325"/>
              <a:gd name="connsiteX35" fmla="*/ 6084946 w 6459988"/>
              <a:gd name="connsiteY35" fmla="*/ 2203694 h 5753325"/>
              <a:gd name="connsiteX36" fmla="*/ 5987861 w 6459988"/>
              <a:gd name="connsiteY36" fmla="*/ 2304868 h 5753325"/>
              <a:gd name="connsiteX37" fmla="*/ 5973439 w 6459988"/>
              <a:gd name="connsiteY37" fmla="*/ 2385635 h 5753325"/>
              <a:gd name="connsiteX38" fmla="*/ 5916727 w 6459988"/>
              <a:gd name="connsiteY38" fmla="*/ 2458777 h 5753325"/>
              <a:gd name="connsiteX39" fmla="*/ 5856524 w 6459988"/>
              <a:gd name="connsiteY39" fmla="*/ 2583281 h 5753325"/>
              <a:gd name="connsiteX40" fmla="*/ 5838091 w 6459988"/>
              <a:gd name="connsiteY40" fmla="*/ 2753474 h 5753325"/>
              <a:gd name="connsiteX41" fmla="*/ 5777471 w 6459988"/>
              <a:gd name="connsiteY41" fmla="*/ 2901570 h 5753325"/>
              <a:gd name="connsiteX42" fmla="*/ 5723992 w 6459988"/>
              <a:gd name="connsiteY42" fmla="*/ 2998752 h 5753325"/>
              <a:gd name="connsiteX43" fmla="*/ 5557886 w 6459988"/>
              <a:gd name="connsiteY43" fmla="*/ 3329735 h 5753325"/>
              <a:gd name="connsiteX44" fmla="*/ 5471501 w 6459988"/>
              <a:gd name="connsiteY44" fmla="*/ 3462221 h 5753325"/>
              <a:gd name="connsiteX45" fmla="*/ 5465154 w 6459988"/>
              <a:gd name="connsiteY45" fmla="*/ 3541065 h 5753325"/>
              <a:gd name="connsiteX46" fmla="*/ 5437889 w 6459988"/>
              <a:gd name="connsiteY46" fmla="*/ 3559927 h 5753325"/>
              <a:gd name="connsiteX47" fmla="*/ 5432770 w 6459988"/>
              <a:gd name="connsiteY47" fmla="*/ 3562948 h 5753325"/>
              <a:gd name="connsiteX48" fmla="*/ 5406795 w 6459988"/>
              <a:gd name="connsiteY48" fmla="*/ 3578594 h 5753325"/>
              <a:gd name="connsiteX49" fmla="*/ 5381495 w 6459988"/>
              <a:gd name="connsiteY49" fmla="*/ 3599883 h 5753325"/>
              <a:gd name="connsiteX50" fmla="*/ 5363689 w 6459988"/>
              <a:gd name="connsiteY50" fmla="*/ 3633299 h 5753325"/>
              <a:gd name="connsiteX51" fmla="*/ 5291870 w 6459988"/>
              <a:gd name="connsiteY51" fmla="*/ 3799039 h 5753325"/>
              <a:gd name="connsiteX52" fmla="*/ 5241600 w 6459988"/>
              <a:gd name="connsiteY52" fmla="*/ 3894238 h 5753325"/>
              <a:gd name="connsiteX53" fmla="*/ 5211041 w 6459988"/>
              <a:gd name="connsiteY53" fmla="*/ 3924184 h 5753325"/>
              <a:gd name="connsiteX54" fmla="*/ 5176073 w 6459988"/>
              <a:gd name="connsiteY54" fmla="*/ 3970179 h 5753325"/>
              <a:gd name="connsiteX55" fmla="*/ 5172826 w 6459988"/>
              <a:gd name="connsiteY55" fmla="*/ 3991773 h 5753325"/>
              <a:gd name="connsiteX56" fmla="*/ 5157053 w 6459988"/>
              <a:gd name="connsiteY56" fmla="*/ 3997708 h 5753325"/>
              <a:gd name="connsiteX57" fmla="*/ 5127922 w 6459988"/>
              <a:gd name="connsiteY57" fmla="*/ 4022660 h 5753325"/>
              <a:gd name="connsiteX58" fmla="*/ 5020872 w 6459988"/>
              <a:gd name="connsiteY58" fmla="*/ 4075951 h 5753325"/>
              <a:gd name="connsiteX59" fmla="*/ 4991410 w 6459988"/>
              <a:gd name="connsiteY59" fmla="*/ 4087598 h 5753325"/>
              <a:gd name="connsiteX60" fmla="*/ 4930112 w 6459988"/>
              <a:gd name="connsiteY60" fmla="*/ 4138459 h 5753325"/>
              <a:gd name="connsiteX61" fmla="*/ 4834224 w 6459988"/>
              <a:gd name="connsiteY61" fmla="*/ 4231643 h 5753325"/>
              <a:gd name="connsiteX62" fmla="*/ 4812599 w 6459988"/>
              <a:gd name="connsiteY62" fmla="*/ 4249449 h 5753325"/>
              <a:gd name="connsiteX63" fmla="*/ 4789188 w 6459988"/>
              <a:gd name="connsiteY63" fmla="*/ 4256678 h 5753325"/>
              <a:gd name="connsiteX64" fmla="*/ 4779554 w 6459988"/>
              <a:gd name="connsiteY64" fmla="*/ 4251313 h 5753325"/>
              <a:gd name="connsiteX65" fmla="*/ 4766885 w 6459988"/>
              <a:gd name="connsiteY65" fmla="*/ 4259812 h 5753325"/>
              <a:gd name="connsiteX66" fmla="*/ 4762510 w 6459988"/>
              <a:gd name="connsiteY66" fmla="*/ 4260383 h 5753325"/>
              <a:gd name="connsiteX67" fmla="*/ 4738416 w 6459988"/>
              <a:gd name="connsiteY67" fmla="*/ 4265355 h 5753325"/>
              <a:gd name="connsiteX68" fmla="*/ 4712007 w 6459988"/>
              <a:gd name="connsiteY68" fmla="*/ 4317892 h 5753325"/>
              <a:gd name="connsiteX69" fmla="*/ 4658930 w 6459988"/>
              <a:gd name="connsiteY69" fmla="*/ 4348041 h 5753325"/>
              <a:gd name="connsiteX70" fmla="*/ 4443526 w 6459988"/>
              <a:gd name="connsiteY70" fmla="*/ 4507851 h 5753325"/>
              <a:gd name="connsiteX71" fmla="*/ 4289766 w 6459988"/>
              <a:gd name="connsiteY71" fmla="*/ 4711450 h 5753325"/>
              <a:gd name="connsiteX72" fmla="*/ 4150870 w 6459988"/>
              <a:gd name="connsiteY72" fmla="*/ 4818480 h 5753325"/>
              <a:gd name="connsiteX73" fmla="*/ 4006639 w 6459988"/>
              <a:gd name="connsiteY73" fmla="*/ 4933815 h 5753325"/>
              <a:gd name="connsiteX74" fmla="*/ 3298210 w 6459988"/>
              <a:gd name="connsiteY74" fmla="*/ 5070790 h 5753325"/>
              <a:gd name="connsiteX75" fmla="*/ 2947678 w 6459988"/>
              <a:gd name="connsiteY75" fmla="*/ 5117869 h 5753325"/>
              <a:gd name="connsiteX76" fmla="*/ 2822169 w 6459988"/>
              <a:gd name="connsiteY76" fmla="*/ 5129396 h 5753325"/>
              <a:gd name="connsiteX77" fmla="*/ 2538773 w 6459988"/>
              <a:gd name="connsiteY77" fmla="*/ 5313397 h 5753325"/>
              <a:gd name="connsiteX78" fmla="*/ 2014500 w 6459988"/>
              <a:gd name="connsiteY78" fmla="*/ 5519744 h 5753325"/>
              <a:gd name="connsiteX79" fmla="*/ 1934391 w 6459988"/>
              <a:gd name="connsiteY79" fmla="*/ 5591335 h 5753325"/>
              <a:gd name="connsiteX80" fmla="*/ 1892550 w 6459988"/>
              <a:gd name="connsiteY80" fmla="*/ 5649708 h 5753325"/>
              <a:gd name="connsiteX81" fmla="*/ 1854769 w 6459988"/>
              <a:gd name="connsiteY81" fmla="*/ 5647691 h 5753325"/>
              <a:gd name="connsiteX82" fmla="*/ 1809461 w 6459988"/>
              <a:gd name="connsiteY82" fmla="*/ 5648628 h 5753325"/>
              <a:gd name="connsiteX83" fmla="*/ 1745150 w 6459988"/>
              <a:gd name="connsiteY83" fmla="*/ 5693879 h 5753325"/>
              <a:gd name="connsiteX84" fmla="*/ 1713375 w 6459988"/>
              <a:gd name="connsiteY84" fmla="*/ 5684672 h 5753325"/>
              <a:gd name="connsiteX85" fmla="*/ 1707808 w 6459988"/>
              <a:gd name="connsiteY85" fmla="*/ 5682611 h 5753325"/>
              <a:gd name="connsiteX86" fmla="*/ 1679313 w 6459988"/>
              <a:gd name="connsiteY86" fmla="*/ 5672360 h 5753325"/>
              <a:gd name="connsiteX87" fmla="*/ 1646933 w 6459988"/>
              <a:gd name="connsiteY87" fmla="*/ 5666227 h 5753325"/>
              <a:gd name="connsiteX88" fmla="*/ 1610055 w 6459988"/>
              <a:gd name="connsiteY88" fmla="*/ 5673643 h 5753325"/>
              <a:gd name="connsiteX89" fmla="*/ 1437641 w 6459988"/>
              <a:gd name="connsiteY89" fmla="*/ 5723266 h 5753325"/>
              <a:gd name="connsiteX90" fmla="*/ 1332869 w 6459988"/>
              <a:gd name="connsiteY90" fmla="*/ 5744752 h 5753325"/>
              <a:gd name="connsiteX91" fmla="*/ 1290525 w 6459988"/>
              <a:gd name="connsiteY91" fmla="*/ 5740036 h 5753325"/>
              <a:gd name="connsiteX92" fmla="*/ 1233107 w 6459988"/>
              <a:gd name="connsiteY92" fmla="*/ 5742106 h 5753325"/>
              <a:gd name="connsiteX93" fmla="*/ 1214532 w 6459988"/>
              <a:gd name="connsiteY93" fmla="*/ 5753325 h 5753325"/>
              <a:gd name="connsiteX94" fmla="*/ 1199955 w 6459988"/>
              <a:gd name="connsiteY94" fmla="*/ 5744831 h 5753325"/>
              <a:gd name="connsiteX95" fmla="*/ 1162337 w 6459988"/>
              <a:gd name="connsiteY95" fmla="*/ 5738048 h 5753325"/>
              <a:gd name="connsiteX96" fmla="*/ 1053457 w 6459988"/>
              <a:gd name="connsiteY96" fmla="*/ 5688676 h 5753325"/>
              <a:gd name="connsiteX97" fmla="*/ 1025798 w 6459988"/>
              <a:gd name="connsiteY97" fmla="*/ 5673166 h 5753325"/>
              <a:gd name="connsiteX98" fmla="*/ 947900 w 6459988"/>
              <a:gd name="connsiteY98" fmla="*/ 5657848 h 5753325"/>
              <a:gd name="connsiteX99" fmla="*/ 815627 w 6459988"/>
              <a:gd name="connsiteY99" fmla="*/ 5642557 h 5753325"/>
              <a:gd name="connsiteX100" fmla="*/ 788251 w 6459988"/>
              <a:gd name="connsiteY100" fmla="*/ 5637065 h 5753325"/>
              <a:gd name="connsiteX101" fmla="*/ 767822 w 6459988"/>
              <a:gd name="connsiteY101" fmla="*/ 5623450 h 5753325"/>
              <a:gd name="connsiteX102" fmla="*/ 765791 w 6459988"/>
              <a:gd name="connsiteY102" fmla="*/ 5612539 h 5753325"/>
              <a:gd name="connsiteX103" fmla="*/ 751230 w 6459988"/>
              <a:gd name="connsiteY103" fmla="*/ 5608092 h 5753325"/>
              <a:gd name="connsiteX104" fmla="*/ 748008 w 6459988"/>
              <a:gd name="connsiteY104" fmla="*/ 5605052 h 5753325"/>
              <a:gd name="connsiteX105" fmla="*/ 728871 w 6459988"/>
              <a:gd name="connsiteY105" fmla="*/ 5589469 h 5753325"/>
              <a:gd name="connsiteX106" fmla="*/ 671898 w 6459988"/>
              <a:gd name="connsiteY106" fmla="*/ 5602363 h 5753325"/>
              <a:gd name="connsiteX107" fmla="*/ 615065 w 6459988"/>
              <a:gd name="connsiteY107" fmla="*/ 5580257 h 5753325"/>
              <a:gd name="connsiteX108" fmla="*/ 355785 w 6459988"/>
              <a:gd name="connsiteY108" fmla="*/ 5514383 h 5753325"/>
              <a:gd name="connsiteX109" fmla="*/ 102269 w 6459988"/>
              <a:gd name="connsiteY109" fmla="*/ 5524347 h 5753325"/>
              <a:gd name="connsiteX110" fmla="*/ 13160 w 6459988"/>
              <a:gd name="connsiteY110" fmla="*/ 5514159 h 5753325"/>
              <a:gd name="connsiteX111" fmla="*/ 0 w 6459988"/>
              <a:gd name="connsiteY111" fmla="*/ 5511735 h 5753325"/>
              <a:gd name="connsiteX112" fmla="*/ 0 w 6459988"/>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447445 w 6447632"/>
              <a:gd name="connsiteY10" fmla="*/ 780003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75685 w 6447632"/>
              <a:gd name="connsiteY6" fmla="*/ 535865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426552 w 6447632"/>
              <a:gd name="connsiteY11" fmla="*/ 845805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414269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31878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32570 w 6447632"/>
              <a:gd name="connsiteY13" fmla="*/ 983394 h 5753325"/>
              <a:gd name="connsiteX14" fmla="*/ 6405877 w 6447632"/>
              <a:gd name="connsiteY14" fmla="*/ 1026728 h 5753325"/>
              <a:gd name="connsiteX15" fmla="*/ 6362266 w 6447632"/>
              <a:gd name="connsiteY15" fmla="*/ 1151111 h 5753325"/>
              <a:gd name="connsiteX16" fmla="*/ 6371722 w 6447632"/>
              <a:gd name="connsiteY16" fmla="*/ 1318080 h 5753325"/>
              <a:gd name="connsiteX17" fmla="*/ 6356023 w 6447632"/>
              <a:gd name="connsiteY17" fmla="*/ 1356227 h 5753325"/>
              <a:gd name="connsiteX18" fmla="*/ 6356157 w 6447632"/>
              <a:gd name="connsiteY18" fmla="*/ 1361967 h 5753325"/>
              <a:gd name="connsiteX19" fmla="*/ 6350613 w 6447632"/>
              <a:gd name="connsiteY19" fmla="*/ 1393569 h 5753325"/>
              <a:gd name="connsiteX20" fmla="*/ 6357062 w 6447632"/>
              <a:gd name="connsiteY20" fmla="*/ 1444071 h 5753325"/>
              <a:gd name="connsiteX21" fmla="*/ 6364832 w 6447632"/>
              <a:gd name="connsiteY21" fmla="*/ 1478763 h 5753325"/>
              <a:gd name="connsiteX22" fmla="*/ 6369745 w 6447632"/>
              <a:gd name="connsiteY22" fmla="*/ 1495680 h 5753325"/>
              <a:gd name="connsiteX23" fmla="*/ 6370898 w 6447632"/>
              <a:gd name="connsiteY23" fmla="*/ 1513331 h 5753325"/>
              <a:gd name="connsiteX24" fmla="*/ 6368801 w 6447632"/>
              <a:gd name="connsiteY24" fmla="*/ 1527414 h 5753325"/>
              <a:gd name="connsiteX25" fmla="*/ 6359177 w 6447632"/>
              <a:gd name="connsiteY25" fmla="*/ 1639513 h 5753325"/>
              <a:gd name="connsiteX26" fmla="*/ 6299489 w 6447632"/>
              <a:gd name="connsiteY26" fmla="*/ 1784860 h 5753325"/>
              <a:gd name="connsiteX27" fmla="*/ 6267878 w 6447632"/>
              <a:gd name="connsiteY27" fmla="*/ 1858572 h 5753325"/>
              <a:gd name="connsiteX28" fmla="*/ 6251146 w 6447632"/>
              <a:gd name="connsiteY28" fmla="*/ 1926167 h 5753325"/>
              <a:gd name="connsiteX29" fmla="*/ 6210686 w 6447632"/>
              <a:gd name="connsiteY29" fmla="*/ 2014834 h 5753325"/>
              <a:gd name="connsiteX30" fmla="*/ 6106652 w 6447632"/>
              <a:gd name="connsiteY30" fmla="*/ 2150572 h 5753325"/>
              <a:gd name="connsiteX31" fmla="*/ 6097813 w 6447632"/>
              <a:gd name="connsiteY31" fmla="*/ 2172208 h 5753325"/>
              <a:gd name="connsiteX32" fmla="*/ 6095990 w 6447632"/>
              <a:gd name="connsiteY32" fmla="*/ 2181185 h 5753325"/>
              <a:gd name="connsiteX33" fmla="*/ 6090126 w 6447632"/>
              <a:gd name="connsiteY33" fmla="*/ 2192533 h 5753325"/>
              <a:gd name="connsiteX34" fmla="*/ 6089503 w 6447632"/>
              <a:gd name="connsiteY34" fmla="*/ 2192543 h 5753325"/>
              <a:gd name="connsiteX35" fmla="*/ 6084946 w 6447632"/>
              <a:gd name="connsiteY35" fmla="*/ 2203694 h 5753325"/>
              <a:gd name="connsiteX36" fmla="*/ 5987861 w 6447632"/>
              <a:gd name="connsiteY36" fmla="*/ 2304868 h 5753325"/>
              <a:gd name="connsiteX37" fmla="*/ 5973439 w 6447632"/>
              <a:gd name="connsiteY37" fmla="*/ 2385635 h 5753325"/>
              <a:gd name="connsiteX38" fmla="*/ 5916727 w 6447632"/>
              <a:gd name="connsiteY38" fmla="*/ 2458777 h 5753325"/>
              <a:gd name="connsiteX39" fmla="*/ 5856524 w 6447632"/>
              <a:gd name="connsiteY39" fmla="*/ 2583281 h 5753325"/>
              <a:gd name="connsiteX40" fmla="*/ 5838091 w 6447632"/>
              <a:gd name="connsiteY40" fmla="*/ 2753474 h 5753325"/>
              <a:gd name="connsiteX41" fmla="*/ 5777471 w 6447632"/>
              <a:gd name="connsiteY41" fmla="*/ 2901570 h 5753325"/>
              <a:gd name="connsiteX42" fmla="*/ 5723992 w 6447632"/>
              <a:gd name="connsiteY42" fmla="*/ 2998752 h 5753325"/>
              <a:gd name="connsiteX43" fmla="*/ 5557886 w 6447632"/>
              <a:gd name="connsiteY43" fmla="*/ 3329735 h 5753325"/>
              <a:gd name="connsiteX44" fmla="*/ 5471501 w 6447632"/>
              <a:gd name="connsiteY44" fmla="*/ 3462221 h 5753325"/>
              <a:gd name="connsiteX45" fmla="*/ 5465154 w 6447632"/>
              <a:gd name="connsiteY45" fmla="*/ 3541065 h 5753325"/>
              <a:gd name="connsiteX46" fmla="*/ 5437889 w 6447632"/>
              <a:gd name="connsiteY46" fmla="*/ 3559927 h 5753325"/>
              <a:gd name="connsiteX47" fmla="*/ 5432770 w 6447632"/>
              <a:gd name="connsiteY47" fmla="*/ 3562948 h 5753325"/>
              <a:gd name="connsiteX48" fmla="*/ 5406795 w 6447632"/>
              <a:gd name="connsiteY48" fmla="*/ 3578594 h 5753325"/>
              <a:gd name="connsiteX49" fmla="*/ 5381495 w 6447632"/>
              <a:gd name="connsiteY49" fmla="*/ 3599883 h 5753325"/>
              <a:gd name="connsiteX50" fmla="*/ 5363689 w 6447632"/>
              <a:gd name="connsiteY50" fmla="*/ 3633299 h 5753325"/>
              <a:gd name="connsiteX51" fmla="*/ 5291870 w 6447632"/>
              <a:gd name="connsiteY51" fmla="*/ 3799039 h 5753325"/>
              <a:gd name="connsiteX52" fmla="*/ 5241600 w 6447632"/>
              <a:gd name="connsiteY52" fmla="*/ 3894238 h 5753325"/>
              <a:gd name="connsiteX53" fmla="*/ 5211041 w 6447632"/>
              <a:gd name="connsiteY53" fmla="*/ 3924184 h 5753325"/>
              <a:gd name="connsiteX54" fmla="*/ 5176073 w 6447632"/>
              <a:gd name="connsiteY54" fmla="*/ 3970179 h 5753325"/>
              <a:gd name="connsiteX55" fmla="*/ 5172826 w 6447632"/>
              <a:gd name="connsiteY55" fmla="*/ 3991773 h 5753325"/>
              <a:gd name="connsiteX56" fmla="*/ 5157053 w 6447632"/>
              <a:gd name="connsiteY56" fmla="*/ 3997708 h 5753325"/>
              <a:gd name="connsiteX57" fmla="*/ 5127922 w 6447632"/>
              <a:gd name="connsiteY57" fmla="*/ 4022660 h 5753325"/>
              <a:gd name="connsiteX58" fmla="*/ 5020872 w 6447632"/>
              <a:gd name="connsiteY58" fmla="*/ 4075951 h 5753325"/>
              <a:gd name="connsiteX59" fmla="*/ 4991410 w 6447632"/>
              <a:gd name="connsiteY59" fmla="*/ 4087598 h 5753325"/>
              <a:gd name="connsiteX60" fmla="*/ 4930112 w 6447632"/>
              <a:gd name="connsiteY60" fmla="*/ 4138459 h 5753325"/>
              <a:gd name="connsiteX61" fmla="*/ 4834224 w 6447632"/>
              <a:gd name="connsiteY61" fmla="*/ 4231643 h 5753325"/>
              <a:gd name="connsiteX62" fmla="*/ 4812599 w 6447632"/>
              <a:gd name="connsiteY62" fmla="*/ 4249449 h 5753325"/>
              <a:gd name="connsiteX63" fmla="*/ 4789188 w 6447632"/>
              <a:gd name="connsiteY63" fmla="*/ 4256678 h 5753325"/>
              <a:gd name="connsiteX64" fmla="*/ 4779554 w 6447632"/>
              <a:gd name="connsiteY64" fmla="*/ 4251313 h 5753325"/>
              <a:gd name="connsiteX65" fmla="*/ 4766885 w 6447632"/>
              <a:gd name="connsiteY65" fmla="*/ 4259812 h 5753325"/>
              <a:gd name="connsiteX66" fmla="*/ 4762510 w 6447632"/>
              <a:gd name="connsiteY66" fmla="*/ 4260383 h 5753325"/>
              <a:gd name="connsiteX67" fmla="*/ 4738416 w 6447632"/>
              <a:gd name="connsiteY67" fmla="*/ 4265355 h 5753325"/>
              <a:gd name="connsiteX68" fmla="*/ 4712007 w 6447632"/>
              <a:gd name="connsiteY68" fmla="*/ 4317892 h 5753325"/>
              <a:gd name="connsiteX69" fmla="*/ 4658930 w 6447632"/>
              <a:gd name="connsiteY69" fmla="*/ 4348041 h 5753325"/>
              <a:gd name="connsiteX70" fmla="*/ 4443526 w 6447632"/>
              <a:gd name="connsiteY70" fmla="*/ 4507851 h 5753325"/>
              <a:gd name="connsiteX71" fmla="*/ 4289766 w 6447632"/>
              <a:gd name="connsiteY71" fmla="*/ 4711450 h 5753325"/>
              <a:gd name="connsiteX72" fmla="*/ 4150870 w 6447632"/>
              <a:gd name="connsiteY72" fmla="*/ 4818480 h 5753325"/>
              <a:gd name="connsiteX73" fmla="*/ 4006639 w 6447632"/>
              <a:gd name="connsiteY73" fmla="*/ 4933815 h 5753325"/>
              <a:gd name="connsiteX74" fmla="*/ 3298210 w 6447632"/>
              <a:gd name="connsiteY74" fmla="*/ 5070790 h 5753325"/>
              <a:gd name="connsiteX75" fmla="*/ 2947678 w 6447632"/>
              <a:gd name="connsiteY75" fmla="*/ 5117869 h 5753325"/>
              <a:gd name="connsiteX76" fmla="*/ 2822169 w 6447632"/>
              <a:gd name="connsiteY76" fmla="*/ 5129396 h 5753325"/>
              <a:gd name="connsiteX77" fmla="*/ 2538773 w 6447632"/>
              <a:gd name="connsiteY77" fmla="*/ 5313397 h 5753325"/>
              <a:gd name="connsiteX78" fmla="*/ 2014500 w 6447632"/>
              <a:gd name="connsiteY78" fmla="*/ 5519744 h 5753325"/>
              <a:gd name="connsiteX79" fmla="*/ 1934391 w 6447632"/>
              <a:gd name="connsiteY79" fmla="*/ 5591335 h 5753325"/>
              <a:gd name="connsiteX80" fmla="*/ 1892550 w 6447632"/>
              <a:gd name="connsiteY80" fmla="*/ 5649708 h 5753325"/>
              <a:gd name="connsiteX81" fmla="*/ 1854769 w 6447632"/>
              <a:gd name="connsiteY81" fmla="*/ 5647691 h 5753325"/>
              <a:gd name="connsiteX82" fmla="*/ 1809461 w 6447632"/>
              <a:gd name="connsiteY82" fmla="*/ 5648628 h 5753325"/>
              <a:gd name="connsiteX83" fmla="*/ 1745150 w 6447632"/>
              <a:gd name="connsiteY83" fmla="*/ 5693879 h 5753325"/>
              <a:gd name="connsiteX84" fmla="*/ 1713375 w 6447632"/>
              <a:gd name="connsiteY84" fmla="*/ 5684672 h 5753325"/>
              <a:gd name="connsiteX85" fmla="*/ 1707808 w 6447632"/>
              <a:gd name="connsiteY85" fmla="*/ 5682611 h 5753325"/>
              <a:gd name="connsiteX86" fmla="*/ 1679313 w 6447632"/>
              <a:gd name="connsiteY86" fmla="*/ 5672360 h 5753325"/>
              <a:gd name="connsiteX87" fmla="*/ 1646933 w 6447632"/>
              <a:gd name="connsiteY87" fmla="*/ 5666227 h 5753325"/>
              <a:gd name="connsiteX88" fmla="*/ 1610055 w 6447632"/>
              <a:gd name="connsiteY88" fmla="*/ 5673643 h 5753325"/>
              <a:gd name="connsiteX89" fmla="*/ 1437641 w 6447632"/>
              <a:gd name="connsiteY89" fmla="*/ 5723266 h 5753325"/>
              <a:gd name="connsiteX90" fmla="*/ 1332869 w 6447632"/>
              <a:gd name="connsiteY90" fmla="*/ 5744752 h 5753325"/>
              <a:gd name="connsiteX91" fmla="*/ 1290525 w 6447632"/>
              <a:gd name="connsiteY91" fmla="*/ 5740036 h 5753325"/>
              <a:gd name="connsiteX92" fmla="*/ 1233107 w 6447632"/>
              <a:gd name="connsiteY92" fmla="*/ 5742106 h 5753325"/>
              <a:gd name="connsiteX93" fmla="*/ 1214532 w 6447632"/>
              <a:gd name="connsiteY93" fmla="*/ 5753325 h 5753325"/>
              <a:gd name="connsiteX94" fmla="*/ 1199955 w 6447632"/>
              <a:gd name="connsiteY94" fmla="*/ 5744831 h 5753325"/>
              <a:gd name="connsiteX95" fmla="*/ 1162337 w 6447632"/>
              <a:gd name="connsiteY95" fmla="*/ 5738048 h 5753325"/>
              <a:gd name="connsiteX96" fmla="*/ 1053457 w 6447632"/>
              <a:gd name="connsiteY96" fmla="*/ 5688676 h 5753325"/>
              <a:gd name="connsiteX97" fmla="*/ 1025798 w 6447632"/>
              <a:gd name="connsiteY97" fmla="*/ 5673166 h 5753325"/>
              <a:gd name="connsiteX98" fmla="*/ 947900 w 6447632"/>
              <a:gd name="connsiteY98" fmla="*/ 5657848 h 5753325"/>
              <a:gd name="connsiteX99" fmla="*/ 815627 w 6447632"/>
              <a:gd name="connsiteY99" fmla="*/ 5642557 h 5753325"/>
              <a:gd name="connsiteX100" fmla="*/ 788251 w 6447632"/>
              <a:gd name="connsiteY100" fmla="*/ 5637065 h 5753325"/>
              <a:gd name="connsiteX101" fmla="*/ 767822 w 6447632"/>
              <a:gd name="connsiteY101" fmla="*/ 5623450 h 5753325"/>
              <a:gd name="connsiteX102" fmla="*/ 765791 w 6447632"/>
              <a:gd name="connsiteY102" fmla="*/ 5612539 h 5753325"/>
              <a:gd name="connsiteX103" fmla="*/ 751230 w 6447632"/>
              <a:gd name="connsiteY103" fmla="*/ 5608092 h 5753325"/>
              <a:gd name="connsiteX104" fmla="*/ 748008 w 6447632"/>
              <a:gd name="connsiteY104" fmla="*/ 5605052 h 5753325"/>
              <a:gd name="connsiteX105" fmla="*/ 728871 w 6447632"/>
              <a:gd name="connsiteY105" fmla="*/ 5589469 h 5753325"/>
              <a:gd name="connsiteX106" fmla="*/ 671898 w 6447632"/>
              <a:gd name="connsiteY106" fmla="*/ 5602363 h 5753325"/>
              <a:gd name="connsiteX107" fmla="*/ 615065 w 6447632"/>
              <a:gd name="connsiteY107" fmla="*/ 5580257 h 5753325"/>
              <a:gd name="connsiteX108" fmla="*/ 355785 w 6447632"/>
              <a:gd name="connsiteY108" fmla="*/ 5514383 h 5753325"/>
              <a:gd name="connsiteX109" fmla="*/ 102269 w 6447632"/>
              <a:gd name="connsiteY109" fmla="*/ 5524347 h 5753325"/>
              <a:gd name="connsiteX110" fmla="*/ 13160 w 6447632"/>
              <a:gd name="connsiteY110" fmla="*/ 5514159 h 5753325"/>
              <a:gd name="connsiteX111" fmla="*/ 0 w 6447632"/>
              <a:gd name="connsiteY111" fmla="*/ 5511735 h 5753325"/>
              <a:gd name="connsiteX112" fmla="*/ 0 w 6447632"/>
              <a:gd name="connsiteY112"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434072 w 6447632"/>
              <a:gd name="connsiteY12" fmla="*/ 910733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405877 w 6447632"/>
              <a:gd name="connsiteY13" fmla="*/ 1026728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71501 w 6447632"/>
              <a:gd name="connsiteY43" fmla="*/ 3462221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5154 w 6447632"/>
              <a:gd name="connsiteY44" fmla="*/ 3541065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29735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723992 w 6447632"/>
              <a:gd name="connsiteY41" fmla="*/ 2998752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77471 w 6447632"/>
              <a:gd name="connsiteY40" fmla="*/ 2901570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59177 w 6447632"/>
              <a:gd name="connsiteY24" fmla="*/ 1639513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68801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71722 w 6447632"/>
              <a:gd name="connsiteY15" fmla="*/ 1318080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62266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45206 w 6447632"/>
              <a:gd name="connsiteY13" fmla="*/ 1018060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54187 w 6447632"/>
              <a:gd name="connsiteY7" fmla="*/ 615799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58350 w 6447632"/>
              <a:gd name="connsiteY6" fmla="*/ 492529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344988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41532 w 6447632"/>
              <a:gd name="connsiteY14" fmla="*/ 1151111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34770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7632"/>
              <a:gd name="connsiteY0" fmla="*/ 0 h 5753325"/>
              <a:gd name="connsiteX1" fmla="*/ 6438980 w 6447632"/>
              <a:gd name="connsiteY1" fmla="*/ 0 h 5753325"/>
              <a:gd name="connsiteX2" fmla="*/ 6439047 w 6447632"/>
              <a:gd name="connsiteY2" fmla="*/ 147 h 5753325"/>
              <a:gd name="connsiteX3" fmla="*/ 6443456 w 6447632"/>
              <a:gd name="connsiteY3" fmla="*/ 130105 h 5753325"/>
              <a:gd name="connsiteX4" fmla="*/ 6447632 w 6447632"/>
              <a:gd name="connsiteY4" fmla="*/ 170016 h 5753325"/>
              <a:gd name="connsiteX5" fmla="*/ 6396598 w 6447632"/>
              <a:gd name="connsiteY5" fmla="*/ 274847 h 5753325"/>
              <a:gd name="connsiteX6" fmla="*/ 6337615 w 6447632"/>
              <a:gd name="connsiteY6" fmla="*/ 471794 h 5753325"/>
              <a:gd name="connsiteX7" fmla="*/ 6304423 w 6447632"/>
              <a:gd name="connsiteY7" fmla="*/ 582623 h 5753325"/>
              <a:gd name="connsiteX8" fmla="*/ 6303977 w 6447632"/>
              <a:gd name="connsiteY8" fmla="*/ 664291 h 5753325"/>
              <a:gd name="connsiteX9" fmla="*/ 6299372 w 6447632"/>
              <a:gd name="connsiteY9" fmla="*/ 697330 h 5753325"/>
              <a:gd name="connsiteX10" fmla="*/ 6309888 w 6447632"/>
              <a:gd name="connsiteY10" fmla="*/ 754001 h 5753325"/>
              <a:gd name="connsiteX11" fmla="*/ 6339879 w 6447632"/>
              <a:gd name="connsiteY11" fmla="*/ 811136 h 5753325"/>
              <a:gd name="connsiteX12" fmla="*/ 6330065 w 6447632"/>
              <a:gd name="connsiteY12" fmla="*/ 893399 h 5753325"/>
              <a:gd name="connsiteX13" fmla="*/ 6328618 w 6447632"/>
              <a:gd name="connsiteY13" fmla="*/ 1009766 h 5753325"/>
              <a:gd name="connsiteX14" fmla="*/ 6320797 w 6447632"/>
              <a:gd name="connsiteY14" fmla="*/ 1146964 h 5753325"/>
              <a:gd name="connsiteX15" fmla="*/ 6334400 w 6447632"/>
              <a:gd name="connsiteY15" fmla="*/ 1280757 h 5753325"/>
              <a:gd name="connsiteX16" fmla="*/ 6356023 w 6447632"/>
              <a:gd name="connsiteY16" fmla="*/ 1356227 h 5753325"/>
              <a:gd name="connsiteX17" fmla="*/ 6356157 w 6447632"/>
              <a:gd name="connsiteY17" fmla="*/ 1361967 h 5753325"/>
              <a:gd name="connsiteX18" fmla="*/ 6350613 w 6447632"/>
              <a:gd name="connsiteY18" fmla="*/ 1393569 h 5753325"/>
              <a:gd name="connsiteX19" fmla="*/ 6357062 w 6447632"/>
              <a:gd name="connsiteY19" fmla="*/ 1444071 h 5753325"/>
              <a:gd name="connsiteX20" fmla="*/ 6364832 w 6447632"/>
              <a:gd name="connsiteY20" fmla="*/ 1478763 h 5753325"/>
              <a:gd name="connsiteX21" fmla="*/ 6369745 w 6447632"/>
              <a:gd name="connsiteY21" fmla="*/ 1495680 h 5753325"/>
              <a:gd name="connsiteX22" fmla="*/ 6370898 w 6447632"/>
              <a:gd name="connsiteY22" fmla="*/ 1513331 h 5753325"/>
              <a:gd name="connsiteX23" fmla="*/ 6339773 w 6447632"/>
              <a:gd name="connsiteY23" fmla="*/ 1527414 h 5753325"/>
              <a:gd name="connsiteX24" fmla="*/ 6321854 w 6447632"/>
              <a:gd name="connsiteY24" fmla="*/ 1635366 h 5753325"/>
              <a:gd name="connsiteX25" fmla="*/ 6299489 w 6447632"/>
              <a:gd name="connsiteY25" fmla="*/ 1784860 h 5753325"/>
              <a:gd name="connsiteX26" fmla="*/ 6267878 w 6447632"/>
              <a:gd name="connsiteY26" fmla="*/ 1858572 h 5753325"/>
              <a:gd name="connsiteX27" fmla="*/ 6251146 w 6447632"/>
              <a:gd name="connsiteY27" fmla="*/ 1926167 h 5753325"/>
              <a:gd name="connsiteX28" fmla="*/ 6210686 w 6447632"/>
              <a:gd name="connsiteY28" fmla="*/ 2014834 h 5753325"/>
              <a:gd name="connsiteX29" fmla="*/ 6106652 w 6447632"/>
              <a:gd name="connsiteY29" fmla="*/ 2150572 h 5753325"/>
              <a:gd name="connsiteX30" fmla="*/ 6097813 w 6447632"/>
              <a:gd name="connsiteY30" fmla="*/ 2172208 h 5753325"/>
              <a:gd name="connsiteX31" fmla="*/ 6095990 w 6447632"/>
              <a:gd name="connsiteY31" fmla="*/ 2181185 h 5753325"/>
              <a:gd name="connsiteX32" fmla="*/ 6090126 w 6447632"/>
              <a:gd name="connsiteY32" fmla="*/ 2192533 h 5753325"/>
              <a:gd name="connsiteX33" fmla="*/ 6089503 w 6447632"/>
              <a:gd name="connsiteY33" fmla="*/ 2192543 h 5753325"/>
              <a:gd name="connsiteX34" fmla="*/ 6084946 w 6447632"/>
              <a:gd name="connsiteY34" fmla="*/ 2203694 h 5753325"/>
              <a:gd name="connsiteX35" fmla="*/ 5987861 w 6447632"/>
              <a:gd name="connsiteY35" fmla="*/ 2304868 h 5753325"/>
              <a:gd name="connsiteX36" fmla="*/ 5973439 w 6447632"/>
              <a:gd name="connsiteY36" fmla="*/ 2385635 h 5753325"/>
              <a:gd name="connsiteX37" fmla="*/ 5916727 w 6447632"/>
              <a:gd name="connsiteY37" fmla="*/ 2458777 h 5753325"/>
              <a:gd name="connsiteX38" fmla="*/ 5856524 w 6447632"/>
              <a:gd name="connsiteY38" fmla="*/ 2583281 h 5753325"/>
              <a:gd name="connsiteX39" fmla="*/ 5838091 w 6447632"/>
              <a:gd name="connsiteY39" fmla="*/ 2753474 h 5753325"/>
              <a:gd name="connsiteX40" fmla="*/ 5744296 w 6447632"/>
              <a:gd name="connsiteY40" fmla="*/ 2893276 h 5753325"/>
              <a:gd name="connsiteX41" fmla="*/ 5682522 w 6447632"/>
              <a:gd name="connsiteY41" fmla="*/ 3044368 h 5753325"/>
              <a:gd name="connsiteX42" fmla="*/ 5557886 w 6447632"/>
              <a:gd name="connsiteY42" fmla="*/ 3304853 h 5753325"/>
              <a:gd name="connsiteX43" fmla="*/ 5483942 w 6447632"/>
              <a:gd name="connsiteY43" fmla="*/ 3416604 h 5753325"/>
              <a:gd name="connsiteX44" fmla="*/ 5461007 w 6447632"/>
              <a:gd name="connsiteY44" fmla="*/ 3503742 h 5753325"/>
              <a:gd name="connsiteX45" fmla="*/ 5437889 w 6447632"/>
              <a:gd name="connsiteY45" fmla="*/ 3559927 h 5753325"/>
              <a:gd name="connsiteX46" fmla="*/ 5432770 w 6447632"/>
              <a:gd name="connsiteY46" fmla="*/ 3562948 h 5753325"/>
              <a:gd name="connsiteX47" fmla="*/ 5406795 w 6447632"/>
              <a:gd name="connsiteY47" fmla="*/ 3578594 h 5753325"/>
              <a:gd name="connsiteX48" fmla="*/ 5381495 w 6447632"/>
              <a:gd name="connsiteY48" fmla="*/ 3599883 h 5753325"/>
              <a:gd name="connsiteX49" fmla="*/ 5363689 w 6447632"/>
              <a:gd name="connsiteY49" fmla="*/ 3633299 h 5753325"/>
              <a:gd name="connsiteX50" fmla="*/ 5291870 w 6447632"/>
              <a:gd name="connsiteY50" fmla="*/ 3799039 h 5753325"/>
              <a:gd name="connsiteX51" fmla="*/ 5241600 w 6447632"/>
              <a:gd name="connsiteY51" fmla="*/ 3894238 h 5753325"/>
              <a:gd name="connsiteX52" fmla="*/ 5211041 w 6447632"/>
              <a:gd name="connsiteY52" fmla="*/ 3924184 h 5753325"/>
              <a:gd name="connsiteX53" fmla="*/ 5176073 w 6447632"/>
              <a:gd name="connsiteY53" fmla="*/ 3970179 h 5753325"/>
              <a:gd name="connsiteX54" fmla="*/ 5172826 w 6447632"/>
              <a:gd name="connsiteY54" fmla="*/ 3991773 h 5753325"/>
              <a:gd name="connsiteX55" fmla="*/ 5157053 w 6447632"/>
              <a:gd name="connsiteY55" fmla="*/ 3997708 h 5753325"/>
              <a:gd name="connsiteX56" fmla="*/ 5127922 w 6447632"/>
              <a:gd name="connsiteY56" fmla="*/ 4022660 h 5753325"/>
              <a:gd name="connsiteX57" fmla="*/ 5020872 w 6447632"/>
              <a:gd name="connsiteY57" fmla="*/ 4075951 h 5753325"/>
              <a:gd name="connsiteX58" fmla="*/ 4991410 w 6447632"/>
              <a:gd name="connsiteY58" fmla="*/ 4087598 h 5753325"/>
              <a:gd name="connsiteX59" fmla="*/ 4930112 w 6447632"/>
              <a:gd name="connsiteY59" fmla="*/ 4138459 h 5753325"/>
              <a:gd name="connsiteX60" fmla="*/ 4834224 w 6447632"/>
              <a:gd name="connsiteY60" fmla="*/ 4231643 h 5753325"/>
              <a:gd name="connsiteX61" fmla="*/ 4812599 w 6447632"/>
              <a:gd name="connsiteY61" fmla="*/ 4249449 h 5753325"/>
              <a:gd name="connsiteX62" fmla="*/ 4789188 w 6447632"/>
              <a:gd name="connsiteY62" fmla="*/ 4256678 h 5753325"/>
              <a:gd name="connsiteX63" fmla="*/ 4779554 w 6447632"/>
              <a:gd name="connsiteY63" fmla="*/ 4251313 h 5753325"/>
              <a:gd name="connsiteX64" fmla="*/ 4766885 w 6447632"/>
              <a:gd name="connsiteY64" fmla="*/ 4259812 h 5753325"/>
              <a:gd name="connsiteX65" fmla="*/ 4762510 w 6447632"/>
              <a:gd name="connsiteY65" fmla="*/ 4260383 h 5753325"/>
              <a:gd name="connsiteX66" fmla="*/ 4738416 w 6447632"/>
              <a:gd name="connsiteY66" fmla="*/ 4265355 h 5753325"/>
              <a:gd name="connsiteX67" fmla="*/ 4712007 w 6447632"/>
              <a:gd name="connsiteY67" fmla="*/ 4317892 h 5753325"/>
              <a:gd name="connsiteX68" fmla="*/ 4658930 w 6447632"/>
              <a:gd name="connsiteY68" fmla="*/ 4348041 h 5753325"/>
              <a:gd name="connsiteX69" fmla="*/ 4443526 w 6447632"/>
              <a:gd name="connsiteY69" fmla="*/ 4507851 h 5753325"/>
              <a:gd name="connsiteX70" fmla="*/ 4289766 w 6447632"/>
              <a:gd name="connsiteY70" fmla="*/ 4711450 h 5753325"/>
              <a:gd name="connsiteX71" fmla="*/ 4150870 w 6447632"/>
              <a:gd name="connsiteY71" fmla="*/ 4818480 h 5753325"/>
              <a:gd name="connsiteX72" fmla="*/ 4006639 w 6447632"/>
              <a:gd name="connsiteY72" fmla="*/ 4933815 h 5753325"/>
              <a:gd name="connsiteX73" fmla="*/ 3298210 w 6447632"/>
              <a:gd name="connsiteY73" fmla="*/ 5070790 h 5753325"/>
              <a:gd name="connsiteX74" fmla="*/ 2947678 w 6447632"/>
              <a:gd name="connsiteY74" fmla="*/ 5117869 h 5753325"/>
              <a:gd name="connsiteX75" fmla="*/ 2822169 w 6447632"/>
              <a:gd name="connsiteY75" fmla="*/ 5129396 h 5753325"/>
              <a:gd name="connsiteX76" fmla="*/ 2538773 w 6447632"/>
              <a:gd name="connsiteY76" fmla="*/ 5313397 h 5753325"/>
              <a:gd name="connsiteX77" fmla="*/ 2014500 w 6447632"/>
              <a:gd name="connsiteY77" fmla="*/ 5519744 h 5753325"/>
              <a:gd name="connsiteX78" fmla="*/ 1934391 w 6447632"/>
              <a:gd name="connsiteY78" fmla="*/ 5591335 h 5753325"/>
              <a:gd name="connsiteX79" fmla="*/ 1892550 w 6447632"/>
              <a:gd name="connsiteY79" fmla="*/ 5649708 h 5753325"/>
              <a:gd name="connsiteX80" fmla="*/ 1854769 w 6447632"/>
              <a:gd name="connsiteY80" fmla="*/ 5647691 h 5753325"/>
              <a:gd name="connsiteX81" fmla="*/ 1809461 w 6447632"/>
              <a:gd name="connsiteY81" fmla="*/ 5648628 h 5753325"/>
              <a:gd name="connsiteX82" fmla="*/ 1745150 w 6447632"/>
              <a:gd name="connsiteY82" fmla="*/ 5693879 h 5753325"/>
              <a:gd name="connsiteX83" fmla="*/ 1713375 w 6447632"/>
              <a:gd name="connsiteY83" fmla="*/ 5684672 h 5753325"/>
              <a:gd name="connsiteX84" fmla="*/ 1707808 w 6447632"/>
              <a:gd name="connsiteY84" fmla="*/ 5682611 h 5753325"/>
              <a:gd name="connsiteX85" fmla="*/ 1679313 w 6447632"/>
              <a:gd name="connsiteY85" fmla="*/ 5672360 h 5753325"/>
              <a:gd name="connsiteX86" fmla="*/ 1646933 w 6447632"/>
              <a:gd name="connsiteY86" fmla="*/ 5666227 h 5753325"/>
              <a:gd name="connsiteX87" fmla="*/ 1610055 w 6447632"/>
              <a:gd name="connsiteY87" fmla="*/ 5673643 h 5753325"/>
              <a:gd name="connsiteX88" fmla="*/ 1437641 w 6447632"/>
              <a:gd name="connsiteY88" fmla="*/ 5723266 h 5753325"/>
              <a:gd name="connsiteX89" fmla="*/ 1332869 w 6447632"/>
              <a:gd name="connsiteY89" fmla="*/ 5744752 h 5753325"/>
              <a:gd name="connsiteX90" fmla="*/ 1290525 w 6447632"/>
              <a:gd name="connsiteY90" fmla="*/ 5740036 h 5753325"/>
              <a:gd name="connsiteX91" fmla="*/ 1233107 w 6447632"/>
              <a:gd name="connsiteY91" fmla="*/ 5742106 h 5753325"/>
              <a:gd name="connsiteX92" fmla="*/ 1214532 w 6447632"/>
              <a:gd name="connsiteY92" fmla="*/ 5753325 h 5753325"/>
              <a:gd name="connsiteX93" fmla="*/ 1199955 w 6447632"/>
              <a:gd name="connsiteY93" fmla="*/ 5744831 h 5753325"/>
              <a:gd name="connsiteX94" fmla="*/ 1162337 w 6447632"/>
              <a:gd name="connsiteY94" fmla="*/ 5738048 h 5753325"/>
              <a:gd name="connsiteX95" fmla="*/ 1053457 w 6447632"/>
              <a:gd name="connsiteY95" fmla="*/ 5688676 h 5753325"/>
              <a:gd name="connsiteX96" fmla="*/ 1025798 w 6447632"/>
              <a:gd name="connsiteY96" fmla="*/ 5673166 h 5753325"/>
              <a:gd name="connsiteX97" fmla="*/ 947900 w 6447632"/>
              <a:gd name="connsiteY97" fmla="*/ 5657848 h 5753325"/>
              <a:gd name="connsiteX98" fmla="*/ 815627 w 6447632"/>
              <a:gd name="connsiteY98" fmla="*/ 5642557 h 5753325"/>
              <a:gd name="connsiteX99" fmla="*/ 788251 w 6447632"/>
              <a:gd name="connsiteY99" fmla="*/ 5637065 h 5753325"/>
              <a:gd name="connsiteX100" fmla="*/ 767822 w 6447632"/>
              <a:gd name="connsiteY100" fmla="*/ 5623450 h 5753325"/>
              <a:gd name="connsiteX101" fmla="*/ 765791 w 6447632"/>
              <a:gd name="connsiteY101" fmla="*/ 5612539 h 5753325"/>
              <a:gd name="connsiteX102" fmla="*/ 751230 w 6447632"/>
              <a:gd name="connsiteY102" fmla="*/ 5608092 h 5753325"/>
              <a:gd name="connsiteX103" fmla="*/ 748008 w 6447632"/>
              <a:gd name="connsiteY103" fmla="*/ 5605052 h 5753325"/>
              <a:gd name="connsiteX104" fmla="*/ 728871 w 6447632"/>
              <a:gd name="connsiteY104" fmla="*/ 5589469 h 5753325"/>
              <a:gd name="connsiteX105" fmla="*/ 671898 w 6447632"/>
              <a:gd name="connsiteY105" fmla="*/ 5602363 h 5753325"/>
              <a:gd name="connsiteX106" fmla="*/ 615065 w 6447632"/>
              <a:gd name="connsiteY106" fmla="*/ 5580257 h 5753325"/>
              <a:gd name="connsiteX107" fmla="*/ 355785 w 6447632"/>
              <a:gd name="connsiteY107" fmla="*/ 5514383 h 5753325"/>
              <a:gd name="connsiteX108" fmla="*/ 102269 w 6447632"/>
              <a:gd name="connsiteY108" fmla="*/ 5524347 h 5753325"/>
              <a:gd name="connsiteX109" fmla="*/ 13160 w 6447632"/>
              <a:gd name="connsiteY109" fmla="*/ 5514159 h 5753325"/>
              <a:gd name="connsiteX110" fmla="*/ 0 w 6447632"/>
              <a:gd name="connsiteY110" fmla="*/ 5511735 h 5753325"/>
              <a:gd name="connsiteX111" fmla="*/ 0 w 6447632"/>
              <a:gd name="connsiteY111" fmla="*/ 0 h 5753325"/>
              <a:gd name="connsiteX0" fmla="*/ 0 w 6443456"/>
              <a:gd name="connsiteY0" fmla="*/ 0 h 5753325"/>
              <a:gd name="connsiteX1" fmla="*/ 6438980 w 6443456"/>
              <a:gd name="connsiteY1" fmla="*/ 0 h 5753325"/>
              <a:gd name="connsiteX2" fmla="*/ 6439047 w 6443456"/>
              <a:gd name="connsiteY2" fmla="*/ 147 h 5753325"/>
              <a:gd name="connsiteX3" fmla="*/ 6443456 w 6443456"/>
              <a:gd name="connsiteY3" fmla="*/ 130105 h 5753325"/>
              <a:gd name="connsiteX4" fmla="*/ 6422751 w 6443456"/>
              <a:gd name="connsiteY4" fmla="*/ 174163 h 5753325"/>
              <a:gd name="connsiteX5" fmla="*/ 6396598 w 6443456"/>
              <a:gd name="connsiteY5" fmla="*/ 274847 h 5753325"/>
              <a:gd name="connsiteX6" fmla="*/ 6337615 w 6443456"/>
              <a:gd name="connsiteY6" fmla="*/ 471794 h 5753325"/>
              <a:gd name="connsiteX7" fmla="*/ 6304423 w 6443456"/>
              <a:gd name="connsiteY7" fmla="*/ 582623 h 5753325"/>
              <a:gd name="connsiteX8" fmla="*/ 6303977 w 6443456"/>
              <a:gd name="connsiteY8" fmla="*/ 664291 h 5753325"/>
              <a:gd name="connsiteX9" fmla="*/ 6299372 w 6443456"/>
              <a:gd name="connsiteY9" fmla="*/ 697330 h 5753325"/>
              <a:gd name="connsiteX10" fmla="*/ 6309888 w 6443456"/>
              <a:gd name="connsiteY10" fmla="*/ 754001 h 5753325"/>
              <a:gd name="connsiteX11" fmla="*/ 6339879 w 6443456"/>
              <a:gd name="connsiteY11" fmla="*/ 811136 h 5753325"/>
              <a:gd name="connsiteX12" fmla="*/ 6330065 w 6443456"/>
              <a:gd name="connsiteY12" fmla="*/ 893399 h 5753325"/>
              <a:gd name="connsiteX13" fmla="*/ 6328618 w 6443456"/>
              <a:gd name="connsiteY13" fmla="*/ 1009766 h 5753325"/>
              <a:gd name="connsiteX14" fmla="*/ 6320797 w 6443456"/>
              <a:gd name="connsiteY14" fmla="*/ 1146964 h 5753325"/>
              <a:gd name="connsiteX15" fmla="*/ 6334400 w 6443456"/>
              <a:gd name="connsiteY15" fmla="*/ 1280757 h 5753325"/>
              <a:gd name="connsiteX16" fmla="*/ 6356023 w 6443456"/>
              <a:gd name="connsiteY16" fmla="*/ 1356227 h 5753325"/>
              <a:gd name="connsiteX17" fmla="*/ 6356157 w 6443456"/>
              <a:gd name="connsiteY17" fmla="*/ 1361967 h 5753325"/>
              <a:gd name="connsiteX18" fmla="*/ 6350613 w 6443456"/>
              <a:gd name="connsiteY18" fmla="*/ 1393569 h 5753325"/>
              <a:gd name="connsiteX19" fmla="*/ 6357062 w 6443456"/>
              <a:gd name="connsiteY19" fmla="*/ 1444071 h 5753325"/>
              <a:gd name="connsiteX20" fmla="*/ 6364832 w 6443456"/>
              <a:gd name="connsiteY20" fmla="*/ 1478763 h 5753325"/>
              <a:gd name="connsiteX21" fmla="*/ 6369745 w 6443456"/>
              <a:gd name="connsiteY21" fmla="*/ 1495680 h 5753325"/>
              <a:gd name="connsiteX22" fmla="*/ 6370898 w 6443456"/>
              <a:gd name="connsiteY22" fmla="*/ 1513331 h 5753325"/>
              <a:gd name="connsiteX23" fmla="*/ 6339773 w 6443456"/>
              <a:gd name="connsiteY23" fmla="*/ 1527414 h 5753325"/>
              <a:gd name="connsiteX24" fmla="*/ 6321854 w 6443456"/>
              <a:gd name="connsiteY24" fmla="*/ 1635366 h 5753325"/>
              <a:gd name="connsiteX25" fmla="*/ 6299489 w 6443456"/>
              <a:gd name="connsiteY25" fmla="*/ 1784860 h 5753325"/>
              <a:gd name="connsiteX26" fmla="*/ 6267878 w 6443456"/>
              <a:gd name="connsiteY26" fmla="*/ 1858572 h 5753325"/>
              <a:gd name="connsiteX27" fmla="*/ 6251146 w 6443456"/>
              <a:gd name="connsiteY27" fmla="*/ 1926167 h 5753325"/>
              <a:gd name="connsiteX28" fmla="*/ 6210686 w 6443456"/>
              <a:gd name="connsiteY28" fmla="*/ 2014834 h 5753325"/>
              <a:gd name="connsiteX29" fmla="*/ 6106652 w 6443456"/>
              <a:gd name="connsiteY29" fmla="*/ 2150572 h 5753325"/>
              <a:gd name="connsiteX30" fmla="*/ 6097813 w 6443456"/>
              <a:gd name="connsiteY30" fmla="*/ 2172208 h 5753325"/>
              <a:gd name="connsiteX31" fmla="*/ 6095990 w 6443456"/>
              <a:gd name="connsiteY31" fmla="*/ 2181185 h 5753325"/>
              <a:gd name="connsiteX32" fmla="*/ 6090126 w 6443456"/>
              <a:gd name="connsiteY32" fmla="*/ 2192533 h 5753325"/>
              <a:gd name="connsiteX33" fmla="*/ 6089503 w 6443456"/>
              <a:gd name="connsiteY33" fmla="*/ 2192543 h 5753325"/>
              <a:gd name="connsiteX34" fmla="*/ 6084946 w 6443456"/>
              <a:gd name="connsiteY34" fmla="*/ 2203694 h 5753325"/>
              <a:gd name="connsiteX35" fmla="*/ 5987861 w 6443456"/>
              <a:gd name="connsiteY35" fmla="*/ 2304868 h 5753325"/>
              <a:gd name="connsiteX36" fmla="*/ 5973439 w 6443456"/>
              <a:gd name="connsiteY36" fmla="*/ 2385635 h 5753325"/>
              <a:gd name="connsiteX37" fmla="*/ 5916727 w 6443456"/>
              <a:gd name="connsiteY37" fmla="*/ 2458777 h 5753325"/>
              <a:gd name="connsiteX38" fmla="*/ 5856524 w 6443456"/>
              <a:gd name="connsiteY38" fmla="*/ 2583281 h 5753325"/>
              <a:gd name="connsiteX39" fmla="*/ 5838091 w 6443456"/>
              <a:gd name="connsiteY39" fmla="*/ 2753474 h 5753325"/>
              <a:gd name="connsiteX40" fmla="*/ 5744296 w 6443456"/>
              <a:gd name="connsiteY40" fmla="*/ 2893276 h 5753325"/>
              <a:gd name="connsiteX41" fmla="*/ 5682522 w 6443456"/>
              <a:gd name="connsiteY41" fmla="*/ 3044368 h 5753325"/>
              <a:gd name="connsiteX42" fmla="*/ 5557886 w 6443456"/>
              <a:gd name="connsiteY42" fmla="*/ 3304853 h 5753325"/>
              <a:gd name="connsiteX43" fmla="*/ 5483942 w 6443456"/>
              <a:gd name="connsiteY43" fmla="*/ 3416604 h 5753325"/>
              <a:gd name="connsiteX44" fmla="*/ 5461007 w 6443456"/>
              <a:gd name="connsiteY44" fmla="*/ 3503742 h 5753325"/>
              <a:gd name="connsiteX45" fmla="*/ 5437889 w 6443456"/>
              <a:gd name="connsiteY45" fmla="*/ 3559927 h 5753325"/>
              <a:gd name="connsiteX46" fmla="*/ 5432770 w 6443456"/>
              <a:gd name="connsiteY46" fmla="*/ 3562948 h 5753325"/>
              <a:gd name="connsiteX47" fmla="*/ 5406795 w 6443456"/>
              <a:gd name="connsiteY47" fmla="*/ 3578594 h 5753325"/>
              <a:gd name="connsiteX48" fmla="*/ 5381495 w 6443456"/>
              <a:gd name="connsiteY48" fmla="*/ 3599883 h 5753325"/>
              <a:gd name="connsiteX49" fmla="*/ 5363689 w 6443456"/>
              <a:gd name="connsiteY49" fmla="*/ 3633299 h 5753325"/>
              <a:gd name="connsiteX50" fmla="*/ 5291870 w 6443456"/>
              <a:gd name="connsiteY50" fmla="*/ 3799039 h 5753325"/>
              <a:gd name="connsiteX51" fmla="*/ 5241600 w 6443456"/>
              <a:gd name="connsiteY51" fmla="*/ 3894238 h 5753325"/>
              <a:gd name="connsiteX52" fmla="*/ 5211041 w 6443456"/>
              <a:gd name="connsiteY52" fmla="*/ 3924184 h 5753325"/>
              <a:gd name="connsiteX53" fmla="*/ 5176073 w 6443456"/>
              <a:gd name="connsiteY53" fmla="*/ 3970179 h 5753325"/>
              <a:gd name="connsiteX54" fmla="*/ 5172826 w 6443456"/>
              <a:gd name="connsiteY54" fmla="*/ 3991773 h 5753325"/>
              <a:gd name="connsiteX55" fmla="*/ 5157053 w 6443456"/>
              <a:gd name="connsiteY55" fmla="*/ 3997708 h 5753325"/>
              <a:gd name="connsiteX56" fmla="*/ 5127922 w 6443456"/>
              <a:gd name="connsiteY56" fmla="*/ 4022660 h 5753325"/>
              <a:gd name="connsiteX57" fmla="*/ 5020872 w 6443456"/>
              <a:gd name="connsiteY57" fmla="*/ 4075951 h 5753325"/>
              <a:gd name="connsiteX58" fmla="*/ 4991410 w 6443456"/>
              <a:gd name="connsiteY58" fmla="*/ 4087598 h 5753325"/>
              <a:gd name="connsiteX59" fmla="*/ 4930112 w 6443456"/>
              <a:gd name="connsiteY59" fmla="*/ 4138459 h 5753325"/>
              <a:gd name="connsiteX60" fmla="*/ 4834224 w 6443456"/>
              <a:gd name="connsiteY60" fmla="*/ 4231643 h 5753325"/>
              <a:gd name="connsiteX61" fmla="*/ 4812599 w 6443456"/>
              <a:gd name="connsiteY61" fmla="*/ 4249449 h 5753325"/>
              <a:gd name="connsiteX62" fmla="*/ 4789188 w 6443456"/>
              <a:gd name="connsiteY62" fmla="*/ 4256678 h 5753325"/>
              <a:gd name="connsiteX63" fmla="*/ 4779554 w 6443456"/>
              <a:gd name="connsiteY63" fmla="*/ 4251313 h 5753325"/>
              <a:gd name="connsiteX64" fmla="*/ 4766885 w 6443456"/>
              <a:gd name="connsiteY64" fmla="*/ 4259812 h 5753325"/>
              <a:gd name="connsiteX65" fmla="*/ 4762510 w 6443456"/>
              <a:gd name="connsiteY65" fmla="*/ 4260383 h 5753325"/>
              <a:gd name="connsiteX66" fmla="*/ 4738416 w 6443456"/>
              <a:gd name="connsiteY66" fmla="*/ 4265355 h 5753325"/>
              <a:gd name="connsiteX67" fmla="*/ 4712007 w 6443456"/>
              <a:gd name="connsiteY67" fmla="*/ 4317892 h 5753325"/>
              <a:gd name="connsiteX68" fmla="*/ 4658930 w 6443456"/>
              <a:gd name="connsiteY68" fmla="*/ 4348041 h 5753325"/>
              <a:gd name="connsiteX69" fmla="*/ 4443526 w 6443456"/>
              <a:gd name="connsiteY69" fmla="*/ 4507851 h 5753325"/>
              <a:gd name="connsiteX70" fmla="*/ 4289766 w 6443456"/>
              <a:gd name="connsiteY70" fmla="*/ 4711450 h 5753325"/>
              <a:gd name="connsiteX71" fmla="*/ 4150870 w 6443456"/>
              <a:gd name="connsiteY71" fmla="*/ 4818480 h 5753325"/>
              <a:gd name="connsiteX72" fmla="*/ 4006639 w 6443456"/>
              <a:gd name="connsiteY72" fmla="*/ 4933815 h 5753325"/>
              <a:gd name="connsiteX73" fmla="*/ 3298210 w 6443456"/>
              <a:gd name="connsiteY73" fmla="*/ 5070790 h 5753325"/>
              <a:gd name="connsiteX74" fmla="*/ 2947678 w 6443456"/>
              <a:gd name="connsiteY74" fmla="*/ 5117869 h 5753325"/>
              <a:gd name="connsiteX75" fmla="*/ 2822169 w 6443456"/>
              <a:gd name="connsiteY75" fmla="*/ 5129396 h 5753325"/>
              <a:gd name="connsiteX76" fmla="*/ 2538773 w 6443456"/>
              <a:gd name="connsiteY76" fmla="*/ 5313397 h 5753325"/>
              <a:gd name="connsiteX77" fmla="*/ 2014500 w 6443456"/>
              <a:gd name="connsiteY77" fmla="*/ 5519744 h 5753325"/>
              <a:gd name="connsiteX78" fmla="*/ 1934391 w 6443456"/>
              <a:gd name="connsiteY78" fmla="*/ 5591335 h 5753325"/>
              <a:gd name="connsiteX79" fmla="*/ 1892550 w 6443456"/>
              <a:gd name="connsiteY79" fmla="*/ 5649708 h 5753325"/>
              <a:gd name="connsiteX80" fmla="*/ 1854769 w 6443456"/>
              <a:gd name="connsiteY80" fmla="*/ 5647691 h 5753325"/>
              <a:gd name="connsiteX81" fmla="*/ 1809461 w 6443456"/>
              <a:gd name="connsiteY81" fmla="*/ 5648628 h 5753325"/>
              <a:gd name="connsiteX82" fmla="*/ 1745150 w 6443456"/>
              <a:gd name="connsiteY82" fmla="*/ 5693879 h 5753325"/>
              <a:gd name="connsiteX83" fmla="*/ 1713375 w 6443456"/>
              <a:gd name="connsiteY83" fmla="*/ 5684672 h 5753325"/>
              <a:gd name="connsiteX84" fmla="*/ 1707808 w 6443456"/>
              <a:gd name="connsiteY84" fmla="*/ 5682611 h 5753325"/>
              <a:gd name="connsiteX85" fmla="*/ 1679313 w 6443456"/>
              <a:gd name="connsiteY85" fmla="*/ 5672360 h 5753325"/>
              <a:gd name="connsiteX86" fmla="*/ 1646933 w 6443456"/>
              <a:gd name="connsiteY86" fmla="*/ 5666227 h 5753325"/>
              <a:gd name="connsiteX87" fmla="*/ 1610055 w 6443456"/>
              <a:gd name="connsiteY87" fmla="*/ 5673643 h 5753325"/>
              <a:gd name="connsiteX88" fmla="*/ 1437641 w 6443456"/>
              <a:gd name="connsiteY88" fmla="*/ 5723266 h 5753325"/>
              <a:gd name="connsiteX89" fmla="*/ 1332869 w 6443456"/>
              <a:gd name="connsiteY89" fmla="*/ 5744752 h 5753325"/>
              <a:gd name="connsiteX90" fmla="*/ 1290525 w 6443456"/>
              <a:gd name="connsiteY90" fmla="*/ 5740036 h 5753325"/>
              <a:gd name="connsiteX91" fmla="*/ 1233107 w 6443456"/>
              <a:gd name="connsiteY91" fmla="*/ 5742106 h 5753325"/>
              <a:gd name="connsiteX92" fmla="*/ 1214532 w 6443456"/>
              <a:gd name="connsiteY92" fmla="*/ 5753325 h 5753325"/>
              <a:gd name="connsiteX93" fmla="*/ 1199955 w 6443456"/>
              <a:gd name="connsiteY93" fmla="*/ 5744831 h 5753325"/>
              <a:gd name="connsiteX94" fmla="*/ 1162337 w 6443456"/>
              <a:gd name="connsiteY94" fmla="*/ 5738048 h 5753325"/>
              <a:gd name="connsiteX95" fmla="*/ 1053457 w 6443456"/>
              <a:gd name="connsiteY95" fmla="*/ 5688676 h 5753325"/>
              <a:gd name="connsiteX96" fmla="*/ 1025798 w 6443456"/>
              <a:gd name="connsiteY96" fmla="*/ 5673166 h 5753325"/>
              <a:gd name="connsiteX97" fmla="*/ 947900 w 6443456"/>
              <a:gd name="connsiteY97" fmla="*/ 5657848 h 5753325"/>
              <a:gd name="connsiteX98" fmla="*/ 815627 w 6443456"/>
              <a:gd name="connsiteY98" fmla="*/ 5642557 h 5753325"/>
              <a:gd name="connsiteX99" fmla="*/ 788251 w 6443456"/>
              <a:gd name="connsiteY99" fmla="*/ 5637065 h 5753325"/>
              <a:gd name="connsiteX100" fmla="*/ 767822 w 6443456"/>
              <a:gd name="connsiteY100" fmla="*/ 5623450 h 5753325"/>
              <a:gd name="connsiteX101" fmla="*/ 765791 w 6443456"/>
              <a:gd name="connsiteY101" fmla="*/ 5612539 h 5753325"/>
              <a:gd name="connsiteX102" fmla="*/ 751230 w 6443456"/>
              <a:gd name="connsiteY102" fmla="*/ 5608092 h 5753325"/>
              <a:gd name="connsiteX103" fmla="*/ 748008 w 6443456"/>
              <a:gd name="connsiteY103" fmla="*/ 5605052 h 5753325"/>
              <a:gd name="connsiteX104" fmla="*/ 728871 w 6443456"/>
              <a:gd name="connsiteY104" fmla="*/ 5589469 h 5753325"/>
              <a:gd name="connsiteX105" fmla="*/ 671898 w 6443456"/>
              <a:gd name="connsiteY105" fmla="*/ 5602363 h 5753325"/>
              <a:gd name="connsiteX106" fmla="*/ 615065 w 6443456"/>
              <a:gd name="connsiteY106" fmla="*/ 5580257 h 5753325"/>
              <a:gd name="connsiteX107" fmla="*/ 355785 w 6443456"/>
              <a:gd name="connsiteY107" fmla="*/ 5514383 h 5753325"/>
              <a:gd name="connsiteX108" fmla="*/ 102269 w 6443456"/>
              <a:gd name="connsiteY108" fmla="*/ 5524347 h 5753325"/>
              <a:gd name="connsiteX109" fmla="*/ 13160 w 6443456"/>
              <a:gd name="connsiteY109" fmla="*/ 5514159 h 5753325"/>
              <a:gd name="connsiteX110" fmla="*/ 0 w 6443456"/>
              <a:gd name="connsiteY110" fmla="*/ 5511735 h 5753325"/>
              <a:gd name="connsiteX111" fmla="*/ 0 w 6443456"/>
              <a:gd name="connsiteY111" fmla="*/ 0 h 5753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6443456" h="5753325">
                <a:moveTo>
                  <a:pt x="0" y="0"/>
                </a:moveTo>
                <a:lnTo>
                  <a:pt x="6438980" y="0"/>
                </a:lnTo>
                <a:cubicBezTo>
                  <a:pt x="6439002" y="49"/>
                  <a:pt x="6439025" y="98"/>
                  <a:pt x="6439047" y="147"/>
                </a:cubicBezTo>
                <a:lnTo>
                  <a:pt x="6443456" y="130105"/>
                </a:lnTo>
                <a:cubicBezTo>
                  <a:pt x="6430828" y="154008"/>
                  <a:pt x="6411458" y="168030"/>
                  <a:pt x="6422751" y="174163"/>
                </a:cubicBezTo>
                <a:cubicBezTo>
                  <a:pt x="6418487" y="214830"/>
                  <a:pt x="6390727" y="235497"/>
                  <a:pt x="6396598" y="274847"/>
                </a:cubicBezTo>
                <a:cubicBezTo>
                  <a:pt x="6403386" y="335822"/>
                  <a:pt x="6333127" y="414969"/>
                  <a:pt x="6337615" y="471794"/>
                </a:cubicBezTo>
                <a:cubicBezTo>
                  <a:pt x="6324407" y="534783"/>
                  <a:pt x="6296331" y="556933"/>
                  <a:pt x="6304423" y="582623"/>
                </a:cubicBezTo>
                <a:cubicBezTo>
                  <a:pt x="6293676" y="611941"/>
                  <a:pt x="6296956" y="631352"/>
                  <a:pt x="6303977" y="664291"/>
                </a:cubicBezTo>
                <a:cubicBezTo>
                  <a:pt x="6302444" y="677879"/>
                  <a:pt x="6301462" y="685268"/>
                  <a:pt x="6299372" y="697330"/>
                </a:cubicBezTo>
                <a:cubicBezTo>
                  <a:pt x="6314387" y="714913"/>
                  <a:pt x="6313827" y="721408"/>
                  <a:pt x="6309888" y="754001"/>
                </a:cubicBezTo>
                <a:cubicBezTo>
                  <a:pt x="6306930" y="769492"/>
                  <a:pt x="6343751" y="814234"/>
                  <a:pt x="6339879" y="811136"/>
                </a:cubicBezTo>
                <a:lnTo>
                  <a:pt x="6330065" y="893399"/>
                </a:lnTo>
                <a:cubicBezTo>
                  <a:pt x="6341065" y="929331"/>
                  <a:pt x="6340586" y="969703"/>
                  <a:pt x="6328618" y="1009766"/>
                </a:cubicBezTo>
                <a:cubicBezTo>
                  <a:pt x="6286987" y="1110847"/>
                  <a:pt x="6336677" y="1067927"/>
                  <a:pt x="6320797" y="1146964"/>
                </a:cubicBezTo>
                <a:cubicBezTo>
                  <a:pt x="6308238" y="1199586"/>
                  <a:pt x="6355190" y="1221191"/>
                  <a:pt x="6334400" y="1280757"/>
                </a:cubicBezTo>
                <a:lnTo>
                  <a:pt x="6356023" y="1356227"/>
                </a:lnTo>
                <a:cubicBezTo>
                  <a:pt x="6356068" y="1358140"/>
                  <a:pt x="6356112" y="1360054"/>
                  <a:pt x="6356157" y="1361967"/>
                </a:cubicBezTo>
                <a:cubicBezTo>
                  <a:pt x="6355533" y="1373512"/>
                  <a:pt x="6353847" y="1384370"/>
                  <a:pt x="6350613" y="1393569"/>
                </a:cubicBezTo>
                <a:cubicBezTo>
                  <a:pt x="6364468" y="1383914"/>
                  <a:pt x="6345614" y="1435855"/>
                  <a:pt x="6357062" y="1444071"/>
                </a:cubicBezTo>
                <a:cubicBezTo>
                  <a:pt x="6366618" y="1448518"/>
                  <a:pt x="6363125" y="1465312"/>
                  <a:pt x="6364832" y="1478763"/>
                </a:cubicBezTo>
                <a:cubicBezTo>
                  <a:pt x="6367033" y="1481449"/>
                  <a:pt x="6368644" y="1487606"/>
                  <a:pt x="6369745" y="1495680"/>
                </a:cubicBezTo>
                <a:cubicBezTo>
                  <a:pt x="6370129" y="1501564"/>
                  <a:pt x="6370514" y="1507447"/>
                  <a:pt x="6370898" y="1513331"/>
                </a:cubicBezTo>
                <a:lnTo>
                  <a:pt x="6339773" y="1527414"/>
                </a:lnTo>
                <a:cubicBezTo>
                  <a:pt x="6334226" y="1566662"/>
                  <a:pt x="6321052" y="1604564"/>
                  <a:pt x="6321854" y="1635366"/>
                </a:cubicBezTo>
                <a:cubicBezTo>
                  <a:pt x="6320655" y="1701187"/>
                  <a:pt x="6292278" y="1721205"/>
                  <a:pt x="6299489" y="1784860"/>
                </a:cubicBezTo>
                <a:cubicBezTo>
                  <a:pt x="6294212" y="1831400"/>
                  <a:pt x="6277478" y="1829559"/>
                  <a:pt x="6267878" y="1858572"/>
                </a:cubicBezTo>
                <a:lnTo>
                  <a:pt x="6251146" y="1926167"/>
                </a:lnTo>
                <a:lnTo>
                  <a:pt x="6210686" y="2014834"/>
                </a:lnTo>
                <a:lnTo>
                  <a:pt x="6106652" y="2150572"/>
                </a:lnTo>
                <a:lnTo>
                  <a:pt x="6097813" y="2172208"/>
                </a:lnTo>
                <a:lnTo>
                  <a:pt x="6095990" y="2181185"/>
                </a:lnTo>
                <a:cubicBezTo>
                  <a:pt x="6094176" y="2187056"/>
                  <a:pt x="6092249" y="2190556"/>
                  <a:pt x="6090126" y="2192533"/>
                </a:cubicBezTo>
                <a:lnTo>
                  <a:pt x="6089503" y="2192543"/>
                </a:lnTo>
                <a:lnTo>
                  <a:pt x="6084946" y="2203694"/>
                </a:lnTo>
                <a:cubicBezTo>
                  <a:pt x="6068006" y="2222414"/>
                  <a:pt x="6006445" y="2274546"/>
                  <a:pt x="5987861" y="2304868"/>
                </a:cubicBezTo>
                <a:lnTo>
                  <a:pt x="5973439" y="2385635"/>
                </a:lnTo>
                <a:lnTo>
                  <a:pt x="5916727" y="2458777"/>
                </a:lnTo>
                <a:cubicBezTo>
                  <a:pt x="5897241" y="2491718"/>
                  <a:pt x="5869630" y="2534165"/>
                  <a:pt x="5856524" y="2583281"/>
                </a:cubicBezTo>
                <a:cubicBezTo>
                  <a:pt x="5857506" y="2592319"/>
                  <a:pt x="5833326" y="2744711"/>
                  <a:pt x="5838091" y="2753474"/>
                </a:cubicBezTo>
                <a:cubicBezTo>
                  <a:pt x="5785248" y="2871502"/>
                  <a:pt x="5778642" y="2803565"/>
                  <a:pt x="5744296" y="2893276"/>
                </a:cubicBezTo>
                <a:cubicBezTo>
                  <a:pt x="5695297" y="2988328"/>
                  <a:pt x="5724634" y="2958553"/>
                  <a:pt x="5682522" y="3044368"/>
                </a:cubicBezTo>
                <a:cubicBezTo>
                  <a:pt x="5632185" y="3125072"/>
                  <a:pt x="5597317" y="3217236"/>
                  <a:pt x="5557886" y="3304853"/>
                </a:cubicBezTo>
                <a:cubicBezTo>
                  <a:pt x="5482395" y="3325072"/>
                  <a:pt x="5519234" y="3371478"/>
                  <a:pt x="5483942" y="3416604"/>
                </a:cubicBezTo>
                <a:cubicBezTo>
                  <a:pt x="5462927" y="3437263"/>
                  <a:pt x="5484515" y="3475608"/>
                  <a:pt x="5461007" y="3503742"/>
                </a:cubicBezTo>
                <a:cubicBezTo>
                  <a:pt x="5452964" y="3510933"/>
                  <a:pt x="5447709" y="3554203"/>
                  <a:pt x="5437889" y="3559927"/>
                </a:cubicBezTo>
                <a:lnTo>
                  <a:pt x="5432770" y="3562948"/>
                </a:lnTo>
                <a:lnTo>
                  <a:pt x="5406795" y="3578594"/>
                </a:lnTo>
                <a:lnTo>
                  <a:pt x="5381495" y="3599883"/>
                </a:lnTo>
                <a:cubicBezTo>
                  <a:pt x="5373777" y="3608845"/>
                  <a:pt x="5367528" y="3619642"/>
                  <a:pt x="5363689" y="3633299"/>
                </a:cubicBezTo>
                <a:cubicBezTo>
                  <a:pt x="5370837" y="3689178"/>
                  <a:pt x="5280250" y="3728687"/>
                  <a:pt x="5291870" y="3799039"/>
                </a:cubicBezTo>
                <a:cubicBezTo>
                  <a:pt x="5291660" y="3823262"/>
                  <a:pt x="5263601" y="3888134"/>
                  <a:pt x="5241600" y="3894238"/>
                </a:cubicBezTo>
                <a:cubicBezTo>
                  <a:pt x="5232312" y="3906493"/>
                  <a:pt x="5231731" y="3924583"/>
                  <a:pt x="5211041" y="3924184"/>
                </a:cubicBezTo>
                <a:cubicBezTo>
                  <a:pt x="5184976" y="3926521"/>
                  <a:pt x="5198956" y="3986438"/>
                  <a:pt x="5176073" y="3970179"/>
                </a:cubicBezTo>
                <a:lnTo>
                  <a:pt x="5172826" y="3991773"/>
                </a:lnTo>
                <a:lnTo>
                  <a:pt x="5157053" y="3997708"/>
                </a:lnTo>
                <a:cubicBezTo>
                  <a:pt x="5140589" y="4003541"/>
                  <a:pt x="5128715" y="4008828"/>
                  <a:pt x="5127922" y="4022660"/>
                </a:cubicBezTo>
                <a:cubicBezTo>
                  <a:pt x="5105225" y="4035701"/>
                  <a:pt x="5043623" y="4065128"/>
                  <a:pt x="5020872" y="4075951"/>
                </a:cubicBezTo>
                <a:cubicBezTo>
                  <a:pt x="5006705" y="4069570"/>
                  <a:pt x="5001251" y="4081880"/>
                  <a:pt x="4991410" y="4087598"/>
                </a:cubicBezTo>
                <a:cubicBezTo>
                  <a:pt x="4974522" y="4085320"/>
                  <a:pt x="4937025" y="4121806"/>
                  <a:pt x="4930112" y="4138459"/>
                </a:cubicBezTo>
                <a:cubicBezTo>
                  <a:pt x="4918473" y="4190437"/>
                  <a:pt x="4844909" y="4190974"/>
                  <a:pt x="4834224" y="4231643"/>
                </a:cubicBezTo>
                <a:cubicBezTo>
                  <a:pt x="4827758" y="4239937"/>
                  <a:pt x="4820427" y="4245543"/>
                  <a:pt x="4812599" y="4249449"/>
                </a:cubicBezTo>
                <a:lnTo>
                  <a:pt x="4789188" y="4256678"/>
                </a:lnTo>
                <a:lnTo>
                  <a:pt x="4779554" y="4251313"/>
                </a:lnTo>
                <a:lnTo>
                  <a:pt x="4766885" y="4259812"/>
                </a:lnTo>
                <a:lnTo>
                  <a:pt x="4762510" y="4260383"/>
                </a:lnTo>
                <a:cubicBezTo>
                  <a:pt x="4754131" y="4261437"/>
                  <a:pt x="4745977" y="4262766"/>
                  <a:pt x="4738416" y="4265355"/>
                </a:cubicBezTo>
                <a:cubicBezTo>
                  <a:pt x="4764694" y="4302719"/>
                  <a:pt x="4678447" y="4293536"/>
                  <a:pt x="4712007" y="4317892"/>
                </a:cubicBezTo>
                <a:cubicBezTo>
                  <a:pt x="4675039" y="4338619"/>
                  <a:pt x="4716682" y="4356361"/>
                  <a:pt x="4658930" y="4348041"/>
                </a:cubicBezTo>
                <a:cubicBezTo>
                  <a:pt x="4614182" y="4379702"/>
                  <a:pt x="4505053" y="4447283"/>
                  <a:pt x="4443526" y="4507851"/>
                </a:cubicBezTo>
                <a:cubicBezTo>
                  <a:pt x="4410144" y="4540439"/>
                  <a:pt x="4338540" y="4659677"/>
                  <a:pt x="4289766" y="4711450"/>
                </a:cubicBezTo>
                <a:cubicBezTo>
                  <a:pt x="4238344" y="4747694"/>
                  <a:pt x="4215457" y="4807131"/>
                  <a:pt x="4150870" y="4818480"/>
                </a:cubicBezTo>
                <a:cubicBezTo>
                  <a:pt x="4103683" y="4855538"/>
                  <a:pt x="4148748" y="4891762"/>
                  <a:pt x="4006639" y="4933815"/>
                </a:cubicBezTo>
                <a:cubicBezTo>
                  <a:pt x="3736045" y="4990755"/>
                  <a:pt x="3474704" y="5040115"/>
                  <a:pt x="3298210" y="5070790"/>
                </a:cubicBezTo>
                <a:cubicBezTo>
                  <a:pt x="3121717" y="5101466"/>
                  <a:pt x="3041810" y="5115566"/>
                  <a:pt x="2947678" y="5117869"/>
                </a:cubicBezTo>
                <a:cubicBezTo>
                  <a:pt x="2853544" y="5120174"/>
                  <a:pt x="2858560" y="5135060"/>
                  <a:pt x="2822169" y="5129396"/>
                </a:cubicBezTo>
                <a:lnTo>
                  <a:pt x="2538773" y="5313397"/>
                </a:lnTo>
                <a:cubicBezTo>
                  <a:pt x="2405817" y="5334661"/>
                  <a:pt x="2144167" y="5431620"/>
                  <a:pt x="2014500" y="5519744"/>
                </a:cubicBezTo>
                <a:cubicBezTo>
                  <a:pt x="1982084" y="5541774"/>
                  <a:pt x="1956346" y="5565847"/>
                  <a:pt x="1934391" y="5591335"/>
                </a:cubicBezTo>
                <a:lnTo>
                  <a:pt x="1892550" y="5649708"/>
                </a:lnTo>
                <a:lnTo>
                  <a:pt x="1854769" y="5647691"/>
                </a:lnTo>
                <a:cubicBezTo>
                  <a:pt x="1838936" y="5647705"/>
                  <a:pt x="1823701" y="5648312"/>
                  <a:pt x="1809461" y="5648628"/>
                </a:cubicBezTo>
                <a:cubicBezTo>
                  <a:pt x="1834147" y="5698228"/>
                  <a:pt x="1737274" y="5633540"/>
                  <a:pt x="1745150" y="5693879"/>
                </a:cubicBezTo>
                <a:cubicBezTo>
                  <a:pt x="1734532" y="5692199"/>
                  <a:pt x="1724002" y="5688669"/>
                  <a:pt x="1713375" y="5684672"/>
                </a:cubicBezTo>
                <a:lnTo>
                  <a:pt x="1707808" y="5682611"/>
                </a:lnTo>
                <a:lnTo>
                  <a:pt x="1679313" y="5672360"/>
                </a:lnTo>
                <a:lnTo>
                  <a:pt x="1646933" y="5666227"/>
                </a:lnTo>
                <a:cubicBezTo>
                  <a:pt x="1635170" y="5665926"/>
                  <a:pt x="1622939" y="5667937"/>
                  <a:pt x="1610055" y="5673643"/>
                </a:cubicBezTo>
                <a:cubicBezTo>
                  <a:pt x="1571890" y="5714775"/>
                  <a:pt x="1484024" y="5669440"/>
                  <a:pt x="1437641" y="5723266"/>
                </a:cubicBezTo>
                <a:cubicBezTo>
                  <a:pt x="1418992" y="5738521"/>
                  <a:pt x="1351540" y="5757985"/>
                  <a:pt x="1332869" y="5744752"/>
                </a:cubicBezTo>
                <a:cubicBezTo>
                  <a:pt x="1317589" y="5745326"/>
                  <a:pt x="1303391" y="5756388"/>
                  <a:pt x="1290525" y="5740036"/>
                </a:cubicBezTo>
                <a:cubicBezTo>
                  <a:pt x="1272146" y="5721242"/>
                  <a:pt x="1235243" y="5770261"/>
                  <a:pt x="1233107" y="5742106"/>
                </a:cubicBezTo>
                <a:lnTo>
                  <a:pt x="1214532" y="5753325"/>
                </a:lnTo>
                <a:lnTo>
                  <a:pt x="1199955" y="5744831"/>
                </a:lnTo>
                <a:cubicBezTo>
                  <a:pt x="1185016" y="5735734"/>
                  <a:pt x="1173414" y="5729861"/>
                  <a:pt x="1162337" y="5738048"/>
                </a:cubicBezTo>
                <a:cubicBezTo>
                  <a:pt x="1137920" y="5728689"/>
                  <a:pt x="1076212" y="5699490"/>
                  <a:pt x="1053457" y="5688676"/>
                </a:cubicBezTo>
                <a:cubicBezTo>
                  <a:pt x="1049315" y="5673592"/>
                  <a:pt x="1036434" y="5677184"/>
                  <a:pt x="1025798" y="5673166"/>
                </a:cubicBezTo>
                <a:cubicBezTo>
                  <a:pt x="1016787" y="5658576"/>
                  <a:pt x="965030" y="5652626"/>
                  <a:pt x="947900" y="5657848"/>
                </a:cubicBezTo>
                <a:cubicBezTo>
                  <a:pt x="900757" y="5681878"/>
                  <a:pt x="853518" y="5624981"/>
                  <a:pt x="815627" y="5642557"/>
                </a:cubicBezTo>
                <a:cubicBezTo>
                  <a:pt x="805172" y="5642805"/>
                  <a:pt x="796221" y="5640669"/>
                  <a:pt x="788251" y="5637065"/>
                </a:cubicBezTo>
                <a:lnTo>
                  <a:pt x="767822" y="5623450"/>
                </a:lnTo>
                <a:lnTo>
                  <a:pt x="765791" y="5612539"/>
                </a:lnTo>
                <a:lnTo>
                  <a:pt x="751230" y="5608092"/>
                </a:lnTo>
                <a:lnTo>
                  <a:pt x="748008" y="5605052"/>
                </a:lnTo>
                <a:cubicBezTo>
                  <a:pt x="741868" y="5599203"/>
                  <a:pt x="735661" y="5593704"/>
                  <a:pt x="728871" y="5589469"/>
                </a:cubicBezTo>
                <a:cubicBezTo>
                  <a:pt x="717035" y="5633700"/>
                  <a:pt x="669153" y="5560747"/>
                  <a:pt x="671898" y="5602363"/>
                </a:cubicBezTo>
                <a:cubicBezTo>
                  <a:pt x="632522" y="5586794"/>
                  <a:pt x="645467" y="5630489"/>
                  <a:pt x="615065" y="5580257"/>
                </a:cubicBezTo>
                <a:cubicBezTo>
                  <a:pt x="562379" y="5565593"/>
                  <a:pt x="441250" y="5523701"/>
                  <a:pt x="355785" y="5514383"/>
                </a:cubicBezTo>
                <a:cubicBezTo>
                  <a:pt x="309622" y="5509152"/>
                  <a:pt x="172894" y="5529342"/>
                  <a:pt x="102269" y="5524347"/>
                </a:cubicBezTo>
                <a:cubicBezTo>
                  <a:pt x="72050" y="5515878"/>
                  <a:pt x="41939" y="5516649"/>
                  <a:pt x="13160" y="5514159"/>
                </a:cubicBezTo>
                <a:lnTo>
                  <a:pt x="0" y="551173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9BEEC68-DB7F-74E2-CF24-80C0D9832AFE}"/>
              </a:ext>
            </a:extLst>
          </p:cNvPr>
          <p:cNvSpPr>
            <a:spLocks noGrp="1"/>
          </p:cNvSpPr>
          <p:nvPr>
            <p:ph type="title"/>
          </p:nvPr>
        </p:nvSpPr>
        <p:spPr>
          <a:xfrm>
            <a:off x="52952" y="39627"/>
            <a:ext cx="6997700" cy="721225"/>
          </a:xfrm>
        </p:spPr>
        <p:txBody>
          <a:bodyPr anchor="b">
            <a:normAutofit fontScale="90000"/>
          </a:bodyPr>
          <a:lstStyle/>
          <a:p>
            <a:r>
              <a:rPr lang="en-US" dirty="0"/>
              <a:t>Correlation &amp; Key Factor Analysis</a:t>
            </a:r>
          </a:p>
        </p:txBody>
      </p:sp>
      <p:sp>
        <p:nvSpPr>
          <p:cNvPr id="16" name="Freeform: Shape 15">
            <a:extLst>
              <a:ext uri="{FF2B5EF4-FFF2-40B4-BE49-F238E27FC236}">
                <a16:creationId xmlns:a16="http://schemas.microsoft.com/office/drawing/2014/main" id="{CF93DC6C-1BFD-4414-BF23-471C8831C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664" y="3440576"/>
            <a:ext cx="4114800" cy="2675059"/>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2F2F2"/>
          </a:solidFill>
          <a:ln>
            <a:noFill/>
          </a:ln>
          <a:effectLst>
            <a:outerShdw blurRad="254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Rectangle 6">
            <a:extLst>
              <a:ext uri="{FF2B5EF4-FFF2-40B4-BE49-F238E27FC236}">
                <a16:creationId xmlns:a16="http://schemas.microsoft.com/office/drawing/2014/main" id="{001928A5-13A8-4372-8A77-BCAAE5553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4189" y="5904203"/>
            <a:ext cx="1201506" cy="36512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lnTo>
                  <a:pt x="2164992" y="12386"/>
                </a:lnTo>
                <a:cubicBezTo>
                  <a:pt x="2164717" y="43049"/>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50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CE32CB0-510F-CB56-8FEA-A270C96C87B8}"/>
              </a:ext>
            </a:extLst>
          </p:cNvPr>
          <p:cNvSpPr>
            <a:spLocks noGrp="1"/>
          </p:cNvSpPr>
          <p:nvPr>
            <p:ph idx="1"/>
          </p:nvPr>
        </p:nvSpPr>
        <p:spPr>
          <a:xfrm>
            <a:off x="6124470" y="916898"/>
            <a:ext cx="6043048" cy="5630360"/>
          </a:xfrm>
        </p:spPr>
        <p:txBody>
          <a:bodyPr anchor="ctr">
            <a:noAutofit/>
          </a:bodyPr>
          <a:lstStyle/>
          <a:p>
            <a:pPr marL="0" indent="0">
              <a:buNone/>
            </a:pPr>
            <a:endParaRPr lang="en-GB" sz="1400" dirty="0"/>
          </a:p>
          <a:p>
            <a:pPr marL="0" indent="0">
              <a:buNone/>
            </a:pPr>
            <a:r>
              <a:rPr lang="en-GB" sz="1400" dirty="0"/>
              <a:t>Correlation analysis was performed to understand relationships between variables and identify key features influencing song popularity.</a:t>
            </a:r>
          </a:p>
          <a:p>
            <a:pPr marL="0" indent="0">
              <a:buNone/>
            </a:pPr>
            <a:r>
              <a:rPr lang="en-GB" sz="1400" b="1" dirty="0"/>
              <a:t>Key Findings:</a:t>
            </a:r>
          </a:p>
          <a:p>
            <a:pPr marL="0" indent="0">
              <a:buNone/>
            </a:pPr>
            <a:r>
              <a:rPr lang="en-GB" sz="1400" dirty="0"/>
              <a:t>• Playlist-related features show strong positive correlation with streams</a:t>
            </a:r>
          </a:p>
          <a:p>
            <a:pPr marL="0" indent="0">
              <a:buNone/>
            </a:pPr>
            <a:r>
              <a:rPr lang="en-GB" sz="1400" dirty="0"/>
              <a:t>• Chart presence also contributes to popularity</a:t>
            </a:r>
          </a:p>
          <a:p>
            <a:pPr marL="0" indent="0">
              <a:buNone/>
            </a:pPr>
            <a:r>
              <a:rPr lang="en-GB" sz="1400" dirty="0"/>
              <a:t>• Audio features (danceability, energy, etc.) show weak correlation with streams</a:t>
            </a:r>
          </a:p>
          <a:p>
            <a:pPr marL="0" indent="0">
              <a:buNone/>
            </a:pPr>
            <a:endParaRPr lang="en-GB" sz="1400" dirty="0"/>
          </a:p>
          <a:p>
            <a:pPr marL="0" indent="0">
              <a:buNone/>
            </a:pPr>
            <a:r>
              <a:rPr lang="en-GB" sz="1400" b="1" dirty="0"/>
              <a:t>Feature Selection Approach:</a:t>
            </a:r>
          </a:p>
          <a:p>
            <a:pPr marL="0" indent="0">
              <a:buNone/>
            </a:pPr>
            <a:r>
              <a:rPr lang="en-GB" sz="1400" dirty="0"/>
              <a:t>• Selected features based on correlation strength and domain understanding</a:t>
            </a:r>
          </a:p>
          <a:p>
            <a:pPr marL="0" indent="0">
              <a:buNone/>
            </a:pPr>
            <a:r>
              <a:rPr lang="en-GB" sz="1400" dirty="0"/>
              <a:t>• Prioritized features with higher impact on popularity</a:t>
            </a:r>
          </a:p>
          <a:p>
            <a:pPr marL="0" indent="0">
              <a:buNone/>
            </a:pPr>
            <a:r>
              <a:rPr lang="en-GB" sz="1400" dirty="0"/>
              <a:t>• Removed less relevant or weakly correlated variables</a:t>
            </a:r>
          </a:p>
          <a:p>
            <a:pPr marL="0" indent="0">
              <a:buNone/>
            </a:pPr>
            <a:endParaRPr lang="en-GB" sz="1400" dirty="0"/>
          </a:p>
          <a:p>
            <a:pPr marL="0" indent="0">
              <a:buNone/>
            </a:pPr>
            <a:r>
              <a:rPr lang="en-GB" sz="1400" b="1" dirty="0"/>
              <a:t>Selected Features for Model:</a:t>
            </a:r>
          </a:p>
          <a:p>
            <a:pPr marL="0" indent="0">
              <a:buNone/>
            </a:pPr>
            <a:r>
              <a:rPr lang="en-GB" sz="1400" dirty="0"/>
              <a:t>• </a:t>
            </a:r>
            <a:r>
              <a:rPr lang="en-GB" sz="1400" dirty="0" err="1"/>
              <a:t>in_spotify_playlists</a:t>
            </a:r>
            <a:endParaRPr lang="en-GB" sz="1400" dirty="0"/>
          </a:p>
          <a:p>
            <a:pPr marL="0" indent="0">
              <a:buNone/>
            </a:pPr>
            <a:r>
              <a:rPr lang="en-GB" sz="1400" dirty="0"/>
              <a:t>• </a:t>
            </a:r>
            <a:r>
              <a:rPr lang="en-GB" sz="1400" dirty="0" err="1"/>
              <a:t>in_apple_playlists</a:t>
            </a:r>
            <a:endParaRPr lang="en-GB" sz="1400" dirty="0"/>
          </a:p>
          <a:p>
            <a:pPr marL="0" indent="0">
              <a:buNone/>
            </a:pPr>
            <a:r>
              <a:rPr lang="en-GB" sz="1400" dirty="0"/>
              <a:t>• </a:t>
            </a:r>
            <a:r>
              <a:rPr lang="en-GB" sz="1400" dirty="0" err="1"/>
              <a:t>in_deezer_playlists</a:t>
            </a:r>
            <a:endParaRPr lang="en-GB" sz="1400" dirty="0"/>
          </a:p>
          <a:p>
            <a:pPr marL="0" indent="0">
              <a:buNone/>
            </a:pPr>
            <a:r>
              <a:rPr lang="en-GB" sz="1400" dirty="0"/>
              <a:t>• </a:t>
            </a:r>
            <a:r>
              <a:rPr lang="en-GB" sz="1400" dirty="0" err="1"/>
              <a:t>in_spotify_charts</a:t>
            </a:r>
            <a:endParaRPr lang="en-GB" sz="1400" dirty="0"/>
          </a:p>
          <a:p>
            <a:pPr marL="0" indent="0">
              <a:buNone/>
            </a:pPr>
            <a:endParaRPr lang="en-US" sz="1400" dirty="0"/>
          </a:p>
        </p:txBody>
      </p:sp>
      <p:pic>
        <p:nvPicPr>
          <p:cNvPr id="9" name="Picture 8">
            <a:extLst>
              <a:ext uri="{FF2B5EF4-FFF2-40B4-BE49-F238E27FC236}">
                <a16:creationId xmlns:a16="http://schemas.microsoft.com/office/drawing/2014/main" id="{F7F4C829-3FBD-E7FC-3D17-BA4B5CF27DEF}"/>
              </a:ext>
            </a:extLst>
          </p:cNvPr>
          <p:cNvPicPr>
            <a:picLocks noChangeAspect="1"/>
          </p:cNvPicPr>
          <p:nvPr/>
        </p:nvPicPr>
        <p:blipFill>
          <a:blip r:embed="rId2"/>
          <a:stretch>
            <a:fillRect/>
          </a:stretch>
        </p:blipFill>
        <p:spPr>
          <a:xfrm>
            <a:off x="52952" y="1040695"/>
            <a:ext cx="5900383" cy="5796165"/>
          </a:xfrm>
          <a:prstGeom prst="rect">
            <a:avLst/>
          </a:prstGeom>
        </p:spPr>
      </p:pic>
      <p:sp>
        <p:nvSpPr>
          <p:cNvPr id="10" name="TextBox 9">
            <a:extLst>
              <a:ext uri="{FF2B5EF4-FFF2-40B4-BE49-F238E27FC236}">
                <a16:creationId xmlns:a16="http://schemas.microsoft.com/office/drawing/2014/main" id="{E6004BB0-4BCC-09BB-6276-C4CBBE7D9533}"/>
              </a:ext>
            </a:extLst>
          </p:cNvPr>
          <p:cNvSpPr txBox="1"/>
          <p:nvPr/>
        </p:nvSpPr>
        <p:spPr>
          <a:xfrm>
            <a:off x="8315627" y="5277236"/>
            <a:ext cx="1938187" cy="1253933"/>
          </a:xfrm>
          <a:prstGeom prst="rect">
            <a:avLst/>
          </a:prstGeom>
          <a:noFill/>
        </p:spPr>
        <p:txBody>
          <a:bodyPr wrap="square" rtlCol="0">
            <a:spAutoFit/>
          </a:bodyPr>
          <a:lstStyle/>
          <a:p>
            <a:pPr>
              <a:lnSpc>
                <a:spcPct val="90000"/>
              </a:lnSpc>
              <a:spcBef>
                <a:spcPts val="1000"/>
              </a:spcBef>
            </a:pPr>
            <a:r>
              <a:rPr lang="en-GB" sz="1400" dirty="0"/>
              <a:t>• </a:t>
            </a:r>
            <a:r>
              <a:rPr lang="en-GB" sz="1400" dirty="0" err="1"/>
              <a:t>in_apple_charts</a:t>
            </a:r>
            <a:endParaRPr lang="en-GB" sz="1400" dirty="0"/>
          </a:p>
          <a:p>
            <a:pPr>
              <a:lnSpc>
                <a:spcPct val="90000"/>
              </a:lnSpc>
              <a:spcBef>
                <a:spcPts val="1000"/>
              </a:spcBef>
            </a:pPr>
            <a:r>
              <a:rPr lang="en-GB" sz="1400" dirty="0"/>
              <a:t>• </a:t>
            </a:r>
            <a:r>
              <a:rPr lang="en-GB" sz="1400" dirty="0" err="1"/>
              <a:t>in_deezer_charts</a:t>
            </a:r>
            <a:endParaRPr lang="en-GB" sz="1400" dirty="0"/>
          </a:p>
          <a:p>
            <a:pPr>
              <a:lnSpc>
                <a:spcPct val="90000"/>
              </a:lnSpc>
              <a:spcBef>
                <a:spcPts val="1000"/>
              </a:spcBef>
            </a:pPr>
            <a:r>
              <a:rPr lang="en-GB" sz="1400" dirty="0"/>
              <a:t>• </a:t>
            </a:r>
            <a:r>
              <a:rPr lang="en-GB" sz="1400" dirty="0" err="1"/>
              <a:t>in_shazam_charts</a:t>
            </a:r>
            <a:endParaRPr lang="en-GB" sz="1400" dirty="0"/>
          </a:p>
          <a:p>
            <a:pPr>
              <a:lnSpc>
                <a:spcPct val="90000"/>
              </a:lnSpc>
              <a:spcBef>
                <a:spcPts val="1000"/>
              </a:spcBef>
            </a:pPr>
            <a:r>
              <a:rPr lang="en-GB" sz="1400" dirty="0"/>
              <a:t>• danceability_%</a:t>
            </a:r>
          </a:p>
        </p:txBody>
      </p:sp>
      <p:sp>
        <p:nvSpPr>
          <p:cNvPr id="11" name="TextBox 10">
            <a:extLst>
              <a:ext uri="{FF2B5EF4-FFF2-40B4-BE49-F238E27FC236}">
                <a16:creationId xmlns:a16="http://schemas.microsoft.com/office/drawing/2014/main" id="{E4953792-8F02-E7A0-B75C-66BFD1F4D987}"/>
              </a:ext>
            </a:extLst>
          </p:cNvPr>
          <p:cNvSpPr txBox="1"/>
          <p:nvPr/>
        </p:nvSpPr>
        <p:spPr>
          <a:xfrm>
            <a:off x="10424949" y="5278717"/>
            <a:ext cx="1938186" cy="823815"/>
          </a:xfrm>
          <a:prstGeom prst="rect">
            <a:avLst/>
          </a:prstGeom>
          <a:noFill/>
        </p:spPr>
        <p:txBody>
          <a:bodyPr wrap="square" rtlCol="0">
            <a:spAutoFit/>
          </a:bodyPr>
          <a:lstStyle/>
          <a:p>
            <a:pPr>
              <a:lnSpc>
                <a:spcPct val="90000"/>
              </a:lnSpc>
              <a:spcBef>
                <a:spcPts val="1000"/>
              </a:spcBef>
            </a:pPr>
            <a:r>
              <a:rPr lang="en-GB" sz="1400" dirty="0"/>
              <a:t>• energy_%</a:t>
            </a:r>
          </a:p>
          <a:p>
            <a:pPr>
              <a:lnSpc>
                <a:spcPct val="90000"/>
              </a:lnSpc>
              <a:spcBef>
                <a:spcPts val="1000"/>
              </a:spcBef>
            </a:pPr>
            <a:r>
              <a:rPr lang="en-GB" sz="1400" dirty="0"/>
              <a:t>• valence_%</a:t>
            </a:r>
            <a:endParaRPr lang="en-US" sz="1400" dirty="0"/>
          </a:p>
          <a:p>
            <a:endParaRPr lang="en-US" sz="1400" dirty="0"/>
          </a:p>
        </p:txBody>
      </p:sp>
    </p:spTree>
    <p:extLst>
      <p:ext uri="{BB962C8B-B14F-4D97-AF65-F5344CB8AC3E}">
        <p14:creationId xmlns:p14="http://schemas.microsoft.com/office/powerpoint/2010/main" val="3127949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D72812-6815-6C10-F8D6-5A2050567EAD}"/>
              </a:ext>
            </a:extLst>
          </p:cNvPr>
          <p:cNvSpPr>
            <a:spLocks noGrp="1"/>
          </p:cNvSpPr>
          <p:nvPr>
            <p:ph type="title"/>
          </p:nvPr>
        </p:nvSpPr>
        <p:spPr>
          <a:xfrm>
            <a:off x="520700" y="3513931"/>
            <a:ext cx="3460750" cy="2601119"/>
          </a:xfrm>
        </p:spPr>
        <p:txBody>
          <a:bodyPr anchor="t">
            <a:normAutofit/>
          </a:bodyPr>
          <a:lstStyle/>
          <a:p>
            <a:pPr algn="ctr"/>
            <a:r>
              <a:rPr lang="en-US" sz="4000" dirty="0"/>
              <a:t>Data Scaling </a:t>
            </a:r>
            <a:br>
              <a:rPr lang="en-US" sz="4000" dirty="0"/>
            </a:br>
            <a:r>
              <a:rPr lang="en-US" sz="4000" dirty="0"/>
              <a:t>&amp; Model Selection</a:t>
            </a:r>
          </a:p>
        </p:txBody>
      </p:sp>
      <p:pic>
        <p:nvPicPr>
          <p:cNvPr id="13" name="Graphic 12" descr="Treble clef">
            <a:extLst>
              <a:ext uri="{FF2B5EF4-FFF2-40B4-BE49-F238E27FC236}">
                <a16:creationId xmlns:a16="http://schemas.microsoft.com/office/drawing/2014/main" id="{60BC48F9-1D19-51EF-C2F3-5FCFAFE58CB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981200" y="2429670"/>
            <a:ext cx="914400" cy="914400"/>
          </a:xfrm>
          <a:prstGeom prst="rect">
            <a:avLst/>
          </a:prstGeom>
        </p:spPr>
      </p:pic>
      <p:sp>
        <p:nvSpPr>
          <p:cNvPr id="3" name="Content Placeholder 2">
            <a:extLst>
              <a:ext uri="{FF2B5EF4-FFF2-40B4-BE49-F238E27FC236}">
                <a16:creationId xmlns:a16="http://schemas.microsoft.com/office/drawing/2014/main" id="{FFB2FC31-FE20-2C4A-451E-9D3899C03C74}"/>
              </a:ext>
            </a:extLst>
          </p:cNvPr>
          <p:cNvSpPr>
            <a:spLocks noGrp="1"/>
          </p:cNvSpPr>
          <p:nvPr>
            <p:ph idx="1"/>
          </p:nvPr>
        </p:nvSpPr>
        <p:spPr>
          <a:xfrm>
            <a:off x="4518153" y="651669"/>
            <a:ext cx="7153147" cy="5384801"/>
          </a:xfrm>
        </p:spPr>
        <p:txBody>
          <a:bodyPr anchor="ctr">
            <a:normAutofit/>
          </a:bodyPr>
          <a:lstStyle/>
          <a:p>
            <a:pPr marL="0" indent="0">
              <a:buNone/>
            </a:pPr>
            <a:r>
              <a:rPr lang="en-GB" sz="1700" dirty="0"/>
              <a:t>To predict trending songs effectively, the data was scaled and </a:t>
            </a:r>
            <a:r>
              <a:rPr lang="en-GB" sz="1700" b="1" dirty="0"/>
              <a:t>a Random Forest Classifier </a:t>
            </a:r>
            <a:r>
              <a:rPr lang="en-GB" sz="1700" dirty="0"/>
              <a:t>was selected due to its ability to handle non-linear relationships, mixed feature types, and provide robust performance with minimal overfitting.</a:t>
            </a:r>
          </a:p>
          <a:p>
            <a:pPr marL="0" indent="0">
              <a:buNone/>
            </a:pPr>
            <a:endParaRPr lang="en-GB" sz="1700" dirty="0"/>
          </a:p>
          <a:p>
            <a:pPr marL="0" indent="0">
              <a:buNone/>
            </a:pPr>
            <a:r>
              <a:rPr lang="en-GB" sz="1700" dirty="0"/>
              <a:t>Data Scaling:</a:t>
            </a:r>
          </a:p>
          <a:p>
            <a:pPr marL="0" indent="0">
              <a:buNone/>
            </a:pPr>
            <a:r>
              <a:rPr lang="en-GB" sz="1700" dirty="0"/>
              <a:t>• Applied </a:t>
            </a:r>
            <a:r>
              <a:rPr lang="en-GB" sz="1700" b="1" dirty="0"/>
              <a:t>normalization (Standardization) </a:t>
            </a:r>
            <a:r>
              <a:rPr lang="en-GB" sz="1700" dirty="0"/>
              <a:t>on numerical features</a:t>
            </a:r>
          </a:p>
          <a:p>
            <a:pPr marL="0" indent="0">
              <a:buNone/>
            </a:pPr>
            <a:r>
              <a:rPr lang="en-GB" sz="1700" dirty="0"/>
              <a:t>• Ensured all features contribute equally to the model</a:t>
            </a:r>
          </a:p>
          <a:p>
            <a:pPr marL="0" indent="0">
              <a:buNone/>
            </a:pPr>
            <a:r>
              <a:rPr lang="en-GB" sz="1700" dirty="0"/>
              <a:t>• Prevented bias due to differences in feature magnitude</a:t>
            </a:r>
          </a:p>
          <a:p>
            <a:pPr marL="0" indent="0">
              <a:buNone/>
            </a:pPr>
            <a:endParaRPr lang="en-GB" sz="1700" dirty="0"/>
          </a:p>
          <a:p>
            <a:pPr marL="0" indent="0">
              <a:buNone/>
            </a:pPr>
            <a:r>
              <a:rPr lang="en-GB" sz="1700" b="1" dirty="0"/>
              <a:t>Model Selection:</a:t>
            </a:r>
          </a:p>
          <a:p>
            <a:pPr marL="0" indent="0">
              <a:buNone/>
            </a:pPr>
            <a:r>
              <a:rPr lang="en-GB" sz="1700" dirty="0"/>
              <a:t>• Problem Type: </a:t>
            </a:r>
            <a:r>
              <a:rPr lang="en-GB" sz="1700" b="1" dirty="0"/>
              <a:t>Classification (Trending vs Non-Trending)</a:t>
            </a:r>
          </a:p>
          <a:p>
            <a:pPr marL="0" indent="0">
              <a:buNone/>
            </a:pPr>
            <a:r>
              <a:rPr lang="en-GB" sz="1700" dirty="0"/>
              <a:t>• Used </a:t>
            </a:r>
            <a:r>
              <a:rPr lang="en-GB" sz="1700" b="1" dirty="0"/>
              <a:t>Random Forest Classifier </a:t>
            </a:r>
            <a:r>
              <a:rPr lang="en-GB" sz="1700" dirty="0"/>
              <a:t>for model training</a:t>
            </a:r>
          </a:p>
          <a:p>
            <a:pPr marL="0" indent="0">
              <a:buNone/>
            </a:pPr>
            <a:endParaRPr lang="en-GB" sz="1700" dirty="0"/>
          </a:p>
          <a:p>
            <a:pPr marL="0" indent="0">
              <a:buNone/>
            </a:pPr>
            <a:r>
              <a:rPr lang="en-GB" sz="1700" b="1" dirty="0"/>
              <a:t>Outcome:</a:t>
            </a:r>
          </a:p>
          <a:p>
            <a:pPr marL="0" indent="0">
              <a:buNone/>
            </a:pPr>
            <a:r>
              <a:rPr lang="en-GB" sz="1700" dirty="0"/>
              <a:t>• Developed a stable and efficient model pipeline for predicting song trends</a:t>
            </a:r>
          </a:p>
        </p:txBody>
      </p:sp>
    </p:spTree>
    <p:extLst>
      <p:ext uri="{BB962C8B-B14F-4D97-AF65-F5344CB8AC3E}">
        <p14:creationId xmlns:p14="http://schemas.microsoft.com/office/powerpoint/2010/main" val="1118957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BFA31-129F-F076-3A51-FC15FFE55C03}"/>
              </a:ext>
            </a:extLst>
          </p:cNvPr>
          <p:cNvSpPr>
            <a:spLocks noGrp="1"/>
          </p:cNvSpPr>
          <p:nvPr>
            <p:ph type="title"/>
          </p:nvPr>
        </p:nvSpPr>
        <p:spPr>
          <a:xfrm>
            <a:off x="863600" y="0"/>
            <a:ext cx="10033000" cy="838199"/>
          </a:xfrm>
        </p:spPr>
        <p:txBody>
          <a:bodyPr/>
          <a:lstStyle/>
          <a:p>
            <a:r>
              <a:rPr lang="en-US" dirty="0"/>
              <a:t>Model Evaluation &amp; Performance Analysis</a:t>
            </a:r>
          </a:p>
        </p:txBody>
      </p:sp>
      <p:graphicFrame>
        <p:nvGraphicFramePr>
          <p:cNvPr id="10" name="Content Placeholder 2">
            <a:extLst>
              <a:ext uri="{FF2B5EF4-FFF2-40B4-BE49-F238E27FC236}">
                <a16:creationId xmlns:a16="http://schemas.microsoft.com/office/drawing/2014/main" id="{2B3E5938-17D9-ED32-7972-392D301E731A}"/>
              </a:ext>
            </a:extLst>
          </p:cNvPr>
          <p:cNvGraphicFramePr>
            <a:graphicFrameLocks noGrp="1"/>
          </p:cNvGraphicFramePr>
          <p:nvPr>
            <p:ph idx="1"/>
            <p:extLst>
              <p:ext uri="{D42A27DB-BD31-4B8C-83A1-F6EECF244321}">
                <p14:modId xmlns:p14="http://schemas.microsoft.com/office/powerpoint/2010/main" val="3509310753"/>
              </p:ext>
            </p:extLst>
          </p:nvPr>
        </p:nvGraphicFramePr>
        <p:xfrm>
          <a:off x="126999" y="838199"/>
          <a:ext cx="6416327" cy="58547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DE4DABDD-E885-9038-09FF-6196033E5415}"/>
              </a:ext>
            </a:extLst>
          </p:cNvPr>
          <p:cNvSpPr txBox="1"/>
          <p:nvPr/>
        </p:nvSpPr>
        <p:spPr>
          <a:xfrm>
            <a:off x="6880572" y="652964"/>
            <a:ext cx="4610100" cy="3854388"/>
          </a:xfrm>
          <a:prstGeom prst="rect">
            <a:avLst/>
          </a:prstGeom>
          <a:noFill/>
        </p:spPr>
        <p:txBody>
          <a:bodyPr wrap="square" rtlCol="0">
            <a:spAutoFit/>
          </a:bodyPr>
          <a:lstStyle/>
          <a:p>
            <a:pPr>
              <a:lnSpc>
                <a:spcPct val="90000"/>
              </a:lnSpc>
              <a:spcBef>
                <a:spcPts val="1000"/>
              </a:spcBef>
            </a:pPr>
            <a:r>
              <a:rPr lang="en-GB" sz="1400" b="1" dirty="0"/>
              <a:t>ROC Curve Analysis:</a:t>
            </a:r>
          </a:p>
          <a:p>
            <a:pPr>
              <a:lnSpc>
                <a:spcPct val="90000"/>
              </a:lnSpc>
              <a:spcBef>
                <a:spcPts val="1000"/>
              </a:spcBef>
            </a:pPr>
            <a:r>
              <a:rPr lang="en-GB" sz="1400" dirty="0"/>
              <a:t>• ROC curve plotted to assess model’s ability to distinguish between classes</a:t>
            </a:r>
          </a:p>
          <a:p>
            <a:pPr>
              <a:lnSpc>
                <a:spcPct val="90000"/>
              </a:lnSpc>
              <a:spcBef>
                <a:spcPts val="1000"/>
              </a:spcBef>
            </a:pPr>
            <a:r>
              <a:rPr lang="en-GB" sz="1400" dirty="0"/>
              <a:t>• High AUC value indicates strong classification performance</a:t>
            </a:r>
          </a:p>
          <a:p>
            <a:pPr>
              <a:lnSpc>
                <a:spcPct val="90000"/>
              </a:lnSpc>
              <a:spcBef>
                <a:spcPts val="1000"/>
              </a:spcBef>
            </a:pPr>
            <a:r>
              <a:rPr lang="en-GB" sz="1400" b="1" dirty="0"/>
              <a:t>Precision-Recall Curve:</a:t>
            </a:r>
          </a:p>
          <a:p>
            <a:pPr>
              <a:lnSpc>
                <a:spcPct val="90000"/>
              </a:lnSpc>
              <a:spcBef>
                <a:spcPts val="1000"/>
              </a:spcBef>
            </a:pPr>
            <a:r>
              <a:rPr lang="en-GB" sz="1400" dirty="0"/>
              <a:t>• Used to evaluate performance on imbalanced data</a:t>
            </a:r>
          </a:p>
          <a:p>
            <a:pPr>
              <a:lnSpc>
                <a:spcPct val="90000"/>
              </a:lnSpc>
              <a:spcBef>
                <a:spcPts val="1000"/>
              </a:spcBef>
            </a:pPr>
            <a:r>
              <a:rPr lang="en-GB" sz="1400" dirty="0"/>
              <a:t>• Confirms model reliability in identifying trending songs</a:t>
            </a:r>
          </a:p>
          <a:p>
            <a:pPr>
              <a:lnSpc>
                <a:spcPct val="90000"/>
              </a:lnSpc>
              <a:spcBef>
                <a:spcPts val="1000"/>
              </a:spcBef>
            </a:pPr>
            <a:r>
              <a:rPr lang="en-GB" sz="1400" b="1" dirty="0"/>
              <a:t>Final Outcome:</a:t>
            </a:r>
          </a:p>
          <a:p>
            <a:pPr>
              <a:lnSpc>
                <a:spcPct val="90000"/>
              </a:lnSpc>
              <a:spcBef>
                <a:spcPts val="1000"/>
              </a:spcBef>
            </a:pPr>
            <a:r>
              <a:rPr lang="en-GB" sz="1400" dirty="0"/>
              <a:t>• Model successfully predicts probability of a song becoming trending</a:t>
            </a:r>
          </a:p>
          <a:p>
            <a:pPr>
              <a:lnSpc>
                <a:spcPct val="90000"/>
              </a:lnSpc>
              <a:spcBef>
                <a:spcPts val="1000"/>
              </a:spcBef>
            </a:pPr>
            <a:r>
              <a:rPr lang="en-GB" sz="1400" dirty="0"/>
              <a:t>• Provides a data-driven approach for early trend identification</a:t>
            </a:r>
            <a:endParaRPr lang="en-US" sz="1400" dirty="0"/>
          </a:p>
          <a:p>
            <a:endParaRPr lang="en-US" sz="1400" dirty="0"/>
          </a:p>
        </p:txBody>
      </p:sp>
      <p:pic>
        <p:nvPicPr>
          <p:cNvPr id="6" name="Picture 5">
            <a:extLst>
              <a:ext uri="{FF2B5EF4-FFF2-40B4-BE49-F238E27FC236}">
                <a16:creationId xmlns:a16="http://schemas.microsoft.com/office/drawing/2014/main" id="{EDD4B382-6E72-BC61-4F2A-8D0678F31BE0}"/>
              </a:ext>
            </a:extLst>
          </p:cNvPr>
          <p:cNvPicPr>
            <a:picLocks noChangeAspect="1"/>
          </p:cNvPicPr>
          <p:nvPr/>
        </p:nvPicPr>
        <p:blipFill>
          <a:blip r:embed="rId7"/>
          <a:stretch>
            <a:fillRect/>
          </a:stretch>
        </p:blipFill>
        <p:spPr>
          <a:xfrm>
            <a:off x="9467850" y="4013200"/>
            <a:ext cx="2642294" cy="2578100"/>
          </a:xfrm>
          <a:prstGeom prst="rect">
            <a:avLst/>
          </a:prstGeom>
        </p:spPr>
      </p:pic>
      <p:pic>
        <p:nvPicPr>
          <p:cNvPr id="8" name="Picture 7">
            <a:extLst>
              <a:ext uri="{FF2B5EF4-FFF2-40B4-BE49-F238E27FC236}">
                <a16:creationId xmlns:a16="http://schemas.microsoft.com/office/drawing/2014/main" id="{48C15E74-F68A-B990-4221-8530A3F1CB30}"/>
              </a:ext>
            </a:extLst>
          </p:cNvPr>
          <p:cNvPicPr>
            <a:picLocks noChangeAspect="1"/>
          </p:cNvPicPr>
          <p:nvPr/>
        </p:nvPicPr>
        <p:blipFill>
          <a:blip r:embed="rId8"/>
          <a:stretch>
            <a:fillRect/>
          </a:stretch>
        </p:blipFill>
        <p:spPr>
          <a:xfrm>
            <a:off x="6684440" y="4279900"/>
            <a:ext cx="2642295" cy="2578100"/>
          </a:xfrm>
          <a:prstGeom prst="rect">
            <a:avLst/>
          </a:prstGeom>
        </p:spPr>
      </p:pic>
    </p:spTree>
    <p:extLst>
      <p:ext uri="{BB962C8B-B14F-4D97-AF65-F5344CB8AC3E}">
        <p14:creationId xmlns:p14="http://schemas.microsoft.com/office/powerpoint/2010/main" val="3852962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7DB3A90-F362-B0EF-E439-48DA1F681F9B}"/>
              </a:ext>
            </a:extLst>
          </p:cNvPr>
          <p:cNvSpPr>
            <a:spLocks noGrp="1"/>
          </p:cNvSpPr>
          <p:nvPr>
            <p:ph type="title"/>
          </p:nvPr>
        </p:nvSpPr>
        <p:spPr>
          <a:xfrm>
            <a:off x="1594234" y="74376"/>
            <a:ext cx="9392421" cy="844413"/>
          </a:xfrm>
        </p:spPr>
        <p:txBody>
          <a:bodyPr>
            <a:normAutofit/>
          </a:bodyPr>
          <a:lstStyle/>
          <a:p>
            <a:r>
              <a:rPr lang="en-US" dirty="0"/>
              <a:t>Model Evaluation &amp; Performance</a:t>
            </a:r>
          </a:p>
        </p:txBody>
      </p:sp>
      <p:sp>
        <p:nvSpPr>
          <p:cNvPr id="3" name="Content Placeholder 2">
            <a:extLst>
              <a:ext uri="{FF2B5EF4-FFF2-40B4-BE49-F238E27FC236}">
                <a16:creationId xmlns:a16="http://schemas.microsoft.com/office/drawing/2014/main" id="{F85C0E61-7960-762E-3285-BD549ECFBD89}"/>
              </a:ext>
            </a:extLst>
          </p:cNvPr>
          <p:cNvSpPr>
            <a:spLocks noGrp="1"/>
          </p:cNvSpPr>
          <p:nvPr>
            <p:ph idx="1"/>
          </p:nvPr>
        </p:nvSpPr>
        <p:spPr>
          <a:xfrm>
            <a:off x="190500" y="1030916"/>
            <a:ext cx="6400800" cy="5827083"/>
          </a:xfrm>
        </p:spPr>
        <p:txBody>
          <a:bodyPr>
            <a:noAutofit/>
          </a:bodyPr>
          <a:lstStyle/>
          <a:p>
            <a:pPr marL="0" indent="0">
              <a:buNone/>
            </a:pPr>
            <a:r>
              <a:rPr lang="en-GB" sz="1400" dirty="0"/>
              <a:t>To predict trending songs effectively, the data was scaled and a Random Forest Classifier was selected due to its ability to handle non-linear relationships, mixed feature types, and provide robust </a:t>
            </a:r>
            <a:r>
              <a:rPr lang="en-GB" sz="1400" b="1" dirty="0"/>
              <a:t>performance with minimal overfitting.</a:t>
            </a:r>
          </a:p>
          <a:p>
            <a:pPr marL="0" indent="0">
              <a:buNone/>
            </a:pPr>
            <a:r>
              <a:rPr lang="en-GB" sz="1400" b="1" dirty="0"/>
              <a:t>Evaluation Approach:</a:t>
            </a:r>
          </a:p>
          <a:p>
            <a:pPr marL="0" indent="0">
              <a:buNone/>
            </a:pPr>
            <a:r>
              <a:rPr lang="en-GB" sz="1400" dirty="0"/>
              <a:t>• Split data into training and testing sets</a:t>
            </a:r>
          </a:p>
          <a:p>
            <a:pPr marL="0" indent="0">
              <a:buNone/>
            </a:pPr>
            <a:r>
              <a:rPr lang="en-GB" sz="1400" dirty="0"/>
              <a:t>• Evaluated performance on unseen test data</a:t>
            </a:r>
          </a:p>
          <a:p>
            <a:pPr marL="0" indent="0">
              <a:buNone/>
            </a:pPr>
            <a:r>
              <a:rPr lang="en-GB" sz="1400" b="1" dirty="0"/>
              <a:t>Training Accuracy: 100%</a:t>
            </a:r>
          </a:p>
          <a:p>
            <a:pPr marL="0" indent="0">
              <a:buNone/>
            </a:pPr>
            <a:r>
              <a:rPr lang="en-GB" sz="1400" b="1" dirty="0"/>
              <a:t>Testing Accuracy: ~92%</a:t>
            </a:r>
          </a:p>
          <a:p>
            <a:pPr marL="0" indent="0">
              <a:buNone/>
            </a:pPr>
            <a:endParaRPr lang="en-GB" sz="1400" dirty="0"/>
          </a:p>
          <a:p>
            <a:pPr marL="0" indent="0">
              <a:buNone/>
            </a:pPr>
            <a:r>
              <a:rPr lang="en-GB" sz="1400" b="1" dirty="0"/>
              <a:t>Interpretation:</a:t>
            </a:r>
          </a:p>
          <a:p>
            <a:pPr marL="0" indent="0">
              <a:buNone/>
            </a:pPr>
            <a:r>
              <a:rPr lang="en-GB" sz="1400" dirty="0"/>
              <a:t>• High accuracy indicates strong predictive capability</a:t>
            </a:r>
          </a:p>
          <a:p>
            <a:pPr marL="0" indent="0">
              <a:buNone/>
            </a:pPr>
            <a:r>
              <a:rPr lang="en-GB" sz="1400" dirty="0"/>
              <a:t>• Performance gap suggests presence of overfitting</a:t>
            </a:r>
          </a:p>
          <a:p>
            <a:pPr marL="0" indent="0">
              <a:buNone/>
            </a:pPr>
            <a:r>
              <a:rPr lang="en-GB" sz="1400" b="1" dirty="0"/>
              <a:t>Performance Metrics:</a:t>
            </a:r>
          </a:p>
          <a:p>
            <a:pPr marL="0" indent="0">
              <a:buNone/>
            </a:pPr>
            <a:r>
              <a:rPr lang="en-GB" sz="1400" dirty="0"/>
              <a:t>• Precision &amp; Recall used to evaluate classification quality</a:t>
            </a:r>
          </a:p>
          <a:p>
            <a:pPr marL="0" indent="0">
              <a:buNone/>
            </a:pPr>
            <a:r>
              <a:rPr lang="en-GB" sz="1400" dirty="0"/>
              <a:t>• ROC Curve showed strong class separation (high AUC)</a:t>
            </a:r>
          </a:p>
          <a:p>
            <a:pPr marL="0" indent="0">
              <a:buNone/>
            </a:pPr>
            <a:r>
              <a:rPr lang="en-GB" sz="1400" dirty="0"/>
              <a:t>• Precision-Recall curve confirmed effectiveness on imbalanced data</a:t>
            </a:r>
          </a:p>
          <a:p>
            <a:pPr marL="0" indent="0">
              <a:buNone/>
            </a:pPr>
            <a:r>
              <a:rPr lang="en-GB" sz="1400" b="1" dirty="0"/>
              <a:t>Conclusion:</a:t>
            </a:r>
          </a:p>
          <a:p>
            <a:pPr marL="0" indent="0">
              <a:buNone/>
            </a:pPr>
            <a:r>
              <a:rPr lang="en-GB" sz="1400" dirty="0"/>
              <a:t>• Model performs well but requires optimization to improve generalization</a:t>
            </a:r>
            <a:endParaRPr lang="en-US" sz="1400" dirty="0"/>
          </a:p>
        </p:txBody>
      </p:sp>
      <p:pic>
        <p:nvPicPr>
          <p:cNvPr id="7" name="Picture 6">
            <a:extLst>
              <a:ext uri="{FF2B5EF4-FFF2-40B4-BE49-F238E27FC236}">
                <a16:creationId xmlns:a16="http://schemas.microsoft.com/office/drawing/2014/main" id="{EF61D0FE-042F-8A85-E152-A7CB3DAD8053}"/>
              </a:ext>
            </a:extLst>
          </p:cNvPr>
          <p:cNvPicPr>
            <a:picLocks noChangeAspect="1"/>
          </p:cNvPicPr>
          <p:nvPr/>
        </p:nvPicPr>
        <p:blipFill>
          <a:blip r:embed="rId2"/>
          <a:stretch>
            <a:fillRect/>
          </a:stretch>
        </p:blipFill>
        <p:spPr>
          <a:xfrm>
            <a:off x="6337301" y="1765300"/>
            <a:ext cx="5170572" cy="3739271"/>
          </a:xfrm>
          <a:prstGeom prst="rect">
            <a:avLst/>
          </a:prstGeom>
        </p:spPr>
      </p:pic>
      <p:sp>
        <p:nvSpPr>
          <p:cNvPr id="16" name="Freeform: Shape 1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55165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CB962CF-61A3-4EF9-94F6-7C59B03295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DBB9EE-11B8-87FB-C238-AA049372D940}"/>
              </a:ext>
            </a:extLst>
          </p:cNvPr>
          <p:cNvSpPr>
            <a:spLocks noGrp="1"/>
          </p:cNvSpPr>
          <p:nvPr>
            <p:ph type="title"/>
          </p:nvPr>
        </p:nvSpPr>
        <p:spPr>
          <a:xfrm>
            <a:off x="1079501" y="215900"/>
            <a:ext cx="4394200" cy="1005763"/>
          </a:xfrm>
        </p:spPr>
        <p:txBody>
          <a:bodyPr>
            <a:normAutofit/>
          </a:bodyPr>
          <a:lstStyle/>
          <a:p>
            <a:r>
              <a:rPr lang="en-US" sz="4000" dirty="0"/>
              <a:t>Model Optimization</a:t>
            </a:r>
          </a:p>
        </p:txBody>
      </p:sp>
      <p:sp>
        <p:nvSpPr>
          <p:cNvPr id="3" name="Content Placeholder 2">
            <a:extLst>
              <a:ext uri="{FF2B5EF4-FFF2-40B4-BE49-F238E27FC236}">
                <a16:creationId xmlns:a16="http://schemas.microsoft.com/office/drawing/2014/main" id="{98FEA9CE-4148-E52F-9E44-DBDEBDE8E14C}"/>
              </a:ext>
            </a:extLst>
          </p:cNvPr>
          <p:cNvSpPr>
            <a:spLocks noGrp="1"/>
          </p:cNvSpPr>
          <p:nvPr>
            <p:ph idx="1"/>
          </p:nvPr>
        </p:nvSpPr>
        <p:spPr>
          <a:xfrm>
            <a:off x="198822" y="1562100"/>
            <a:ext cx="7436784" cy="5080000"/>
          </a:xfrm>
        </p:spPr>
        <p:txBody>
          <a:bodyPr>
            <a:noAutofit/>
          </a:bodyPr>
          <a:lstStyle/>
          <a:p>
            <a:pPr marL="0" indent="0">
              <a:buNone/>
            </a:pPr>
            <a:r>
              <a:rPr lang="en-GB" sz="1500" dirty="0"/>
              <a:t>To address overfitting, hyperparameter tuning was applied to the Random Forest model to improve generalization. It reduce model complexity and prevent memorization of training data.</a:t>
            </a:r>
          </a:p>
          <a:p>
            <a:pPr marL="0" indent="0">
              <a:buNone/>
            </a:pPr>
            <a:r>
              <a:rPr lang="en-GB" sz="1500" b="1" dirty="0"/>
              <a:t>Approach:</a:t>
            </a:r>
          </a:p>
          <a:p>
            <a:pPr marL="0" indent="0">
              <a:buNone/>
            </a:pPr>
            <a:r>
              <a:rPr lang="en-GB" sz="1500" dirty="0"/>
              <a:t>• Adjusted key Random Forest parameters:</a:t>
            </a:r>
          </a:p>
          <a:p>
            <a:pPr marL="0" indent="0">
              <a:buNone/>
            </a:pPr>
            <a:r>
              <a:rPr lang="en-GB" sz="1500" dirty="0"/>
              <a:t>   </a:t>
            </a:r>
            <a:r>
              <a:rPr lang="en-GB" sz="1500" b="1" dirty="0"/>
              <a:t>- </a:t>
            </a:r>
            <a:r>
              <a:rPr lang="en-GB" sz="1500" b="1" dirty="0" err="1"/>
              <a:t>max_depth</a:t>
            </a:r>
            <a:r>
              <a:rPr lang="en-GB" sz="1500" b="1" dirty="0"/>
              <a:t> </a:t>
            </a:r>
            <a:r>
              <a:rPr lang="en-GB" sz="1500" dirty="0"/>
              <a:t>- (to limit tree complexity)</a:t>
            </a:r>
          </a:p>
          <a:p>
            <a:pPr marL="0" indent="0">
              <a:buNone/>
            </a:pPr>
            <a:r>
              <a:rPr lang="en-GB" sz="1500" dirty="0"/>
              <a:t>   - </a:t>
            </a:r>
            <a:r>
              <a:rPr lang="en-GB" sz="1500" b="1" dirty="0" err="1"/>
              <a:t>min_samples_split</a:t>
            </a:r>
            <a:r>
              <a:rPr lang="en-GB" sz="1500" b="1" dirty="0"/>
              <a:t>-  </a:t>
            </a:r>
            <a:r>
              <a:rPr lang="en-GB" sz="1500" dirty="0"/>
              <a:t>(to control node splitting)</a:t>
            </a:r>
          </a:p>
          <a:p>
            <a:pPr marL="0" indent="0">
              <a:buNone/>
            </a:pPr>
            <a:r>
              <a:rPr lang="en-GB" sz="1500" dirty="0"/>
              <a:t>   - </a:t>
            </a:r>
            <a:r>
              <a:rPr lang="en-GB" sz="1500" b="1" dirty="0" err="1"/>
              <a:t>min_samples_leaf</a:t>
            </a:r>
            <a:r>
              <a:rPr lang="en-GB" sz="1500" b="1" dirty="0"/>
              <a:t> - </a:t>
            </a:r>
            <a:r>
              <a:rPr lang="en-GB" sz="1500" dirty="0"/>
              <a:t>(to prevent overly specific patterns)</a:t>
            </a:r>
          </a:p>
          <a:p>
            <a:pPr marL="0" indent="0">
              <a:buNone/>
            </a:pPr>
            <a:r>
              <a:rPr lang="en-GB" sz="1500" dirty="0"/>
              <a:t>   - </a:t>
            </a:r>
            <a:r>
              <a:rPr lang="en-GB" sz="1500" b="1" dirty="0" err="1"/>
              <a:t>n_estimators</a:t>
            </a:r>
            <a:r>
              <a:rPr lang="en-GB" sz="1500" b="1" dirty="0"/>
              <a:t>  - </a:t>
            </a:r>
            <a:r>
              <a:rPr lang="en-GB" sz="1500" dirty="0"/>
              <a:t>(optimized number of trees)</a:t>
            </a:r>
          </a:p>
          <a:p>
            <a:pPr marL="0" indent="0">
              <a:buNone/>
            </a:pPr>
            <a:endParaRPr lang="en-GB" sz="1500" dirty="0"/>
          </a:p>
          <a:p>
            <a:pPr marL="0" indent="0">
              <a:buNone/>
            </a:pPr>
            <a:r>
              <a:rPr lang="en-GB" sz="1500" b="1" dirty="0"/>
              <a:t>Outcome:</a:t>
            </a:r>
          </a:p>
          <a:p>
            <a:pPr marL="0" indent="0">
              <a:buNone/>
            </a:pPr>
            <a:r>
              <a:rPr lang="en-GB" sz="1500" dirty="0"/>
              <a:t>• Achieved better balance between training and testing performance</a:t>
            </a:r>
          </a:p>
          <a:p>
            <a:pPr marL="0" indent="0">
              <a:buNone/>
            </a:pPr>
            <a:r>
              <a:rPr lang="en-GB" sz="1500" dirty="0"/>
              <a:t>• Improved model generalization and reliability</a:t>
            </a:r>
          </a:p>
          <a:p>
            <a:pPr marL="0" indent="0">
              <a:buNone/>
            </a:pPr>
            <a:endParaRPr lang="en-GB" sz="1500" dirty="0"/>
          </a:p>
          <a:p>
            <a:pPr marL="0" indent="0">
              <a:buNone/>
            </a:pPr>
            <a:r>
              <a:rPr lang="en-GB" sz="1500" b="1" dirty="0"/>
              <a:t>Final Result:</a:t>
            </a:r>
          </a:p>
          <a:p>
            <a:pPr marL="0" indent="0">
              <a:buNone/>
            </a:pPr>
            <a:r>
              <a:rPr lang="en-GB" sz="1500" dirty="0"/>
              <a:t>• Model is stable and suitable for predicting trending songs</a:t>
            </a:r>
            <a:endParaRPr lang="en-US" sz="1500" dirty="0"/>
          </a:p>
        </p:txBody>
      </p:sp>
      <p:pic>
        <p:nvPicPr>
          <p:cNvPr id="9" name="Picture 8">
            <a:extLst>
              <a:ext uri="{FF2B5EF4-FFF2-40B4-BE49-F238E27FC236}">
                <a16:creationId xmlns:a16="http://schemas.microsoft.com/office/drawing/2014/main" id="{35830E99-FA63-59AB-9DCE-36F3FC090E39}"/>
              </a:ext>
            </a:extLst>
          </p:cNvPr>
          <p:cNvPicPr>
            <a:picLocks noChangeAspect="1"/>
          </p:cNvPicPr>
          <p:nvPr/>
        </p:nvPicPr>
        <p:blipFill>
          <a:blip r:embed="rId2"/>
          <a:stretch>
            <a:fillRect/>
          </a:stretch>
        </p:blipFill>
        <p:spPr>
          <a:xfrm>
            <a:off x="7598980" y="258881"/>
            <a:ext cx="4394200" cy="2986728"/>
          </a:xfrm>
          <a:prstGeom prst="rect">
            <a:avLst/>
          </a:prstGeom>
        </p:spPr>
      </p:pic>
      <p:pic>
        <p:nvPicPr>
          <p:cNvPr id="7" name="Picture 6">
            <a:extLst>
              <a:ext uri="{FF2B5EF4-FFF2-40B4-BE49-F238E27FC236}">
                <a16:creationId xmlns:a16="http://schemas.microsoft.com/office/drawing/2014/main" id="{2D188720-549B-CBC2-6BE2-8AF8C87975E4}"/>
              </a:ext>
            </a:extLst>
          </p:cNvPr>
          <p:cNvPicPr>
            <a:picLocks noChangeAspect="1"/>
          </p:cNvPicPr>
          <p:nvPr/>
        </p:nvPicPr>
        <p:blipFill>
          <a:blip r:embed="rId3"/>
          <a:stretch>
            <a:fillRect/>
          </a:stretch>
        </p:blipFill>
        <p:spPr>
          <a:xfrm>
            <a:off x="6515100" y="3504492"/>
            <a:ext cx="5362494" cy="3353508"/>
          </a:xfrm>
          <a:prstGeom prst="rect">
            <a:avLst/>
          </a:prstGeom>
        </p:spPr>
      </p:pic>
    </p:spTree>
    <p:extLst>
      <p:ext uri="{BB962C8B-B14F-4D97-AF65-F5344CB8AC3E}">
        <p14:creationId xmlns:p14="http://schemas.microsoft.com/office/powerpoint/2010/main" val="3014760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extBox 1">
            <a:extLst>
              <a:ext uri="{FF2B5EF4-FFF2-40B4-BE49-F238E27FC236}">
                <a16:creationId xmlns:a16="http://schemas.microsoft.com/office/drawing/2014/main" id="{C26C9B31-D58B-33FE-FCCF-B19E91F87146}"/>
              </a:ext>
            </a:extLst>
          </p:cNvPr>
          <p:cNvSpPr txBox="1"/>
          <p:nvPr/>
        </p:nvSpPr>
        <p:spPr>
          <a:xfrm>
            <a:off x="587600" y="1728694"/>
            <a:ext cx="4390800" cy="2795160"/>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700" kern="1200" dirty="0">
                <a:solidFill>
                  <a:schemeClr val="tx1"/>
                </a:solidFill>
                <a:latin typeface="+mj-lt"/>
                <a:ea typeface="+mj-ea"/>
                <a:cs typeface="+mj-cs"/>
              </a:rPr>
              <a:t>Understanding Music Trends </a:t>
            </a:r>
          </a:p>
          <a:p>
            <a:pPr algn="ctr">
              <a:lnSpc>
                <a:spcPct val="90000"/>
              </a:lnSpc>
              <a:spcBef>
                <a:spcPct val="0"/>
              </a:spcBef>
              <a:spcAft>
                <a:spcPts val="600"/>
              </a:spcAft>
            </a:pPr>
            <a:r>
              <a:rPr lang="en-US" sz="3700" kern="1200" dirty="0">
                <a:solidFill>
                  <a:schemeClr val="tx1"/>
                </a:solidFill>
                <a:latin typeface="+mj-lt"/>
                <a:ea typeface="+mj-ea"/>
                <a:cs typeface="+mj-cs"/>
              </a:rPr>
              <a:t>&amp; </a:t>
            </a:r>
          </a:p>
          <a:p>
            <a:pPr algn="ctr">
              <a:lnSpc>
                <a:spcPct val="90000"/>
              </a:lnSpc>
              <a:spcBef>
                <a:spcPct val="0"/>
              </a:spcBef>
              <a:spcAft>
                <a:spcPts val="600"/>
              </a:spcAft>
            </a:pPr>
            <a:r>
              <a:rPr lang="en-US" sz="3700" kern="1200" dirty="0">
                <a:solidFill>
                  <a:schemeClr val="tx1"/>
                </a:solidFill>
                <a:latin typeface="+mj-lt"/>
                <a:ea typeface="+mj-ea"/>
                <a:cs typeface="+mj-cs"/>
              </a:rPr>
              <a:t>Platform Performance using </a:t>
            </a:r>
            <a:r>
              <a:rPr lang="en-US" sz="3700" kern="1200" dirty="0" err="1">
                <a:solidFill>
                  <a:schemeClr val="tx1"/>
                </a:solidFill>
                <a:latin typeface="+mj-lt"/>
                <a:ea typeface="+mj-ea"/>
                <a:cs typeface="+mj-cs"/>
              </a:rPr>
              <a:t>PowerBI</a:t>
            </a:r>
            <a:endParaRPr lang="en-US" sz="3700" kern="1200" dirty="0">
              <a:solidFill>
                <a:schemeClr val="tx1"/>
              </a:solidFill>
              <a:latin typeface="+mj-lt"/>
              <a:ea typeface="+mj-ea"/>
              <a:cs typeface="+mj-cs"/>
            </a:endParaRPr>
          </a:p>
        </p:txBody>
      </p:sp>
      <p:pic>
        <p:nvPicPr>
          <p:cNvPr id="6" name="Picture 5">
            <a:extLst>
              <a:ext uri="{FF2B5EF4-FFF2-40B4-BE49-F238E27FC236}">
                <a16:creationId xmlns:a16="http://schemas.microsoft.com/office/drawing/2014/main" id="{44634323-817A-FFBB-8C09-6BB1657ED1E6}"/>
              </a:ext>
            </a:extLst>
          </p:cNvPr>
          <p:cNvPicPr>
            <a:picLocks noChangeAspect="1"/>
          </p:cNvPicPr>
          <p:nvPr/>
        </p:nvPicPr>
        <p:blipFill>
          <a:blip r:embed="rId2"/>
          <a:stretch>
            <a:fillRect/>
          </a:stretch>
        </p:blipFill>
        <p:spPr>
          <a:xfrm>
            <a:off x="5417681" y="1728694"/>
            <a:ext cx="6646184" cy="3671225"/>
          </a:xfrm>
          <a:prstGeom prst="rect">
            <a:avLst/>
          </a:prstGeom>
        </p:spPr>
      </p:pic>
    </p:spTree>
    <p:extLst>
      <p:ext uri="{BB962C8B-B14F-4D97-AF65-F5344CB8AC3E}">
        <p14:creationId xmlns:p14="http://schemas.microsoft.com/office/powerpoint/2010/main" val="2212252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C87146-4241-CE84-B7CF-C6DC66265FA9}"/>
              </a:ext>
            </a:extLst>
          </p:cNvPr>
          <p:cNvSpPr>
            <a:spLocks noGrp="1"/>
          </p:cNvSpPr>
          <p:nvPr>
            <p:ph type="title"/>
          </p:nvPr>
        </p:nvSpPr>
        <p:spPr>
          <a:xfrm>
            <a:off x="804274" y="170602"/>
            <a:ext cx="4977976" cy="1454051"/>
          </a:xfrm>
        </p:spPr>
        <p:txBody>
          <a:bodyPr>
            <a:normAutofit/>
          </a:bodyPr>
          <a:lstStyle/>
          <a:p>
            <a:r>
              <a:rPr lang="en-GB" sz="3600" dirty="0">
                <a:solidFill>
                  <a:schemeClr val="tx2"/>
                </a:solidFill>
              </a:rPr>
              <a:t>Dashboard Overview</a:t>
            </a:r>
            <a:endParaRPr lang="en-US" sz="3600" dirty="0">
              <a:solidFill>
                <a:schemeClr val="tx2"/>
              </a:solidFill>
            </a:endParaRPr>
          </a:p>
        </p:txBody>
      </p:sp>
      <p:sp>
        <p:nvSpPr>
          <p:cNvPr id="3" name="Content Placeholder 2">
            <a:extLst>
              <a:ext uri="{FF2B5EF4-FFF2-40B4-BE49-F238E27FC236}">
                <a16:creationId xmlns:a16="http://schemas.microsoft.com/office/drawing/2014/main" id="{77725747-B5FA-5EEF-A02C-34F801B69AC6}"/>
              </a:ext>
            </a:extLst>
          </p:cNvPr>
          <p:cNvSpPr>
            <a:spLocks noGrp="1"/>
          </p:cNvSpPr>
          <p:nvPr>
            <p:ph idx="1"/>
          </p:nvPr>
        </p:nvSpPr>
        <p:spPr>
          <a:xfrm>
            <a:off x="279400" y="1384300"/>
            <a:ext cx="6138266" cy="5300967"/>
          </a:xfrm>
        </p:spPr>
        <p:txBody>
          <a:bodyPr anchor="ctr">
            <a:noAutofit/>
          </a:bodyPr>
          <a:lstStyle/>
          <a:p>
            <a:pPr marL="0" indent="0">
              <a:buNone/>
            </a:pPr>
            <a:r>
              <a:rPr lang="en-GB" sz="1400" dirty="0"/>
              <a:t>An interactive dashboard was developed using Power BI to visualize insights and support data-driven decision-making.</a:t>
            </a:r>
          </a:p>
          <a:p>
            <a:pPr marL="0" indent="0">
              <a:buNone/>
            </a:pPr>
            <a:r>
              <a:rPr lang="en-GB" sz="1400" b="1" dirty="0"/>
              <a:t>Purpose:</a:t>
            </a:r>
          </a:p>
          <a:p>
            <a:pPr marL="0" indent="0">
              <a:buNone/>
            </a:pPr>
            <a:r>
              <a:rPr lang="en-GB" sz="1400" dirty="0"/>
              <a:t>• Transform complex data into clear, actionable insights</a:t>
            </a:r>
          </a:p>
          <a:p>
            <a:pPr marL="0" indent="0">
              <a:buNone/>
            </a:pPr>
            <a:r>
              <a:rPr lang="en-GB" sz="1400" dirty="0"/>
              <a:t>• Enable better understanding of music trends and platform performance</a:t>
            </a:r>
            <a:endParaRPr lang="en-GB" sz="1400" b="1" dirty="0"/>
          </a:p>
          <a:p>
            <a:pPr marL="0" indent="0">
              <a:buNone/>
            </a:pPr>
            <a:endParaRPr lang="en-GB" sz="1400" b="1" dirty="0"/>
          </a:p>
          <a:p>
            <a:pPr marL="0" indent="0">
              <a:buNone/>
            </a:pPr>
            <a:r>
              <a:rPr lang="en-GB" sz="1400" b="1" dirty="0"/>
              <a:t>Key Components:</a:t>
            </a:r>
          </a:p>
          <a:p>
            <a:pPr marL="0" indent="0">
              <a:buNone/>
            </a:pPr>
            <a:r>
              <a:rPr lang="en-GB" sz="1400" b="1" dirty="0"/>
              <a:t>• KPI Cards</a:t>
            </a:r>
            <a:r>
              <a:rPr lang="en-GB" sz="1400" dirty="0"/>
              <a:t>: Total Streams, Total Songs, Total Artists, </a:t>
            </a:r>
            <a:r>
              <a:rPr lang="en-GB" sz="1400" dirty="0" err="1"/>
              <a:t>Avg</a:t>
            </a:r>
            <a:r>
              <a:rPr lang="en-GB" sz="1400" dirty="0"/>
              <a:t> Streams, Total Spotify Playlist</a:t>
            </a:r>
          </a:p>
          <a:p>
            <a:pPr marL="0" indent="0">
              <a:buNone/>
            </a:pPr>
            <a:r>
              <a:rPr lang="en-GB" sz="1400" dirty="0"/>
              <a:t>• </a:t>
            </a:r>
            <a:r>
              <a:rPr lang="en-GB" sz="1400" b="1" dirty="0"/>
              <a:t>Popularity Analysis Table: </a:t>
            </a:r>
            <a:r>
              <a:rPr lang="en-GB" sz="1400" dirty="0"/>
              <a:t>Top songs and artists by streams</a:t>
            </a:r>
          </a:p>
          <a:p>
            <a:pPr marL="0" indent="0">
              <a:buNone/>
            </a:pPr>
            <a:r>
              <a:rPr lang="en-GB" sz="1400" dirty="0"/>
              <a:t>• </a:t>
            </a:r>
            <a:r>
              <a:rPr lang="en-GB" sz="1400" b="1" dirty="0"/>
              <a:t>Temporal Trends: </a:t>
            </a:r>
            <a:r>
              <a:rPr lang="en-GB" sz="1400" dirty="0"/>
              <a:t>Streaming trends over time</a:t>
            </a:r>
          </a:p>
          <a:p>
            <a:pPr marL="0" indent="0">
              <a:buNone/>
            </a:pPr>
            <a:r>
              <a:rPr lang="en-GB" sz="1400" dirty="0"/>
              <a:t>• </a:t>
            </a:r>
            <a:r>
              <a:rPr lang="en-GB" sz="1400" b="1" dirty="0"/>
              <a:t>Platform Comparison: </a:t>
            </a:r>
            <a:r>
              <a:rPr lang="en-GB" sz="1400" dirty="0"/>
              <a:t>Spotify vs Apple vs Deezer vs Shazam</a:t>
            </a:r>
          </a:p>
          <a:p>
            <a:pPr marL="0" indent="0">
              <a:buNone/>
            </a:pPr>
            <a:r>
              <a:rPr lang="en-GB" sz="1400" dirty="0"/>
              <a:t>• </a:t>
            </a:r>
            <a:r>
              <a:rPr lang="en-GB" sz="1400" b="1" dirty="0"/>
              <a:t>Feature Insights: </a:t>
            </a:r>
            <a:r>
              <a:rPr lang="en-GB" sz="1400" dirty="0"/>
              <a:t>Relationship between song attributes and popularity</a:t>
            </a:r>
          </a:p>
          <a:p>
            <a:pPr marL="0" indent="0">
              <a:buNone/>
            </a:pPr>
            <a:endParaRPr lang="en-GB" sz="1400" dirty="0"/>
          </a:p>
          <a:p>
            <a:pPr marL="0" indent="0">
              <a:buNone/>
            </a:pPr>
            <a:r>
              <a:rPr lang="en-GB" sz="1400" b="1" dirty="0"/>
              <a:t>Features:</a:t>
            </a:r>
          </a:p>
          <a:p>
            <a:pPr marL="0" indent="0">
              <a:buNone/>
            </a:pPr>
            <a:r>
              <a:rPr lang="en-GB" sz="1400" dirty="0"/>
              <a:t>• Interactive filters and slicers for dynamic analysis</a:t>
            </a:r>
          </a:p>
          <a:p>
            <a:pPr marL="0" indent="0">
              <a:buNone/>
            </a:pPr>
            <a:r>
              <a:rPr lang="en-GB" sz="1400" dirty="0"/>
              <a:t>• User-friendly and intuitive layout</a:t>
            </a:r>
          </a:p>
          <a:p>
            <a:pPr marL="0" indent="0">
              <a:buNone/>
            </a:pPr>
            <a:r>
              <a:rPr lang="en-GB" sz="1400" dirty="0"/>
              <a:t>• Designed for quick insight extraction</a:t>
            </a: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Statistics">
            <a:extLst>
              <a:ext uri="{FF2B5EF4-FFF2-40B4-BE49-F238E27FC236}">
                <a16:creationId xmlns:a16="http://schemas.microsoft.com/office/drawing/2014/main" id="{1751C69A-8261-CF2C-8E17-FF23C73ED6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12642525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58254" y="-358254"/>
            <a:ext cx="6858000" cy="7574507"/>
          </a:xfrm>
          <a:prstGeom prst="rect">
            <a:avLst/>
          </a:prstGeom>
          <a:ln>
            <a:noFill/>
          </a:ln>
          <a:effectLst>
            <a:outerShdw blurRad="304800" dist="317500" sx="94000" sy="94000" algn="l"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A7D94-818C-2491-9A9F-E67626160D96}"/>
              </a:ext>
            </a:extLst>
          </p:cNvPr>
          <p:cNvSpPr>
            <a:spLocks noGrp="1"/>
          </p:cNvSpPr>
          <p:nvPr>
            <p:ph type="title"/>
          </p:nvPr>
        </p:nvSpPr>
        <p:spPr>
          <a:xfrm>
            <a:off x="758952" y="4853797"/>
            <a:ext cx="6032738" cy="785004"/>
          </a:xfrm>
        </p:spPr>
        <p:txBody>
          <a:bodyPr anchor="b">
            <a:normAutofit/>
          </a:bodyPr>
          <a:lstStyle/>
          <a:p>
            <a:pPr algn="ctr"/>
            <a:r>
              <a:rPr lang="en-US" sz="4000" dirty="0"/>
              <a:t>Temporal Pattern Analysis</a:t>
            </a:r>
          </a:p>
        </p:txBody>
      </p:sp>
      <p:pic>
        <p:nvPicPr>
          <p:cNvPr id="5" name="Picture 4">
            <a:extLst>
              <a:ext uri="{FF2B5EF4-FFF2-40B4-BE49-F238E27FC236}">
                <a16:creationId xmlns:a16="http://schemas.microsoft.com/office/drawing/2014/main" id="{5A83D1BC-8759-0BBF-6ADA-E27FD1E3E443}"/>
              </a:ext>
            </a:extLst>
          </p:cNvPr>
          <p:cNvPicPr>
            <a:picLocks noChangeAspect="1"/>
          </p:cNvPicPr>
          <p:nvPr/>
        </p:nvPicPr>
        <p:blipFill>
          <a:blip r:embed="rId2"/>
          <a:stretch>
            <a:fillRect/>
          </a:stretch>
        </p:blipFill>
        <p:spPr>
          <a:xfrm>
            <a:off x="88900" y="431799"/>
            <a:ext cx="6997699" cy="3706003"/>
          </a:xfrm>
          <a:prstGeom prst="rect">
            <a:avLst/>
          </a:prstGeom>
        </p:spPr>
      </p:pic>
      <p:sp>
        <p:nvSpPr>
          <p:cNvPr id="3" name="Content Placeholder 2">
            <a:extLst>
              <a:ext uri="{FF2B5EF4-FFF2-40B4-BE49-F238E27FC236}">
                <a16:creationId xmlns:a16="http://schemas.microsoft.com/office/drawing/2014/main" id="{F55F14FF-0D82-347D-021B-B1A0DC556848}"/>
              </a:ext>
            </a:extLst>
          </p:cNvPr>
          <p:cNvSpPr>
            <a:spLocks noGrp="1"/>
          </p:cNvSpPr>
          <p:nvPr>
            <p:ph idx="1"/>
          </p:nvPr>
        </p:nvSpPr>
        <p:spPr>
          <a:xfrm>
            <a:off x="7416800" y="330200"/>
            <a:ext cx="4686300" cy="6261099"/>
          </a:xfrm>
        </p:spPr>
        <p:txBody>
          <a:bodyPr anchor="ctr">
            <a:normAutofit/>
          </a:bodyPr>
          <a:lstStyle/>
          <a:p>
            <a:pPr marL="0" indent="0">
              <a:buNone/>
            </a:pPr>
            <a:r>
              <a:rPr lang="en-GB" sz="1400" dirty="0"/>
              <a:t>Temporal analysis was performed to understand trends in song releases and streaming performance over time. Temporal Analysis is performed using </a:t>
            </a:r>
            <a:r>
              <a:rPr lang="en-GB" sz="1400" b="1" dirty="0"/>
              <a:t>Power BI.</a:t>
            </a:r>
          </a:p>
          <a:p>
            <a:pPr marL="0" indent="0">
              <a:buNone/>
            </a:pPr>
            <a:endParaRPr lang="en-GB" sz="1400" dirty="0"/>
          </a:p>
          <a:p>
            <a:pPr marL="0" indent="0">
              <a:buNone/>
            </a:pPr>
            <a:r>
              <a:rPr lang="en-GB" sz="1400" b="1" dirty="0"/>
              <a:t>Key Insights:</a:t>
            </a:r>
          </a:p>
          <a:p>
            <a:pPr marL="0" indent="0">
              <a:buNone/>
            </a:pPr>
            <a:r>
              <a:rPr lang="en-GB" sz="1400" dirty="0"/>
              <a:t>• Streaming trends show a consistent increase over the years</a:t>
            </a:r>
          </a:p>
          <a:p>
            <a:pPr marL="0" indent="0">
              <a:buNone/>
            </a:pPr>
            <a:r>
              <a:rPr lang="en-GB" sz="1400" dirty="0"/>
              <a:t>• Recent years have significantly higher total streams compared to earlier years</a:t>
            </a:r>
          </a:p>
          <a:p>
            <a:pPr marL="0" indent="0">
              <a:buNone/>
            </a:pPr>
            <a:r>
              <a:rPr lang="en-GB" sz="1400" dirty="0"/>
              <a:t>• Indicates growing adoption of music streaming platforms</a:t>
            </a:r>
          </a:p>
          <a:p>
            <a:pPr marL="0" indent="0">
              <a:buNone/>
            </a:pPr>
            <a:endParaRPr lang="en-GB" sz="1400" dirty="0"/>
          </a:p>
          <a:p>
            <a:pPr marL="0" indent="0">
              <a:buNone/>
            </a:pPr>
            <a:r>
              <a:rPr lang="en-GB" sz="1400" b="1" dirty="0"/>
              <a:t>Interpretation:</a:t>
            </a:r>
          </a:p>
          <a:p>
            <a:pPr marL="0" indent="0">
              <a:buNone/>
            </a:pPr>
            <a:r>
              <a:rPr lang="en-GB" sz="1400" dirty="0"/>
              <a:t>• The rise in streaming reflects increased digital consumption and platform growth</a:t>
            </a:r>
          </a:p>
          <a:p>
            <a:pPr marL="0" indent="0">
              <a:buNone/>
            </a:pPr>
            <a:r>
              <a:rPr lang="en-GB" sz="1400" dirty="0"/>
              <a:t>• Newer songs benefit from higher platform reach and user engagement</a:t>
            </a:r>
          </a:p>
          <a:p>
            <a:pPr marL="0" indent="0">
              <a:buNone/>
            </a:pPr>
            <a:endParaRPr lang="en-GB" sz="1400" dirty="0"/>
          </a:p>
          <a:p>
            <a:pPr marL="0" indent="0">
              <a:buNone/>
            </a:pPr>
            <a:r>
              <a:rPr lang="en-GB" sz="1400" b="1" dirty="0"/>
              <a:t>Conclusion:</a:t>
            </a:r>
          </a:p>
          <a:p>
            <a:pPr marL="0" indent="0">
              <a:buNone/>
            </a:pPr>
            <a:r>
              <a:rPr lang="en-GB" sz="1400" dirty="0"/>
              <a:t>• Time plays an important role in song performance due to platform expansion and audience growth</a:t>
            </a:r>
            <a:endParaRPr lang="en-US" sz="1400" dirty="0"/>
          </a:p>
        </p:txBody>
      </p:sp>
      <p:sp>
        <p:nvSpPr>
          <p:cNvPr id="6" name="TextBox 5">
            <a:extLst>
              <a:ext uri="{FF2B5EF4-FFF2-40B4-BE49-F238E27FC236}">
                <a16:creationId xmlns:a16="http://schemas.microsoft.com/office/drawing/2014/main" id="{CA252D31-7F4A-6B08-43A3-9F8260E372E0}"/>
              </a:ext>
            </a:extLst>
          </p:cNvPr>
          <p:cNvSpPr txBox="1"/>
          <p:nvPr/>
        </p:nvSpPr>
        <p:spPr>
          <a:xfrm>
            <a:off x="5170512" y="477619"/>
            <a:ext cx="1963191" cy="553998"/>
          </a:xfrm>
          <a:prstGeom prst="rect">
            <a:avLst/>
          </a:prstGeom>
          <a:noFill/>
        </p:spPr>
        <p:txBody>
          <a:bodyPr wrap="square" rtlCol="0">
            <a:spAutoFit/>
          </a:bodyPr>
          <a:lstStyle/>
          <a:p>
            <a:r>
              <a:rPr lang="en-US" sz="1500" b="1" dirty="0">
                <a:solidFill>
                  <a:schemeClr val="bg1"/>
                </a:solidFill>
              </a:rPr>
              <a:t>X-axis → Year</a:t>
            </a:r>
          </a:p>
          <a:p>
            <a:r>
              <a:rPr lang="en-US" sz="1500" b="1" dirty="0">
                <a:solidFill>
                  <a:schemeClr val="bg1"/>
                </a:solidFill>
              </a:rPr>
              <a:t>Y-axis → Streams</a:t>
            </a:r>
          </a:p>
        </p:txBody>
      </p:sp>
      <p:sp>
        <p:nvSpPr>
          <p:cNvPr id="7" name="Rectangle 1">
            <a:extLst>
              <a:ext uri="{FF2B5EF4-FFF2-40B4-BE49-F238E27FC236}">
                <a16:creationId xmlns:a16="http://schemas.microsoft.com/office/drawing/2014/main" id="{2FBCE72F-BEAF-F5DB-AF9F-3DEA270232FF}"/>
              </a:ext>
            </a:extLst>
          </p:cNvPr>
          <p:cNvSpPr>
            <a:spLocks noChangeArrowheads="1"/>
          </p:cNvSpPr>
          <p:nvPr/>
        </p:nvSpPr>
        <p:spPr bwMode="auto">
          <a:xfrm>
            <a:off x="5952604" y="-1276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X-axis → Year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Y-axis → Streams </a:t>
            </a:r>
          </a:p>
        </p:txBody>
      </p:sp>
      <p:sp>
        <p:nvSpPr>
          <p:cNvPr id="8" name="Rectangle 2">
            <a:extLst>
              <a:ext uri="{FF2B5EF4-FFF2-40B4-BE49-F238E27FC236}">
                <a16:creationId xmlns:a16="http://schemas.microsoft.com/office/drawing/2014/main" id="{3C187CD7-6032-5CB1-CEA2-E7C54D3BE356}"/>
              </a:ext>
            </a:extLst>
          </p:cNvPr>
          <p:cNvSpPr>
            <a:spLocks noChangeArrowheads="1"/>
          </p:cNvSpPr>
          <p:nvPr/>
        </p:nvSpPr>
        <p:spPr bwMode="auto">
          <a:xfrm>
            <a:off x="6105004" y="-11239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X-axis → Year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Y-axis → Streams </a:t>
            </a:r>
          </a:p>
        </p:txBody>
      </p:sp>
    </p:spTree>
    <p:extLst>
      <p:ext uri="{BB962C8B-B14F-4D97-AF65-F5344CB8AC3E}">
        <p14:creationId xmlns:p14="http://schemas.microsoft.com/office/powerpoint/2010/main" val="3161752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9B161DF-E457-41D5-83AD-378B43003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886DBC-5827-7134-3871-23E98AE49A88}"/>
              </a:ext>
            </a:extLst>
          </p:cNvPr>
          <p:cNvSpPr>
            <a:spLocks noGrp="1"/>
          </p:cNvSpPr>
          <p:nvPr>
            <p:ph type="title"/>
          </p:nvPr>
        </p:nvSpPr>
        <p:spPr>
          <a:xfrm>
            <a:off x="5951807" y="42069"/>
            <a:ext cx="5397237" cy="1325563"/>
          </a:xfrm>
        </p:spPr>
        <p:txBody>
          <a:bodyPr numCol="1">
            <a:normAutofit/>
          </a:bodyPr>
          <a:lstStyle/>
          <a:p>
            <a:r>
              <a:rPr lang="en-GB" sz="2800" dirty="0"/>
              <a:t>Audio Features &amp; </a:t>
            </a:r>
            <a:r>
              <a:rPr lang="en-US" sz="2800" dirty="0"/>
              <a:t>Platform Comparison Analysis</a:t>
            </a:r>
            <a:br>
              <a:rPr lang="en-US" sz="2800" b="1" dirty="0"/>
            </a:br>
            <a:endParaRPr lang="en-US" sz="2800" dirty="0"/>
          </a:p>
        </p:txBody>
      </p:sp>
      <p:pic>
        <p:nvPicPr>
          <p:cNvPr id="5" name="Picture 4">
            <a:extLst>
              <a:ext uri="{FF2B5EF4-FFF2-40B4-BE49-F238E27FC236}">
                <a16:creationId xmlns:a16="http://schemas.microsoft.com/office/drawing/2014/main" id="{D87D9A49-4224-BF7A-AD49-0A60F8E223C7}"/>
              </a:ext>
            </a:extLst>
          </p:cNvPr>
          <p:cNvPicPr>
            <a:picLocks noChangeAspect="1"/>
          </p:cNvPicPr>
          <p:nvPr/>
        </p:nvPicPr>
        <p:blipFill>
          <a:blip r:embed="rId2"/>
          <a:srcRect t="9370" r="-4" b="-4"/>
          <a:stretch>
            <a:fillRect/>
          </a:stretch>
        </p:blipFill>
        <p:spPr>
          <a:xfrm>
            <a:off x="643466" y="579155"/>
            <a:ext cx="5130797" cy="2642068"/>
          </a:xfrm>
          <a:custGeom>
            <a:avLst/>
            <a:gdLst/>
            <a:ahLst/>
            <a:cxnLst/>
            <a:rect l="l" t="t" r="r" b="b"/>
            <a:pathLst>
              <a:path w="4252881" h="4252881">
                <a:moveTo>
                  <a:pt x="95137" y="0"/>
                </a:moveTo>
                <a:lnTo>
                  <a:pt x="4157744" y="0"/>
                </a:lnTo>
                <a:cubicBezTo>
                  <a:pt x="4210287" y="0"/>
                  <a:pt x="4252881" y="42594"/>
                  <a:pt x="4252881" y="95137"/>
                </a:cubicBezTo>
                <a:lnTo>
                  <a:pt x="4252881" y="4157744"/>
                </a:lnTo>
                <a:cubicBezTo>
                  <a:pt x="4252881" y="4210287"/>
                  <a:pt x="4210287" y="4252881"/>
                  <a:pt x="4157744" y="4252881"/>
                </a:cubicBezTo>
                <a:lnTo>
                  <a:pt x="95137" y="4252881"/>
                </a:lnTo>
                <a:cubicBezTo>
                  <a:pt x="42594" y="4252881"/>
                  <a:pt x="0" y="4210287"/>
                  <a:pt x="0" y="4157744"/>
                </a:cubicBezTo>
                <a:lnTo>
                  <a:pt x="0" y="95137"/>
                </a:lnTo>
                <a:cubicBezTo>
                  <a:pt x="0" y="42594"/>
                  <a:pt x="42594" y="0"/>
                  <a:pt x="95137" y="0"/>
                </a:cubicBezTo>
                <a:close/>
              </a:path>
            </a:pathLst>
          </a:custGeom>
        </p:spPr>
      </p:pic>
      <p:pic>
        <p:nvPicPr>
          <p:cNvPr id="7" name="Picture 6">
            <a:extLst>
              <a:ext uri="{FF2B5EF4-FFF2-40B4-BE49-F238E27FC236}">
                <a16:creationId xmlns:a16="http://schemas.microsoft.com/office/drawing/2014/main" id="{C8E5EE67-7F6F-FA4B-4278-ABCFFE334661}"/>
              </a:ext>
            </a:extLst>
          </p:cNvPr>
          <p:cNvPicPr>
            <a:picLocks noChangeAspect="1"/>
          </p:cNvPicPr>
          <p:nvPr/>
        </p:nvPicPr>
        <p:blipFill>
          <a:blip r:embed="rId3"/>
          <a:srcRect t="7869" r="2" b="484"/>
          <a:stretch>
            <a:fillRect/>
          </a:stretch>
        </p:blipFill>
        <p:spPr>
          <a:xfrm>
            <a:off x="643466" y="3579321"/>
            <a:ext cx="5102297" cy="2642068"/>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1" name="Rectangle 20">
            <a:extLst>
              <a:ext uri="{FF2B5EF4-FFF2-40B4-BE49-F238E27FC236}">
                <a16:creationId xmlns:a16="http://schemas.microsoft.com/office/drawing/2014/main" id="{107D50C9-F568-423A-A839-B49874AAEE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9499" y="4590068"/>
            <a:ext cx="624734" cy="62473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4C400093-2F24-EB33-A7B2-634682D47622}"/>
              </a:ext>
            </a:extLst>
          </p:cNvPr>
          <p:cNvSpPr>
            <a:spLocks noGrp="1"/>
          </p:cNvSpPr>
          <p:nvPr>
            <p:ph idx="1"/>
          </p:nvPr>
        </p:nvSpPr>
        <p:spPr>
          <a:xfrm>
            <a:off x="5989730" y="1037431"/>
            <a:ext cx="6062393" cy="5778499"/>
          </a:xfrm>
        </p:spPr>
        <p:txBody>
          <a:bodyPr>
            <a:noAutofit/>
          </a:bodyPr>
          <a:lstStyle/>
          <a:p>
            <a:pPr marL="0" indent="0">
              <a:buNone/>
            </a:pPr>
            <a:r>
              <a:rPr lang="en-US" sz="1600" b="1" dirty="0"/>
              <a:t>Audio Feature Interaction Analysis:</a:t>
            </a:r>
            <a:endParaRPr lang="en-GB" sz="1600" b="1" dirty="0"/>
          </a:p>
          <a:p>
            <a:pPr marL="0" indent="0">
              <a:buNone/>
            </a:pPr>
            <a:r>
              <a:rPr lang="en-GB" sz="1400" dirty="0"/>
              <a:t>To understand whether musical characteristics influence song success, relationships between key audio features such as danceability and energy were </a:t>
            </a:r>
            <a:r>
              <a:rPr lang="en-GB" sz="1400" dirty="0" err="1"/>
              <a:t>analyzed</a:t>
            </a:r>
            <a:r>
              <a:rPr lang="en-GB" sz="1400" dirty="0"/>
              <a:t>.</a:t>
            </a:r>
          </a:p>
          <a:p>
            <a:pPr marL="0" indent="0">
              <a:buNone/>
            </a:pPr>
            <a:r>
              <a:rPr lang="en-GB" sz="1400" dirty="0"/>
              <a:t>The analysis shows that songs are distributed across a wide range of combinations, with no clear pattern linking specific feature values to higher streams.</a:t>
            </a:r>
          </a:p>
          <a:p>
            <a:pPr marL="0" indent="0">
              <a:buNone/>
            </a:pPr>
            <a:r>
              <a:rPr lang="en-GB" sz="1400" dirty="0"/>
              <a:t>This indicates that there is no fixed formula for creating a hit song based solely on audio attributes. While these features define the musical style, they do not directly guarantee popularity.</a:t>
            </a:r>
          </a:p>
          <a:p>
            <a:pPr marL="0" indent="0">
              <a:buNone/>
            </a:pPr>
            <a:r>
              <a:rPr lang="en-GB" sz="1400" dirty="0"/>
              <a:t>This highlights that external factors like playlist exposure and platform visibility play a more significant role in driving song success.</a:t>
            </a:r>
          </a:p>
          <a:p>
            <a:pPr marL="0" indent="0">
              <a:buNone/>
            </a:pPr>
            <a:endParaRPr lang="en-GB" sz="1400" b="1" dirty="0"/>
          </a:p>
          <a:p>
            <a:pPr marL="0" indent="0">
              <a:buNone/>
            </a:pPr>
            <a:r>
              <a:rPr lang="en-US" sz="1600" b="1" dirty="0"/>
              <a:t>Platform Comparison Analysis:</a:t>
            </a:r>
          </a:p>
          <a:p>
            <a:pPr marL="0" indent="0">
              <a:buNone/>
            </a:pPr>
            <a:r>
              <a:rPr lang="en-GB" sz="1400" dirty="0"/>
              <a:t>A cross-platform comparison was performed to evaluate how songs perform across Spotify, Apple Music, Deezer, and Shazam.</a:t>
            </a:r>
          </a:p>
          <a:p>
            <a:pPr marL="0" indent="0">
              <a:buNone/>
            </a:pPr>
            <a:r>
              <a:rPr lang="en-GB" sz="1400" dirty="0"/>
              <a:t>The analysis reveals that Spotify leads significantly in playlist exposure, indicating a strong content distribution and recommendation system.</a:t>
            </a:r>
          </a:p>
          <a:p>
            <a:pPr marL="0" indent="0">
              <a:buNone/>
            </a:pPr>
            <a:r>
              <a:rPr lang="en-GB" sz="1400" dirty="0"/>
              <a:t>However, other platforms, particularly Shazam, show strong chart presence, suggesting they are more effective in identifying early trends and emerging songs.</a:t>
            </a:r>
          </a:p>
          <a:p>
            <a:pPr marL="0" indent="0">
              <a:buNone/>
            </a:pPr>
            <a:r>
              <a:rPr lang="en-GB" sz="1400" dirty="0"/>
              <a:t>This highlights a key gap where Spotify excels in promotion but can further improve its early trend detection capabilities.</a:t>
            </a:r>
            <a:endParaRPr lang="en-US" sz="1400" dirty="0"/>
          </a:p>
        </p:txBody>
      </p:sp>
    </p:spTree>
    <p:extLst>
      <p:ext uri="{BB962C8B-B14F-4D97-AF65-F5344CB8AC3E}">
        <p14:creationId xmlns:p14="http://schemas.microsoft.com/office/powerpoint/2010/main" val="2776910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0D806-D941-23A8-AD87-FBD734163F9E}"/>
              </a:ext>
            </a:extLst>
          </p:cNvPr>
          <p:cNvSpPr>
            <a:spLocks noGrp="1"/>
          </p:cNvSpPr>
          <p:nvPr>
            <p:ph type="title"/>
          </p:nvPr>
        </p:nvSpPr>
        <p:spPr/>
        <p:txBody>
          <a:bodyPr/>
          <a:lstStyle/>
          <a:p>
            <a:r>
              <a:rPr lang="en-US" dirty="0"/>
              <a:t>Actionable Recommendations</a:t>
            </a:r>
          </a:p>
        </p:txBody>
      </p:sp>
      <p:graphicFrame>
        <p:nvGraphicFramePr>
          <p:cNvPr id="5" name="Content Placeholder 2">
            <a:extLst>
              <a:ext uri="{FF2B5EF4-FFF2-40B4-BE49-F238E27FC236}">
                <a16:creationId xmlns:a16="http://schemas.microsoft.com/office/drawing/2014/main" id="{2AFD6C14-DFDD-4C3E-AEC0-1A73A93F712F}"/>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9044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380E0-8019-D21C-9804-C741FEBEAEFA}"/>
              </a:ext>
            </a:extLst>
          </p:cNvPr>
          <p:cNvSpPr>
            <a:spLocks noGrp="1"/>
          </p:cNvSpPr>
          <p:nvPr>
            <p:ph type="title"/>
          </p:nvPr>
        </p:nvSpPr>
        <p:spPr>
          <a:xfrm>
            <a:off x="6642100" y="863600"/>
            <a:ext cx="4516967" cy="1084263"/>
          </a:xfrm>
        </p:spPr>
        <p:txBody>
          <a:bodyPr anchor="b">
            <a:normAutofit/>
          </a:bodyPr>
          <a:lstStyle/>
          <a:p>
            <a:r>
              <a:rPr lang="en-GB" sz="4000"/>
              <a:t>Thank you</a:t>
            </a:r>
            <a:endParaRPr lang="en-US" sz="4000" dirty="0"/>
          </a:p>
        </p:txBody>
      </p:sp>
      <p:pic>
        <p:nvPicPr>
          <p:cNvPr id="6" name="Picture 5">
            <a:extLst>
              <a:ext uri="{FF2B5EF4-FFF2-40B4-BE49-F238E27FC236}">
                <a16:creationId xmlns:a16="http://schemas.microsoft.com/office/drawing/2014/main" id="{5EDBD8FC-C3E5-DDBC-E224-FF9D06190B25}"/>
              </a:ext>
            </a:extLst>
          </p:cNvPr>
          <p:cNvPicPr>
            <a:picLocks noChangeAspect="1"/>
          </p:cNvPicPr>
          <p:nvPr/>
        </p:nvPicPr>
        <p:blipFill>
          <a:blip r:embed="rId2"/>
          <a:srcRect l="19554" r="21098" b="-2"/>
          <a:stretch>
            <a:fillRect/>
          </a:stretch>
        </p:blipFill>
        <p:spPr>
          <a:xfrm>
            <a:off x="2" y="1587"/>
            <a:ext cx="6095999" cy="6856413"/>
          </a:xfrm>
          <a:custGeom>
            <a:avLst/>
            <a:gdLst/>
            <a:ahLst/>
            <a:cxnLst/>
            <a:rect l="l" t="t" r="r" b="b"/>
            <a:pathLst>
              <a:path w="6649908" h="6856413">
                <a:moveTo>
                  <a:pt x="0" y="0"/>
                </a:moveTo>
                <a:lnTo>
                  <a:pt x="6559859" y="0"/>
                </a:lnTo>
                <a:lnTo>
                  <a:pt x="6572145" y="79394"/>
                </a:lnTo>
                <a:cubicBezTo>
                  <a:pt x="6857782" y="2230562"/>
                  <a:pt x="6243159" y="4473353"/>
                  <a:pt x="6528796" y="6624522"/>
                </a:cubicBezTo>
                <a:lnTo>
                  <a:pt x="6564680" y="6856413"/>
                </a:lnTo>
                <a:lnTo>
                  <a:pt x="0" y="6856413"/>
                </a:lnTo>
                <a:close/>
              </a:path>
            </a:pathLst>
          </a:custGeom>
        </p:spPr>
      </p:pic>
      <p:graphicFrame>
        <p:nvGraphicFramePr>
          <p:cNvPr id="5" name="Content Placeholder 2">
            <a:extLst>
              <a:ext uri="{FF2B5EF4-FFF2-40B4-BE49-F238E27FC236}">
                <a16:creationId xmlns:a16="http://schemas.microsoft.com/office/drawing/2014/main" id="{9790B43C-70C4-189A-96C4-FC35306AF987}"/>
              </a:ext>
            </a:extLst>
          </p:cNvPr>
          <p:cNvGraphicFramePr>
            <a:graphicFrameLocks noGrp="1"/>
          </p:cNvGraphicFramePr>
          <p:nvPr>
            <p:ph idx="1"/>
            <p:extLst>
              <p:ext uri="{D42A27DB-BD31-4B8C-83A1-F6EECF244321}">
                <p14:modId xmlns:p14="http://schemas.microsoft.com/office/powerpoint/2010/main" val="3992558547"/>
              </p:ext>
            </p:extLst>
          </p:nvPr>
        </p:nvGraphicFramePr>
        <p:xfrm>
          <a:off x="7493000" y="685800"/>
          <a:ext cx="4699000" cy="6553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060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28CD-6D97-123F-2574-512CFC7CA88C}"/>
              </a:ext>
            </a:extLst>
          </p:cNvPr>
          <p:cNvSpPr>
            <a:spLocks noGrp="1"/>
          </p:cNvSpPr>
          <p:nvPr>
            <p:ph type="title"/>
          </p:nvPr>
        </p:nvSpPr>
        <p:spPr/>
        <p:txBody>
          <a:bodyPr/>
          <a:lstStyle/>
          <a:p>
            <a:r>
              <a:rPr lang="en-GB" dirty="0"/>
              <a:t>Thank you</a:t>
            </a:r>
            <a:endParaRPr lang="en-US" dirty="0"/>
          </a:p>
        </p:txBody>
      </p:sp>
      <p:sp>
        <p:nvSpPr>
          <p:cNvPr id="3" name="Content Placeholder 2">
            <a:extLst>
              <a:ext uri="{FF2B5EF4-FFF2-40B4-BE49-F238E27FC236}">
                <a16:creationId xmlns:a16="http://schemas.microsoft.com/office/drawing/2014/main" id="{1D4C6452-B1A8-51CA-BA07-A42C74BA6EAF}"/>
              </a:ext>
            </a:extLst>
          </p:cNvPr>
          <p:cNvSpPr>
            <a:spLocks noGrp="1"/>
          </p:cNvSpPr>
          <p:nvPr>
            <p:ph idx="1"/>
          </p:nvPr>
        </p:nvSpPr>
        <p:spPr/>
        <p:txBody>
          <a:bodyPr>
            <a:normAutofit/>
          </a:bodyPr>
          <a:lstStyle/>
          <a:p>
            <a:pPr marL="0" indent="0">
              <a:buNone/>
            </a:pPr>
            <a:r>
              <a:rPr lang="en-GB" dirty="0"/>
              <a:t>This project successfully </a:t>
            </a:r>
            <a:r>
              <a:rPr lang="en-GB" dirty="0" err="1"/>
              <a:t>analyzed</a:t>
            </a:r>
            <a:r>
              <a:rPr lang="en-GB" dirty="0"/>
              <a:t> song performance data to identify the key factors influencing music popularity. The findings highlight that playlist exposure and platform visibility play a more significant role than audio features in driving success. Additionally, cross-platform insights revealed opportunities to improve early trend detection. By combining data analysis, machine learning, and interactive visualization, the project provides a comprehensive, data-driven approach to understanding and predicting song trends. These insights can support better decision-making, enhance recommendation systems, and improve music discovery strategies.</a:t>
            </a:r>
          </a:p>
        </p:txBody>
      </p:sp>
    </p:spTree>
    <p:extLst>
      <p:ext uri="{BB962C8B-B14F-4D97-AF65-F5344CB8AC3E}">
        <p14:creationId xmlns:p14="http://schemas.microsoft.com/office/powerpoint/2010/main" val="36122097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293</TotalTime>
  <Words>2058</Words>
  <Application>Microsoft Office PowerPoint</Application>
  <PresentationFormat>Widescreen</PresentationFormat>
  <Paragraphs>214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Calibri</vt:lpstr>
      <vt:lpstr>Office Theme</vt:lpstr>
      <vt:lpstr>Data-Driven Music Trend Analysis &amp; Recommendation System for Spotify</vt:lpstr>
      <vt:lpstr>Problem Statement </vt:lpstr>
      <vt:lpstr>Dataset Overview</vt:lpstr>
      <vt:lpstr>Data Challenges &amp; Preprocessing  During the data preparation phase, Python is used to clean, validate, and transform the dataset to ensure accuracy and consistency. </vt:lpstr>
      <vt:lpstr>Data Preparation &amp; Feature Engineering</vt:lpstr>
      <vt:lpstr>Exploratory Data Analysis</vt:lpstr>
      <vt:lpstr>Correlation &amp; Key Factor Analysis</vt:lpstr>
      <vt:lpstr>Data Scaling  &amp; Model Selection</vt:lpstr>
      <vt:lpstr>Model Evaluation &amp; Performance Analysis</vt:lpstr>
      <vt:lpstr>Model Evaluation &amp; Performance</vt:lpstr>
      <vt:lpstr>Model Optimization</vt:lpstr>
      <vt:lpstr>PowerPoint Presentation</vt:lpstr>
      <vt:lpstr>Dashboard Overview</vt:lpstr>
      <vt:lpstr>Temporal Pattern Analysis</vt:lpstr>
      <vt:lpstr>Audio Features &amp; Platform Comparison Analysis </vt:lpstr>
      <vt:lpstr>Actionable Recommendations</vt:lpstr>
      <vt:lpstr>Thank you</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Neha Jain</dc:creator>
  <cp:lastModifiedBy>Neha Jain</cp:lastModifiedBy>
  <cp:revision>1</cp:revision>
  <dcterms:created xsi:type="dcterms:W3CDTF">2026-03-28T14:42:24Z</dcterms:created>
  <dcterms:modified xsi:type="dcterms:W3CDTF">2026-03-28T19:35:37Z</dcterms:modified>
</cp:coreProperties>
</file>